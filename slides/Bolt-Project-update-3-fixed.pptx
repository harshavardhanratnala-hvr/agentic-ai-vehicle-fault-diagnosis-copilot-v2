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6" r:id="rId13"/>
    <p:sldId id="259" r:id="rId5"/>
    <p:sldId id="269" r:id="rId6"/>
    <p:sldId id="272" r:id="rId21"/>
    <p:sldId id="260" r:id="rId7"/>
    <p:sldId id="261" r:id="rId8"/>
    <p:sldId id="270" r:id="rId9"/>
    <p:sldId id="263" r:id="rId10"/>
    <p:sldId id="271" r:id="rId20"/>
    <p:sldId id="264" r:id="rId11"/>
    <p:sldId id="265" r:id="rId12"/>
    <p:sldId id="267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3" autoAdjust="0"/>
    <p:restoredTop sz="82976" autoAdjust="0"/>
  </p:normalViewPr>
  <p:slideViewPr>
    <p:cSldViewPr snapToGrid="0">
      <p:cViewPr>
        <p:scale>
          <a:sx n="53" d="100"/>
          <a:sy n="53" d="100"/>
        </p:scale>
        <p:origin x="102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0" Type="http://schemas.openxmlformats.org/officeDocument/2006/relationships/slide" Target="slides/slide14.xml"/>
  <Relationship Id="rId21" Type="http://schemas.openxmlformats.org/officeDocument/2006/relationships/slide" Target="slides/slide15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E2761"/>
                </a:solidFill>
                <a:latin typeface="Arial"/>
              </a:rPr>
              <a:t>Model comparison (test set)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 metric (F2)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Random
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0.32800000000000001</c:v>
                </c:pt>
                <c:pt idx="1">
                  <c:v>0.47899999999999998</c:v>
                </c:pt>
                <c:pt idx="2">
                  <c:v>0.59399999999999997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D8-4D1F-900C-22EEE05149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of real faults caught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Random
Forest</c:v>
                </c:pt>
                <c:pt idx="2">
                  <c:v>XGBoost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0.51700000000000002</c:v>
                </c:pt>
                <c:pt idx="1">
                  <c:v>0.75</c:v>
                </c:pt>
                <c:pt idx="2">
                  <c:v>0.85399999999999998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D8-4D1F-900C-22EEE05149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47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[Ghada, position 1 of 15] Quick hello. Introduce the team, one line on what this is. Hand-off map: I take 1-5 (goal through metric), Harsha takes 6-10 (dataset through advanced model), Huseyin takes 11-15 (rolling/lag through thank you).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[Ghada, position 2] State the problem as short reminders, say the full sentence aloud rather than reading the bullet: a car fails, you find out about it later - we want to help you find out earlier. Then: unplanned downtime costs more than scheduled maintenance, and fault rates already differ by usage profile. Land on 'the ask' line word for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[Ghada, position 3] Name the fleet maintenance manager as the one stakeholder that matters here. Frame it as a proactive scheduling decision, not a repair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[Ghada, position 5] This is the metric slide. Say plainly: this is a classification task, will a fault happen in the next 6 hours, yes or no - that's why precision, recall, and F2 apply. F2 weights recall about twice as heavily as precision, matching the real cost of missing a fault. Hand off to Harsha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[Harsha, position 6] Name the source and license explicitly. Note the 4 usage profiles: daily, heavy, moderate, rare. This sets up the next slide, which explains how we turned this into the classification task Ghada just introduced.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[Harsha, position 8] Walk the four-stage pipeline left to right: EDA, feature engineering, feature selection, model and tune. Keep it high-level - rolling and lag get explained with concrete examples two slides from now, not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[Harsha, position 9] Three EDA numbers to land: zero missing values, the 2.6x fault-rate spread by usage profile, and 9.05 percent positive rate for the actual modeling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[Harsha, position 10] Emphasize this is the reference point, not the final answer. Catching 52% of real faults at this stage sets up the next slide's improvement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[Huseyin, position 11] Read the chart left to right as a progression: 52% to 75% to 85.4% recall, baseline to best. Precision improved too (13.3% to 26.8%), which is why F2 -- our headline metric -- nearly doubled (0.328 to 0.594). Technical detail (RandomizedSearchCV, tree depths, full training-set search) only if asked. That hands off to the next slide, where we explain what rolling and lag actually mean.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[Huseyin, position 13] Quick slide. Name the categories - this is the real, working stack behind everything just shown. Present tense throughout: this is the technology we are using, not going to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[Huseyin, position 14] Be direct that most of this is not started yet. Talk through the corpus and chunking status verbally using the icons - don't read the table line by line. The gate before launch: retrieval must correctly surface the right NHTSA record before the agent is allowed to use it. Note verbally: even without the full agent loop, writing good queries against this corpus is a demonstrable skill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[Ghada, position 4] This moved up front on purpose so you see something real before the technical detail. Walk the dashboard flow: select vehicle, upload readings, predict, see risk level, probability of fault, and explanation together. Point out the probability plus threshold example next to the Probability of Fault box - that's what turns a number into an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[Huseyin, position 15] Close with the headline number, 85.4% of real faults caught,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[Huseyin, position 12] Concrete examples of rolling and lag features, and what they mean for deployment: the baseline model only needs current readings, the tuned models need the last 6-24 hours of history. State the same generalization limitation as the earlier bridge slide - this reinforces it, doesn't repeat it word for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[Harsha, position 7] This is the bridge slide the coaches asked for. Explain the conversion directly, without the term 'time series': raw hourly sensor data, grouped by usage profile, becomes one yes/no label per hour by looking 6 hours ahead in that same vehicle's history. State the assumption (4 profiles assumed representative) and the limitation (more vehicles and battery types would make it more reliable)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8978" y="6232199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Ca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000" y="850000"/>
            <a:ext cx="900000" cy="900000"/>
          </a:xfrm>
          <a:prstGeom prst="rect">
            <a:avLst/>
          </a:prstGeom>
        </p:spPr>
      </p:pic>
      <p:sp>
        <p:nvSpPr>
          <p:cNvPr id="21" name="Text 1"/>
          <p:cNvSpPr txBox="1"/>
          <p:nvPr/>
        </p:nvSpPr>
        <p:spPr>
          <a:xfrm>
            <a:off x="640080" y="2394642"/>
            <a:ext cx="10058401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Vehicle Fault Diagnosis &amp; Repair Copilot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868680" y="3800595"/>
            <a:ext cx="10424160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600">
                <a:solidFill>
                  <a:srgbClr val="CADCFC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Team NodePair: Harsha, Ghada &amp; Hüseyin  ·  neue fische Data Science &amp; AI Bootcamp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 txBox="1"/>
          <p:nvPr/>
        </p:nvSpPr>
        <p:spPr>
          <a:xfrm>
            <a:off x="640080" y="525071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 spc="200">
                <a:solidFill>
                  <a:srgbClr val="D9770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THE PROBLEM</a:t>
            </a:r>
          </a:p>
        </p:txBody>
      </p:sp>
      <p:sp>
        <p:nvSpPr>
          <p:cNvPr id="25" name="Text 1"/>
          <p:cNvSpPr txBox="1"/>
          <p:nvPr/>
        </p:nvSpPr>
        <p:spPr>
          <a:xfrm>
            <a:off x="640080" y="786383"/>
            <a:ext cx="1088136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rPr dirty="0"/>
              <a:t>Faults get caught after they happen, not before</a:t>
            </a:r>
          </a:p>
        </p:txBody>
      </p:sp>
      <p:sp>
        <p:nvSpPr>
          <p:cNvPr id="26" name="Text 2"/>
          <p:cNvSpPr txBox="1"/>
          <p:nvPr/>
        </p:nvSpPr>
        <p:spPr>
          <a:xfrm>
            <a:off x="640078" y="1965960"/>
            <a:ext cx="5852164" cy="24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85750" indent="-285750">
              <a:spcBef>
                <a:spcPts val="2400"/>
              </a:spcBef>
              <a:buSzPct val="100000"/>
              <a:buChar char="■"/>
              <a:defRPr sz="2200" b="1">
                <a:solidFill>
                  <a:srgbClr val="3A3F52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Caught reactively, not proactively</a:t>
            </a:r>
          </a:p>
          <a:p>
            <a:pPr marL="285750" indent="-285750">
              <a:spcBef>
                <a:spcPts val="2400"/>
              </a:spcBef>
              <a:buSzPct val="100000"/>
              <a:buChar char="■"/>
              <a:defRPr sz="2200" b="1">
                <a:solidFill>
                  <a:srgbClr val="3A3F52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No early-warning signal today</a:t>
            </a:r>
          </a:p>
          <a:p>
            <a:pPr marL="285750" indent="-285750">
              <a:spcBef>
                <a:spcPts val="2400"/>
              </a:spcBef>
              <a:buSzPct val="100000"/>
              <a:buChar char="■"/>
              <a:defRPr sz="2200" b="1">
                <a:solidFill>
                  <a:srgbClr val="3A3F52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One schedule doesn't fit every vehicle</a:t>
            </a:r>
          </a:p>
        </p:txBody>
      </p:sp>
      <p:pic>
        <p:nvPicPr>
          <p:cNvPr id="30" name="Warnin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000" y="2000000"/>
            <a:ext cx="2400000" cy="2160000"/>
          </a:xfrm>
          <a:prstGeom prst="rect">
            <a:avLst/>
          </a:prstGeom>
        </p:spPr>
      </p:pic>
      <p:sp>
        <p:nvSpPr>
          <p:cNvPr id="31" name="RightCaption"/>
          <p:cNvSpPr txBox="1"/>
          <p:nvPr/>
        </p:nvSpPr>
        <p:spPr>
          <a:xfrm>
            <a:off x="7300000" y="4300000"/>
            <a:ext cx="4200000" cy="500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defRPr sz="1400" i="1">
                <a:solidFill>
                  <a:srgbClr val="8890B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A car fails, you find out later. We want to catch it earlier.</a:t>
            </a:r>
          </a:p>
        </p:txBody>
      </p:sp>
      <p:sp>
        <p:nvSpPr>
          <p:cNvPr id="27" name="Shape 6"/>
          <p:cNvSpPr/>
          <p:nvPr/>
        </p:nvSpPr>
        <p:spPr>
          <a:xfrm>
            <a:off x="640080" y="5212079"/>
            <a:ext cx="10927082" cy="1051562"/>
          </a:xfrm>
          <a:prstGeom prst="roundRect">
            <a:avLst>
              <a:gd name="adj" fmla="val 6957"/>
            </a:avLst>
          </a:prstGeom>
          <a:solidFill>
            <a:srgbClr val="F7F8FB"/>
          </a:solidFill>
          <a:ln w="12700">
            <a:solidFill>
              <a:srgbClr val="E2E4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28" name="Text 7"/>
          <p:cNvSpPr txBox="1"/>
          <p:nvPr/>
        </p:nvSpPr>
        <p:spPr>
          <a:xfrm>
            <a:off x="914398" y="5415981"/>
            <a:ext cx="10378444" cy="643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700" b="1">
                <a:solidFill>
                  <a:srgbClr val="1E2761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The ask</a:t>
            </a:r>
          </a:p>
          <a:p>
            <a:pPr>
              <a:defRPr sz="1700" b="1">
                <a:solidFill>
                  <a:srgbClr val="1E2761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b="0" i="1">
                <a:solidFill>
                  <a:srgbClr val="3A3F52"/>
                </a:solidFill>
              </a:rPr>
              <a:t>Enabling a Steady, smooth and secure journey while reducing the unexpected breakdowns to minimum: for any vehicle in the fleet, forecast whether a fault will occur in the next 6 hours, using sensor telemetry alone.</a:t>
            </a:r>
          </a:p>
        </p:txBody>
      </p:sp>
      <p:sp>
        <p:nvSpPr>
          <p:cNvPr id="29" name="Text 8"/>
          <p:cNvSpPr txBox="1"/>
          <p:nvPr/>
        </p:nvSpPr>
        <p:spPr>
          <a:xfrm>
            <a:off x="11277295" y="6423704"/>
            <a:ext cx="54864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B7BAC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02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 txBox="1"/>
          <p:nvPr/>
        </p:nvSpPr>
        <p:spPr>
          <a:xfrm>
            <a:off x="594359" y="401628"/>
            <a:ext cx="813816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400" b="1" spc="100">
                <a:solidFill>
                  <a:srgbClr val="F2A93B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TARGET USER</a:t>
            </a:r>
          </a:p>
        </p:txBody>
      </p:sp>
      <p:sp>
        <p:nvSpPr>
          <p:cNvPr id="32" name="Text 1"/>
          <p:cNvSpPr txBox="1"/>
          <p:nvPr/>
        </p:nvSpPr>
        <p:spPr>
          <a:xfrm>
            <a:off x="594359" y="822961"/>
            <a:ext cx="10698482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3200">
                <a:solidFill>
                  <a:srgbClr val="161C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rPr dirty="0"/>
              <a:t>Who this is for, and why</a:t>
            </a:r>
          </a:p>
        </p:txBody>
      </p:sp>
      <p:sp>
        <p:nvSpPr>
          <p:cNvPr id="33" name="Shape 2"/>
          <p:cNvSpPr/>
          <p:nvPr/>
        </p:nvSpPr>
        <p:spPr>
          <a:xfrm>
            <a:off x="548640" y="1737360"/>
            <a:ext cx="10698482" cy="320000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4" name="Text 3"/>
          <p:cNvSpPr txBox="1"/>
          <p:nvPr/>
        </p:nvSpPr>
        <p:spPr>
          <a:xfrm>
            <a:off x="914400" y="2039315"/>
            <a:ext cx="9966962" cy="36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900" b="1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Fleet maintenance manager</a:t>
            </a:r>
          </a:p>
        </p:txBody>
      </p:sp>
      <p:sp>
        <p:nvSpPr>
          <p:cNvPr id="35" name="Text 5"/>
          <p:cNvSpPr txBox="1"/>
          <p:nvPr/>
        </p:nvSpPr>
        <p:spPr>
          <a:xfrm>
            <a:off x="914400" y="2806689"/>
            <a:ext cx="9966962" cy="13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marL="342900" indent="-342900">
              <a:spcBef>
                <a:spcPts val="800"/>
              </a:spcBef>
              <a:buSzPct val="100000"/>
              <a:buChar char="•"/>
              <a:defRPr sz="1500">
                <a:solidFill>
                  <a:srgbClr val="CADCFC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Watches continuous telemetry across the whole fleet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500">
                <a:solidFill>
                  <a:srgbClr val="CADCFC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Question: readings are trending toward a fault, bring it in proactively, or is it fine?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500">
                <a:solidFill>
                  <a:srgbClr val="CADCFC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A proactive scheduling decision, not a repair job</a:t>
            </a:r>
          </a:p>
        </p:txBody>
      </p:sp>
      <p:sp>
        <p:nvSpPr>
          <p:cNvPr id="36" name="Text 8"/>
          <p:cNvSpPr txBox="1"/>
          <p:nvPr/>
        </p:nvSpPr>
        <p:spPr>
          <a:xfrm>
            <a:off x="11277295" y="6423704"/>
            <a:ext cx="54864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B7BAC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03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 txBox="1"/>
          <p:nvPr/>
        </p:nvSpPr>
        <p:spPr>
          <a:xfrm>
            <a:off x="640080" y="525071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 spc="200">
                <a:solidFill>
                  <a:srgbClr val="D9770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/>
              <a:t>EVALUATION METRIC</a:t>
            </a:r>
          </a:p>
        </p:txBody>
      </p:sp>
      <p:sp>
        <p:nvSpPr>
          <p:cNvPr id="39" name="Text 1"/>
          <p:cNvSpPr txBox="1"/>
          <p:nvPr/>
        </p:nvSpPr>
        <p:spPr>
          <a:xfrm>
            <a:off x="640080" y="786383"/>
            <a:ext cx="1088136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rPr dirty="0"/>
              <a:t>F2 score: weights recall, but can’t be gamed</a:t>
            </a:r>
          </a:p>
        </p:txBody>
      </p:sp>
      <p:sp>
        <p:nvSpPr>
          <p:cNvPr id="37" name="Text Frame"/>
          <p:cNvSpPr txBox="1"/>
          <p:nvPr/>
        </p:nvSpPr>
        <p:spPr>
          <a:xfrm>
            <a:off x="640080" y="1230000"/>
            <a:ext cx="10881360" cy="480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spAutoFit/>
          </a:bodyPr>
          <a:lstStyle>
            <a:lvl1pPr>
              <a:defRPr sz="1600">
                <a:solidFill>
                  <a:srgbClr val="3A3F5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/>
              <a:t>This is a classification task: will a fault happen in the next 6 hours, yes or no. That is why precision, recall, and F2 apply here.</a:t>
            </a:r>
          </a:p>
        </p:txBody>
      </p:sp>
      <p:sp>
        <p:nvSpPr>
          <p:cNvPr id="40" name="Shape 12"/>
          <p:cNvSpPr/>
          <p:nvPr/>
        </p:nvSpPr>
        <p:spPr>
          <a:xfrm>
            <a:off x="7991119" y="2488819"/>
            <a:ext cx="3502154" cy="2880362"/>
          </a:xfrm>
          <a:prstGeom prst="roundRect">
            <a:avLst>
              <a:gd name="adj" fmla="val 2540"/>
            </a:avLst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1" name="Text 13"/>
          <p:cNvSpPr txBox="1"/>
          <p:nvPr/>
        </p:nvSpPr>
        <p:spPr>
          <a:xfrm>
            <a:off x="8192287" y="2754248"/>
            <a:ext cx="54864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 b="1">
                <a:solidFill>
                  <a:srgbClr val="D9770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✓</a:t>
            </a:r>
          </a:p>
        </p:txBody>
      </p:sp>
      <p:sp>
        <p:nvSpPr>
          <p:cNvPr id="42" name="Text 14"/>
          <p:cNvSpPr txBox="1"/>
          <p:nvPr/>
        </p:nvSpPr>
        <p:spPr>
          <a:xfrm>
            <a:off x="8192287" y="3271210"/>
            <a:ext cx="3099818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800" b="1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F2 score — chosen</a:t>
            </a:r>
          </a:p>
        </p:txBody>
      </p:sp>
      <p:sp>
        <p:nvSpPr>
          <p:cNvPr id="43" name="Text 15"/>
          <p:cNvSpPr txBox="1"/>
          <p:nvPr/>
        </p:nvSpPr>
        <p:spPr>
          <a:xfrm>
            <a:off x="8192287" y="4021885"/>
            <a:ext cx="3099818" cy="600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F5F3E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Weights recall 2× precision, exactly, not roughly: missing a fault costs more than a false alarm, and it can’t be gamed by either extreme.</a:t>
            </a:r>
          </a:p>
        </p:txBody>
      </p:sp>
      <p:sp>
        <p:nvSpPr>
          <p:cNvPr id="44" name="Text 16"/>
          <p:cNvSpPr txBox="1"/>
          <p:nvPr/>
        </p:nvSpPr>
        <p:spPr>
          <a:xfrm>
            <a:off x="8192287" y="5026323"/>
            <a:ext cx="3099818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 spc="100">
                <a:solidFill>
                  <a:srgbClr val="D9770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HEADLINE METRIC</a:t>
            </a:r>
          </a:p>
        </p:txBody>
      </p:sp>
      <p:sp>
        <p:nvSpPr>
          <p:cNvPr id="45" name="Text 19"/>
          <p:cNvSpPr txBox="1"/>
          <p:nvPr/>
        </p:nvSpPr>
        <p:spPr>
          <a:xfrm>
            <a:off x="11277295" y="6423704"/>
            <a:ext cx="54864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B7BAC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05</a:t>
            </a:r>
          </a:p>
        </p:txBody>
      </p:sp>
      <p:pic>
        <p:nvPicPr>
          <p:cNvPr id="46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66" y="1849135"/>
            <a:ext cx="5957468" cy="41597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spc="200" dirty="0">
                <a:solidFill>
                  <a:srgbClr val="D97706"/>
                </a:solidFill>
                <a:latin typeface="+mn-lt"/>
                <a:ea typeface="+mn-ea"/>
                <a:cs typeface="+mn-cs"/>
                <a:sym typeface="Calibri"/>
              </a:rPr>
              <a:t>DATASET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sensor telemetry, 4 vehicles, 5 years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Kaggle, "EV Sensors Driving-Pattern Diagnostics 2020 to 24"
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License: </a:t>
            </a: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 4.0
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Granularity: </a:t>
            </a: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sensor readings, per vehicle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raw sensors per reading: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3F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611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361188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3FD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3611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361188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3FD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3611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Cycles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3F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14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Temp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97480" y="411480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3FD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4114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RPM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411480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3FD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4114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Torque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3F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617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Temp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97480" y="461772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3FD"/>
          </a:solidFill>
          <a:ln/>
        </p:spPr>
      </p:sp>
      <p:sp>
        <p:nvSpPr>
          <p:cNvPr id="21" name="Text 19"/>
          <p:cNvSpPr/>
          <p:nvPr/>
        </p:nvSpPr>
        <p:spPr>
          <a:xfrm>
            <a:off x="2697480" y="4617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Pad Wear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461772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3FD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4617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Voltage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3FD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120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 Pressure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40880" y="1737360"/>
            <a:ext cx="457200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184708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175,176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315200" y="2560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readings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040880" y="3246120"/>
            <a:ext cx="457200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0" y="335584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7315200" y="4069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/ usage profiles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040880" y="4754880"/>
            <a:ext cx="457200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0" y="486460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yrs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7315200" y="5577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2020 to Dec 2024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 txBox="1"/>
          <p:nvPr/>
        </p:nvSpPr>
        <p:spPr>
          <a:xfrm>
            <a:off x="640080" y="511171"/>
            <a:ext cx="91440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 spc="200">
                <a:solidFill>
                  <a:srgbClr val="D9770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de-DE" dirty="0"/>
              <a:t>ML WORKFLOW</a:t>
            </a:r>
            <a:endParaRPr dirty="0"/>
          </a:p>
        </p:txBody>
      </p:sp>
      <p:sp>
        <p:nvSpPr>
          <p:cNvPr id="49" name="Text 1"/>
          <p:cNvSpPr txBox="1"/>
          <p:nvPr/>
        </p:nvSpPr>
        <p:spPr>
          <a:xfrm>
            <a:off x="640080" y="786383"/>
            <a:ext cx="10881360" cy="4154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9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rPr lang="de-DE" dirty="0"/>
              <a:t>From raw sensors to a forecast</a:t>
            </a:r>
            <a:endParaRPr dirty="0"/>
          </a:p>
        </p:txBody>
      </p:sp>
      <p:sp>
        <p:nvSpPr>
          <p:cNvPr id="50" name="Shape 2"/>
          <p:cNvSpPr/>
          <p:nvPr/>
        </p:nvSpPr>
        <p:spPr>
          <a:xfrm>
            <a:off x="640080" y="1965960"/>
            <a:ext cx="2514601" cy="3063240"/>
          </a:xfrm>
          <a:prstGeom prst="roundRect">
            <a:avLst>
              <a:gd name="adj" fmla="val 2909"/>
            </a:avLst>
          </a:prstGeom>
          <a:solidFill>
            <a:srgbClr val="F7F8FB"/>
          </a:solidFill>
          <a:ln w="12700">
            <a:solidFill>
              <a:srgbClr val="E2E4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1" name="Text 3"/>
          <p:cNvSpPr txBox="1"/>
          <p:nvPr/>
        </p:nvSpPr>
        <p:spPr>
          <a:xfrm>
            <a:off x="841247" y="2244598"/>
            <a:ext cx="214884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D977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01</a:t>
            </a:r>
          </a:p>
        </p:txBody>
      </p:sp>
      <p:sp>
        <p:nvSpPr>
          <p:cNvPr id="52" name="Text 4"/>
          <p:cNvSpPr txBox="1"/>
          <p:nvPr/>
        </p:nvSpPr>
        <p:spPr>
          <a:xfrm>
            <a:off x="841246" y="2879244"/>
            <a:ext cx="211226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 b="1">
                <a:solidFill>
                  <a:srgbClr val="1E276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de-DE" dirty="0"/>
              <a:t>EDA</a:t>
            </a:r>
            <a:endParaRPr dirty="0"/>
          </a:p>
        </p:txBody>
      </p:sp>
      <p:sp>
        <p:nvSpPr>
          <p:cNvPr id="53" name="Text 5"/>
          <p:cNvSpPr txBox="1"/>
          <p:nvPr/>
        </p:nvSpPr>
        <p:spPr>
          <a:xfrm>
            <a:off x="841246" y="3871087"/>
            <a:ext cx="2112268" cy="386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999"/>
              </a:lnSpc>
              <a:defRPr sz="1300">
                <a:solidFill>
                  <a:srgbClr val="6B728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US" dirty="0"/>
              <a:t>Explore all 4 usage profiles</a:t>
            </a:r>
          </a:p>
          <a:p>
            <a:endParaRPr dirty="0"/>
          </a:p>
        </p:txBody>
      </p:sp>
      <p:sp>
        <p:nvSpPr>
          <p:cNvPr id="54" name="Text 6"/>
          <p:cNvSpPr txBox="1"/>
          <p:nvPr/>
        </p:nvSpPr>
        <p:spPr>
          <a:xfrm>
            <a:off x="3172966" y="3393002"/>
            <a:ext cx="182882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800">
                <a:solidFill>
                  <a:srgbClr val="6B728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→</a:t>
            </a:r>
          </a:p>
        </p:txBody>
      </p:sp>
      <p:sp>
        <p:nvSpPr>
          <p:cNvPr id="55" name="Shape 7"/>
          <p:cNvSpPr/>
          <p:nvPr/>
        </p:nvSpPr>
        <p:spPr>
          <a:xfrm>
            <a:off x="3374135" y="1965960"/>
            <a:ext cx="2514602" cy="3063240"/>
          </a:xfrm>
          <a:prstGeom prst="roundRect">
            <a:avLst>
              <a:gd name="adj" fmla="val 2909"/>
            </a:avLst>
          </a:prstGeom>
          <a:solidFill>
            <a:srgbClr val="F7F8FB"/>
          </a:solidFill>
          <a:ln w="12700">
            <a:solidFill>
              <a:srgbClr val="E2E4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6" name="Text 8"/>
          <p:cNvSpPr txBox="1"/>
          <p:nvPr/>
        </p:nvSpPr>
        <p:spPr>
          <a:xfrm>
            <a:off x="3575303" y="2244598"/>
            <a:ext cx="214884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D977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02</a:t>
            </a:r>
          </a:p>
        </p:txBody>
      </p:sp>
      <p:sp>
        <p:nvSpPr>
          <p:cNvPr id="57" name="Text 9"/>
          <p:cNvSpPr txBox="1"/>
          <p:nvPr/>
        </p:nvSpPr>
        <p:spPr>
          <a:xfrm>
            <a:off x="3575303" y="2879244"/>
            <a:ext cx="2112266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 b="1">
                <a:solidFill>
                  <a:srgbClr val="1E276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de-DE" dirty="0"/>
              <a:t>Feature </a:t>
            </a:r>
            <a:r>
              <a:rPr dirty="0"/>
              <a:t>Engineer</a:t>
            </a:r>
            <a:r>
              <a:rPr lang="de-DE" dirty="0"/>
              <a:t>ing</a:t>
            </a:r>
            <a:endParaRPr dirty="0"/>
          </a:p>
        </p:txBody>
      </p:sp>
      <p:sp>
        <p:nvSpPr>
          <p:cNvPr id="58" name="Text 10"/>
          <p:cNvSpPr txBox="1"/>
          <p:nvPr/>
        </p:nvSpPr>
        <p:spPr>
          <a:xfrm>
            <a:off x="3575303" y="3871088"/>
            <a:ext cx="2112266" cy="386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999"/>
              </a:lnSpc>
              <a:defRPr sz="1300">
                <a:solidFill>
                  <a:srgbClr val="6B728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US" dirty="0"/>
              <a:t>Turn raw sensor history into useful signals</a:t>
            </a:r>
          </a:p>
          <a:p>
            <a:endParaRPr dirty="0"/>
          </a:p>
        </p:txBody>
      </p:sp>
      <p:sp>
        <p:nvSpPr>
          <p:cNvPr id="59" name="Text 11"/>
          <p:cNvSpPr txBox="1"/>
          <p:nvPr/>
        </p:nvSpPr>
        <p:spPr>
          <a:xfrm>
            <a:off x="5907023" y="3393002"/>
            <a:ext cx="182882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800">
                <a:solidFill>
                  <a:srgbClr val="6B728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→</a:t>
            </a:r>
          </a:p>
        </p:txBody>
      </p:sp>
      <p:sp>
        <p:nvSpPr>
          <p:cNvPr id="60" name="Shape 12"/>
          <p:cNvSpPr/>
          <p:nvPr/>
        </p:nvSpPr>
        <p:spPr>
          <a:xfrm>
            <a:off x="6108191" y="1965960"/>
            <a:ext cx="2514602" cy="3063240"/>
          </a:xfrm>
          <a:prstGeom prst="roundRect">
            <a:avLst>
              <a:gd name="adj" fmla="val 2909"/>
            </a:avLst>
          </a:prstGeom>
          <a:solidFill>
            <a:srgbClr val="F7F8FB"/>
          </a:solidFill>
          <a:ln w="12700">
            <a:solidFill>
              <a:srgbClr val="E2E4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1" name="Text 13"/>
          <p:cNvSpPr txBox="1"/>
          <p:nvPr/>
        </p:nvSpPr>
        <p:spPr>
          <a:xfrm>
            <a:off x="6309359" y="2244598"/>
            <a:ext cx="214884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D977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03</a:t>
            </a:r>
          </a:p>
        </p:txBody>
      </p:sp>
      <p:sp>
        <p:nvSpPr>
          <p:cNvPr id="62" name="Text 14"/>
          <p:cNvSpPr txBox="1"/>
          <p:nvPr/>
        </p:nvSpPr>
        <p:spPr>
          <a:xfrm>
            <a:off x="6309359" y="2879244"/>
            <a:ext cx="2112266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 b="1">
                <a:solidFill>
                  <a:srgbClr val="1E276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de-DE" dirty="0"/>
              <a:t>F</a:t>
            </a:r>
            <a:r>
              <a:rPr dirty="0" err="1"/>
              <a:t>eature</a:t>
            </a:r>
            <a:r>
              <a:rPr lang="de-DE" dirty="0"/>
              <a:t> Selection</a:t>
            </a:r>
            <a:endParaRPr dirty="0"/>
          </a:p>
        </p:txBody>
      </p:sp>
      <p:sp>
        <p:nvSpPr>
          <p:cNvPr id="63" name="Text 15"/>
          <p:cNvSpPr txBox="1"/>
          <p:nvPr/>
        </p:nvSpPr>
        <p:spPr>
          <a:xfrm>
            <a:off x="6309359" y="3471621"/>
            <a:ext cx="2112266" cy="1185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999"/>
              </a:lnSpc>
              <a:defRPr sz="1300">
                <a:solidFill>
                  <a:srgbClr val="6B728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US" dirty="0"/>
              <a:t>Keep only the signals that actually predict a fault</a:t>
            </a:r>
          </a:p>
        </p:txBody>
      </p:sp>
      <p:sp>
        <p:nvSpPr>
          <p:cNvPr id="64" name="Text 16"/>
          <p:cNvSpPr txBox="1"/>
          <p:nvPr/>
        </p:nvSpPr>
        <p:spPr>
          <a:xfrm>
            <a:off x="8641080" y="3393002"/>
            <a:ext cx="182882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800">
                <a:solidFill>
                  <a:srgbClr val="6B728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→</a:t>
            </a:r>
          </a:p>
        </p:txBody>
      </p:sp>
      <p:sp>
        <p:nvSpPr>
          <p:cNvPr id="65" name="Shape 17"/>
          <p:cNvSpPr/>
          <p:nvPr/>
        </p:nvSpPr>
        <p:spPr>
          <a:xfrm>
            <a:off x="8842247" y="1965960"/>
            <a:ext cx="2514602" cy="306324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6" name="Text 18"/>
          <p:cNvSpPr txBox="1"/>
          <p:nvPr/>
        </p:nvSpPr>
        <p:spPr>
          <a:xfrm>
            <a:off x="9043416" y="2244598"/>
            <a:ext cx="2148842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D9770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04</a:t>
            </a:r>
          </a:p>
        </p:txBody>
      </p:sp>
      <p:sp>
        <p:nvSpPr>
          <p:cNvPr id="67" name="Text 19"/>
          <p:cNvSpPr txBox="1"/>
          <p:nvPr/>
        </p:nvSpPr>
        <p:spPr>
          <a:xfrm>
            <a:off x="9043416" y="2901381"/>
            <a:ext cx="2112266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 b="1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Model &amp; tune</a:t>
            </a:r>
          </a:p>
        </p:txBody>
      </p:sp>
      <p:sp>
        <p:nvSpPr>
          <p:cNvPr id="68" name="Text 20"/>
          <p:cNvSpPr txBox="1"/>
          <p:nvPr/>
        </p:nvSpPr>
        <p:spPr>
          <a:xfrm>
            <a:off x="9043416" y="3871088"/>
            <a:ext cx="2112266" cy="386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7999"/>
              </a:lnSpc>
              <a:defRPr sz="1300">
                <a:solidFill>
                  <a:srgbClr val="F5F3E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Logistic regression baseline </a:t>
            </a: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tuned Random Forest &amp; </a:t>
            </a:r>
            <a:r>
              <a:rPr dirty="0" err="1"/>
              <a:t>XGBoost</a:t>
            </a:r>
            <a:r>
              <a:rPr dirty="0"/>
              <a:t>, </a:t>
            </a:r>
          </a:p>
        </p:txBody>
      </p:sp>
      <p:sp>
        <p:nvSpPr>
          <p:cNvPr id="70" name="Text 22"/>
          <p:cNvSpPr txBox="1"/>
          <p:nvPr/>
        </p:nvSpPr>
        <p:spPr>
          <a:xfrm>
            <a:off x="11277295" y="6423704"/>
            <a:ext cx="54864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B7BAC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08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 txBox="1"/>
          <p:nvPr/>
        </p:nvSpPr>
        <p:spPr>
          <a:xfrm>
            <a:off x="640080" y="525071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 spc="200">
                <a:solidFill>
                  <a:srgbClr val="D9770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EDA</a:t>
            </a:r>
          </a:p>
        </p:txBody>
      </p:sp>
      <p:sp>
        <p:nvSpPr>
          <p:cNvPr id="73" name="Text 1"/>
          <p:cNvSpPr txBox="1"/>
          <p:nvPr/>
        </p:nvSpPr>
        <p:spPr>
          <a:xfrm>
            <a:off x="640080" y="786382"/>
            <a:ext cx="10881360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rPr lang="en-US" sz="30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Fault rate already differs by usage profile</a:t>
            </a:r>
            <a:endParaRPr lang="en-US" sz="3000" dirty="0"/>
          </a:p>
        </p:txBody>
      </p:sp>
      <p:sp>
        <p:nvSpPr>
          <p:cNvPr id="74" name="Shape 2"/>
          <p:cNvSpPr/>
          <p:nvPr/>
        </p:nvSpPr>
        <p:spPr>
          <a:xfrm>
            <a:off x="8010142" y="1304897"/>
            <a:ext cx="3502154" cy="1371602"/>
          </a:xfrm>
          <a:prstGeom prst="roundRect">
            <a:avLst>
              <a:gd name="adj" fmla="val 5333"/>
            </a:avLst>
          </a:prstGeom>
          <a:solidFill>
            <a:srgbClr val="F7F8FB"/>
          </a:solidFill>
          <a:ln w="12700">
            <a:solidFill>
              <a:srgbClr val="E2E4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5" name="Text 3"/>
          <p:cNvSpPr txBox="1"/>
          <p:nvPr/>
        </p:nvSpPr>
        <p:spPr>
          <a:xfrm>
            <a:off x="8193023" y="1442057"/>
            <a:ext cx="3136395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0</a:t>
            </a:r>
          </a:p>
        </p:txBody>
      </p:sp>
      <p:sp>
        <p:nvSpPr>
          <p:cNvPr id="76" name="Text 4"/>
          <p:cNvSpPr txBox="1"/>
          <p:nvPr/>
        </p:nvSpPr>
        <p:spPr>
          <a:xfrm>
            <a:off x="8193023" y="1963266"/>
            <a:ext cx="3136395" cy="315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1300">
                <a:solidFill>
                  <a:srgbClr val="6B728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missing values across all 175,176 rows and 4 vehicle timelines</a:t>
            </a:r>
          </a:p>
        </p:txBody>
      </p:sp>
      <p:sp>
        <p:nvSpPr>
          <p:cNvPr id="77" name="Shape 5"/>
          <p:cNvSpPr/>
          <p:nvPr/>
        </p:nvSpPr>
        <p:spPr>
          <a:xfrm>
            <a:off x="8010142" y="2923761"/>
            <a:ext cx="3502154" cy="1371602"/>
          </a:xfrm>
          <a:prstGeom prst="roundRect">
            <a:avLst>
              <a:gd name="adj" fmla="val 5333"/>
            </a:avLst>
          </a:prstGeom>
          <a:solidFill>
            <a:srgbClr val="F7F8FB"/>
          </a:solidFill>
          <a:ln w="12700">
            <a:solidFill>
              <a:srgbClr val="E2E4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8" name="Text 6"/>
          <p:cNvSpPr txBox="1"/>
          <p:nvPr/>
        </p:nvSpPr>
        <p:spPr>
          <a:xfrm>
            <a:off x="8193023" y="3060920"/>
            <a:ext cx="313639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2.6×</a:t>
            </a:r>
          </a:p>
        </p:txBody>
      </p:sp>
      <p:sp>
        <p:nvSpPr>
          <p:cNvPr id="79" name="Text 7"/>
          <p:cNvSpPr txBox="1"/>
          <p:nvPr/>
        </p:nvSpPr>
        <p:spPr>
          <a:xfrm>
            <a:off x="8193023" y="3582129"/>
            <a:ext cx="3136394" cy="315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1300">
                <a:solidFill>
                  <a:srgbClr val="6B728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fault-rate spread: heavy (2.57%) vs. rare (0.99%) usage profile</a:t>
            </a:r>
          </a:p>
        </p:txBody>
      </p:sp>
      <p:sp>
        <p:nvSpPr>
          <p:cNvPr id="80" name="Shape 8"/>
          <p:cNvSpPr/>
          <p:nvPr/>
        </p:nvSpPr>
        <p:spPr>
          <a:xfrm>
            <a:off x="8010142" y="4546600"/>
            <a:ext cx="3502154" cy="1371600"/>
          </a:xfrm>
          <a:prstGeom prst="roundRect">
            <a:avLst>
              <a:gd name="adj" fmla="val 5333"/>
            </a:avLst>
          </a:prstGeom>
          <a:solidFill>
            <a:srgbClr val="F7F8FB"/>
          </a:solidFill>
          <a:ln w="12700">
            <a:solidFill>
              <a:srgbClr val="E2E4E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81" name="Text 9"/>
          <p:cNvSpPr txBox="1"/>
          <p:nvPr/>
        </p:nvSpPr>
        <p:spPr>
          <a:xfrm>
            <a:off x="8193023" y="4683759"/>
            <a:ext cx="3136395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9.05%</a:t>
            </a:r>
          </a:p>
        </p:txBody>
      </p:sp>
      <p:sp>
        <p:nvSpPr>
          <p:cNvPr id="82" name="Text 10"/>
          <p:cNvSpPr txBox="1"/>
          <p:nvPr/>
        </p:nvSpPr>
        <p:spPr>
          <a:xfrm>
            <a:off x="8193023" y="5204967"/>
            <a:ext cx="3136395" cy="36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1300">
                <a:solidFill>
                  <a:srgbClr val="6B728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/>
              <a:t>of rows are positive for Fault_Within_6h</a:t>
            </a:r>
            <a:r>
              <a:rPr lang="de-DE" dirty="0"/>
              <a:t>,</a:t>
            </a:r>
            <a:r>
              <a:rPr dirty="0"/>
              <a:t> the modeling target</a:t>
            </a:r>
          </a:p>
        </p:txBody>
      </p:sp>
      <p:sp>
        <p:nvSpPr>
          <p:cNvPr id="83" name="Text 12"/>
          <p:cNvSpPr txBox="1"/>
          <p:nvPr/>
        </p:nvSpPr>
        <p:spPr>
          <a:xfrm>
            <a:off x="11277295" y="6423704"/>
            <a:ext cx="54864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B7BAC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09</a:t>
            </a:r>
          </a:p>
        </p:txBody>
      </p:sp>
      <p:pic>
        <p:nvPicPr>
          <p:cNvPr id="84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21" y="1351798"/>
            <a:ext cx="6270053" cy="45155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spc="200" dirty="0">
                <a:solidFill>
                  <a:srgbClr val="D97706"/>
                </a:solidFill>
                <a:latin typeface="+mn-lt"/>
                <a:ea typeface="+mn-ea"/>
                <a:cs typeface="+mn-cs"/>
                <a:sym typeface="Calibri"/>
              </a:rPr>
              <a:t>BASELINE</a:t>
            </a: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spc="200" dirty="0">
                <a:solidFill>
                  <a:srgbClr val="D97706"/>
                </a:solidFill>
                <a:latin typeface="+mn-lt"/>
                <a:ea typeface="+mn-ea"/>
                <a:cs typeface="+mn-cs"/>
              </a:rPr>
              <a:t>MODEL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Regression, all 4 vehicles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first model, trained on all 10 raw sensors across all 4 vehicles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whether a fault will happen in the next 6 hours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ahead, rather than just detecting a fault that's already happening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3F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83280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3FD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8803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0" y="36576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real faults caught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3FD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8803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13.3%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09360" y="36576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fault alerts that were real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052560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28803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0.328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144000" y="36576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metric (F2)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data the model never saw during training. This is the reference every later model has to beat.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 txBox="1"/>
          <p:nvPr/>
        </p:nvSpPr>
        <p:spPr>
          <a:xfrm>
            <a:off x="640080" y="525071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 spc="200">
                <a:solidFill>
                  <a:srgbClr val="D9770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Advanced MODEL</a:t>
            </a:r>
          </a:p>
        </p:txBody>
      </p:sp>
      <p:sp>
        <p:nvSpPr>
          <p:cNvPr id="104" name="Text 1"/>
          <p:cNvSpPr txBox="1"/>
          <p:nvPr/>
        </p:nvSpPr>
        <p:spPr>
          <a:xfrm>
            <a:off x="640080" y="786382"/>
            <a:ext cx="10881360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rPr lang="en-US" sz="30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More powerful models catch far more faults</a:t>
            </a:r>
            <a:endParaRPr lang="en-US" sz="3000" dirty="0"/>
          </a:p>
        </p:txBody>
      </p:sp>
      <p:sp>
        <p:nvSpPr>
          <p:cNvPr id="107" name="Text 5"/>
          <p:cNvSpPr txBox="1"/>
          <p:nvPr/>
        </p:nvSpPr>
        <p:spPr>
          <a:xfrm>
            <a:off x="11277295" y="6423704"/>
            <a:ext cx="54864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B7BAC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11</a:t>
            </a:r>
          </a:p>
        </p:txBody>
      </p:sp>
      <p:graphicFrame>
        <p:nvGraphicFramePr>
          <p:cNvPr id="3" name="Chart 0">
            <a:extLst>
              <a:ext uri="{FF2B5EF4-FFF2-40B4-BE49-F238E27FC236}">
                <a16:creationId xmlns:a16="http://schemas.microsoft.com/office/drawing/2014/main" id="{A23EEFBF-FB85-82B7-CC0E-BF8F34A77F2D}"/>
              </a:ext>
            </a:extLst>
          </p:cNvPr>
          <p:cNvGraphicFramePr/>
          <p:nvPr/>
        </p:nvGraphicFramePr>
        <p:xfrm>
          <a:off x="548640" y="1691640"/>
          <a:ext cx="73152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2">
            <a:extLst>
              <a:ext uri="{FF2B5EF4-FFF2-40B4-BE49-F238E27FC236}">
                <a16:creationId xmlns:a16="http://schemas.microsoft.com/office/drawing/2014/main" id="{3D02E029-ECC8-DB44-F64C-F8E78ABDF16F}"/>
              </a:ext>
            </a:extLst>
          </p:cNvPr>
          <p:cNvSpPr/>
          <p:nvPr/>
        </p:nvSpPr>
        <p:spPr>
          <a:xfrm>
            <a:off x="8138160" y="1783080"/>
            <a:ext cx="3566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</a:t>
            </a:r>
            <a:endParaRPr lang="en-US" sz="16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85.4% of real faults, best of the three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selection: </a:t>
            </a:r>
            <a:endParaRPr lang="en-US" sz="16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 54 candidate signals, kept 53 that predict faults better than random noise or the reference model — searched on the full training set, no subsampling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</a:t>
            </a:r>
            <a:endParaRPr lang="en-US" sz="16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settings were tuned specifically to catch more faults, not just to look accurate overall</a:t>
            </a:r>
            <a:endParaRPr lang="en-US" sz="1600"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 txBox="1"/>
          <p:nvPr/>
        </p:nvSpPr>
        <p:spPr>
          <a:xfrm>
            <a:off x="640080" y="525071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 spc="200">
                <a:solidFill>
                  <a:srgbClr val="D9770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TECH STACK</a:t>
            </a:r>
          </a:p>
        </p:txBody>
      </p:sp>
      <p:sp>
        <p:nvSpPr>
          <p:cNvPr id="111" name="Text 42"/>
          <p:cNvSpPr txBox="1"/>
          <p:nvPr/>
        </p:nvSpPr>
        <p:spPr>
          <a:xfrm>
            <a:off x="11277295" y="6423704"/>
            <a:ext cx="54864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B7BAC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13</a:t>
            </a:r>
          </a:p>
        </p:txBody>
      </p:sp>
      <p:sp>
        <p:nvSpPr>
          <p:cNvPr id="112" name="Shape 4"/>
          <p:cNvSpPr/>
          <p:nvPr/>
        </p:nvSpPr>
        <p:spPr>
          <a:xfrm>
            <a:off x="911352" y="2756938"/>
            <a:ext cx="932689" cy="932689"/>
          </a:xfrm>
          <a:prstGeom prst="ellipse">
            <a:avLst/>
          </a:prstGeom>
          <a:solidFill>
            <a:srgbClr val="EEF3FD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pic>
        <p:nvPicPr>
          <p:cNvPr id="113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232" y="2939818"/>
            <a:ext cx="566929" cy="566929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 5"/>
          <p:cNvSpPr txBox="1"/>
          <p:nvPr/>
        </p:nvSpPr>
        <p:spPr>
          <a:xfrm>
            <a:off x="637032" y="3872550"/>
            <a:ext cx="148132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1E276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Python</a:t>
            </a:r>
          </a:p>
        </p:txBody>
      </p:sp>
      <p:sp>
        <p:nvSpPr>
          <p:cNvPr id="115" name="Shape 6"/>
          <p:cNvSpPr/>
          <p:nvPr/>
        </p:nvSpPr>
        <p:spPr>
          <a:xfrm>
            <a:off x="2484120" y="2756938"/>
            <a:ext cx="932689" cy="932689"/>
          </a:xfrm>
          <a:prstGeom prst="ellipse">
            <a:avLst/>
          </a:prstGeom>
          <a:solidFill>
            <a:srgbClr val="EEF3FD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pic>
        <p:nvPicPr>
          <p:cNvPr id="116" name="Image 1" descr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2939818"/>
            <a:ext cx="566929" cy="566929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ext 7"/>
          <p:cNvSpPr txBox="1"/>
          <p:nvPr/>
        </p:nvSpPr>
        <p:spPr>
          <a:xfrm>
            <a:off x="2209800" y="3872550"/>
            <a:ext cx="148132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1E276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pandas</a:t>
            </a:r>
          </a:p>
        </p:txBody>
      </p:sp>
      <p:sp>
        <p:nvSpPr>
          <p:cNvPr id="118" name="Shape 8"/>
          <p:cNvSpPr/>
          <p:nvPr/>
        </p:nvSpPr>
        <p:spPr>
          <a:xfrm>
            <a:off x="4056888" y="2756938"/>
            <a:ext cx="932689" cy="932689"/>
          </a:xfrm>
          <a:prstGeom prst="ellipse">
            <a:avLst/>
          </a:prstGeom>
          <a:solidFill>
            <a:srgbClr val="EEF3FD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pic>
        <p:nvPicPr>
          <p:cNvPr id="119" name="Image 2" descr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9768" y="2939818"/>
            <a:ext cx="566929" cy="566929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Text 9"/>
          <p:cNvSpPr txBox="1"/>
          <p:nvPr/>
        </p:nvSpPr>
        <p:spPr>
          <a:xfrm>
            <a:off x="3782568" y="3872550"/>
            <a:ext cx="148132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1E276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NumPy</a:t>
            </a:r>
          </a:p>
        </p:txBody>
      </p:sp>
      <p:sp>
        <p:nvSpPr>
          <p:cNvPr id="121" name="Shape 10"/>
          <p:cNvSpPr/>
          <p:nvPr/>
        </p:nvSpPr>
        <p:spPr>
          <a:xfrm>
            <a:off x="5629656" y="2756938"/>
            <a:ext cx="932689" cy="932689"/>
          </a:xfrm>
          <a:prstGeom prst="ellipse">
            <a:avLst/>
          </a:prstGeom>
          <a:solidFill>
            <a:srgbClr val="EEF3FD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pic>
        <p:nvPicPr>
          <p:cNvPr id="122" name="Image 3" descr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2536" y="2939818"/>
            <a:ext cx="566929" cy="566929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Text 11"/>
          <p:cNvSpPr txBox="1"/>
          <p:nvPr/>
        </p:nvSpPr>
        <p:spPr>
          <a:xfrm>
            <a:off x="5355336" y="3872550"/>
            <a:ext cx="148132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1E276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scikit-learn</a:t>
            </a:r>
          </a:p>
        </p:txBody>
      </p:sp>
      <p:sp>
        <p:nvSpPr>
          <p:cNvPr id="124" name="Shape 12"/>
          <p:cNvSpPr/>
          <p:nvPr/>
        </p:nvSpPr>
        <p:spPr>
          <a:xfrm>
            <a:off x="7202424" y="2756938"/>
            <a:ext cx="932689" cy="932689"/>
          </a:xfrm>
          <a:prstGeom prst="ellipse">
            <a:avLst/>
          </a:prstGeom>
          <a:solidFill>
            <a:srgbClr val="EEF3FD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pic>
        <p:nvPicPr>
          <p:cNvPr id="125" name="Image 4" descr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5304" y="2939818"/>
            <a:ext cx="566929" cy="566929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Text 13"/>
          <p:cNvSpPr txBox="1"/>
          <p:nvPr/>
        </p:nvSpPr>
        <p:spPr>
          <a:xfrm>
            <a:off x="6928103" y="3872550"/>
            <a:ext cx="148132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1E276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XGBoost</a:t>
            </a:r>
          </a:p>
        </p:txBody>
      </p:sp>
      <p:sp>
        <p:nvSpPr>
          <p:cNvPr id="127" name="Shape 14"/>
          <p:cNvSpPr/>
          <p:nvPr/>
        </p:nvSpPr>
        <p:spPr>
          <a:xfrm>
            <a:off x="8775192" y="2756938"/>
            <a:ext cx="932689" cy="932689"/>
          </a:xfrm>
          <a:prstGeom prst="ellipse">
            <a:avLst/>
          </a:prstGeom>
          <a:solidFill>
            <a:srgbClr val="EEF3FD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pic>
        <p:nvPicPr>
          <p:cNvPr id="128" name="Image 5" descr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8072" y="2939818"/>
            <a:ext cx="566929" cy="566929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Text 15"/>
          <p:cNvSpPr txBox="1"/>
          <p:nvPr/>
        </p:nvSpPr>
        <p:spPr>
          <a:xfrm>
            <a:off x="8500872" y="3872550"/>
            <a:ext cx="148132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1E276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Jupyter</a:t>
            </a:r>
          </a:p>
        </p:txBody>
      </p:sp>
      <p:sp>
        <p:nvSpPr>
          <p:cNvPr id="130" name="Shape 16"/>
          <p:cNvSpPr/>
          <p:nvPr/>
        </p:nvSpPr>
        <p:spPr>
          <a:xfrm>
            <a:off x="10347960" y="2756938"/>
            <a:ext cx="932689" cy="932689"/>
          </a:xfrm>
          <a:prstGeom prst="ellipse">
            <a:avLst/>
          </a:prstGeom>
          <a:solidFill>
            <a:srgbClr val="EEF3FD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pic>
        <p:nvPicPr>
          <p:cNvPr id="131" name="Image 6" descr="Imag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30840" y="2939818"/>
            <a:ext cx="566929" cy="566929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Text 17"/>
          <p:cNvSpPr txBox="1"/>
          <p:nvPr/>
        </p:nvSpPr>
        <p:spPr>
          <a:xfrm>
            <a:off x="10073639" y="3872550"/>
            <a:ext cx="148132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1E276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GitHub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 txBox="1"/>
          <p:nvPr/>
        </p:nvSpPr>
        <p:spPr>
          <a:xfrm>
            <a:off x="640080" y="525071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 spc="200">
                <a:solidFill>
                  <a:srgbClr val="D9770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NEXT UP · RAG TRACK</a:t>
            </a:r>
          </a:p>
        </p:txBody>
      </p:sp>
      <p:sp>
        <p:nvSpPr>
          <p:cNvPr id="135" name="Text 1"/>
          <p:cNvSpPr txBox="1"/>
          <p:nvPr/>
        </p:nvSpPr>
        <p:spPr>
          <a:xfrm>
            <a:off x="640080" y="786383"/>
            <a:ext cx="1088136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Turning a fault forecast into a cited repair recommendation</a:t>
            </a:r>
          </a:p>
        </p:txBody>
      </p:sp>
      <p:sp>
        <p:nvSpPr>
          <p:cNvPr id="136" name="Text 2"/>
          <p:cNvSpPr txBox="1"/>
          <p:nvPr/>
        </p:nvSpPr>
        <p:spPr>
          <a:xfrm>
            <a:off x="640080" y="1672265"/>
            <a:ext cx="1088136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500">
                <a:solidFill>
                  <a:srgbClr val="3A3F52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The classifier tells the fleet manager </a:t>
            </a:r>
            <a:r>
              <a:rPr b="1" i="1"/>
              <a:t>that</a:t>
            </a:r>
            <a:r>
              <a:t> a fault is coming. The RAG layer is what tells them </a:t>
            </a:r>
            <a:r>
              <a:rPr b="1" i="1"/>
              <a:t>what to do about it</a:t>
            </a:r>
            <a:r>
              <a:t> — and it’s the next build.</a:t>
            </a:r>
          </a:p>
        </p:txBody>
      </p:sp>
      <p:graphicFrame>
        <p:nvGraphicFramePr>
          <p:cNvPr id="137" name="Table 0"/>
          <p:cNvGraphicFramePr/>
          <p:nvPr/>
        </p:nvGraphicFramePr>
        <p:xfrm>
          <a:off x="640080" y="2103120"/>
          <a:ext cx="10927080" cy="349300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7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2000"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E2E4EC"/>
                      </a:solidFill>
                    </a:lnL>
                    <a:lnR>
                      <a:solidFill>
                        <a:srgbClr val="E2E4EC"/>
                      </a:solidFill>
                    </a:lnR>
                    <a:lnT>
                      <a:solidFill>
                        <a:srgbClr val="E2E4EC"/>
                      </a:solidFill>
                    </a:lnT>
                    <a:lnB>
                      <a:solidFill>
                        <a:srgbClr val="E2E4EC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E2E4EC"/>
                      </a:solidFill>
                    </a:lnL>
                    <a:lnR>
                      <a:solidFill>
                        <a:srgbClr val="E2E4EC"/>
                      </a:solidFill>
                    </a:lnR>
                    <a:lnT>
                      <a:solidFill>
                        <a:srgbClr val="E2E4EC"/>
                      </a:solidFill>
                    </a:lnT>
                    <a:lnB>
                      <a:solidFill>
                        <a:srgbClr val="E2E4EC"/>
                      </a:solidFill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19">
                <a:tc>
                  <a:txBody>
                    <a:bodyPr/>
                    <a:lstStyle/>
                    <a:p>
                      <a:pPr algn="l">
                        <a:defRPr sz="2000"/>
                      </a:pPr>
                      <a:r>
                        <a:rPr sz="1400" b="1">
                          <a:solidFill>
                            <a:srgbClr val="1E2761"/>
                          </a:solidFill>
                        </a:rPr>
                        <a:t>NHTSA RAG corpus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E2E4EC"/>
                      </a:solidFill>
                    </a:lnL>
                    <a:lnR>
                      <a:solidFill>
                        <a:srgbClr val="E2E4EC"/>
                      </a:solidFill>
                    </a:lnR>
                    <a:lnT>
                      <a:solidFill>
                        <a:srgbClr val="E2E4EC"/>
                      </a:solidFill>
                    </a:lnT>
                    <a:lnB>
                      <a:solidFill>
                        <a:srgbClr val="E2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3F7D5C"/>
                          </a:solidFill>
                        </a:defRPr>
                      </a:pPr>
                      <a:r>
                        <a:t>●  </a:t>
                      </a:r>
                      <a:r>
                        <a:rPr b="0">
                          <a:solidFill>
                            <a:srgbClr val="3A3F52"/>
                          </a:solidFill>
                        </a:rPr>
                        <a:t>Done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E2E4EC"/>
                      </a:solidFill>
                    </a:lnL>
                    <a:lnR>
                      <a:solidFill>
                        <a:srgbClr val="E2E4EC"/>
                      </a:solidFill>
                    </a:lnR>
                    <a:lnT>
                      <a:solidFill>
                        <a:srgbClr val="E2E4EC"/>
                      </a:solidFill>
                    </a:lnT>
                    <a:lnB>
                      <a:solidFill>
                        <a:srgbClr val="E2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19">
                <a:tc>
                  <a:txBody>
                    <a:bodyPr/>
                    <a:lstStyle/>
                    <a:p>
                      <a:pPr algn="l">
                        <a:defRPr sz="2000"/>
                      </a:pPr>
                      <a:r>
                        <a:rPr sz="1400" b="1">
                          <a:solidFill>
                            <a:srgbClr val="1E2761"/>
                          </a:solidFill>
                        </a:rPr>
                        <a:t>Chunking &amp; embedding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E2E4EC"/>
                      </a:solidFill>
                    </a:lnL>
                    <a:lnR>
                      <a:solidFill>
                        <a:srgbClr val="E2E4EC"/>
                      </a:solidFill>
                    </a:lnR>
                    <a:lnT>
                      <a:solidFill>
                        <a:srgbClr val="E2E4EC"/>
                      </a:solidFill>
                    </a:lnT>
                    <a:lnB>
                      <a:solidFill>
                        <a:srgbClr val="E2E4EC"/>
                      </a:solidFill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D97706"/>
                          </a:solidFill>
                        </a:defRPr>
                      </a:pPr>
                      <a:r>
                        <a:t>●  </a:t>
                      </a:r>
                      <a:r>
                        <a:rPr b="0">
                          <a:solidFill>
                            <a:srgbClr val="3A3F52"/>
                          </a:solidFill>
                        </a:rPr>
                        <a:t>In progress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E2E4EC"/>
                      </a:solidFill>
                    </a:lnL>
                    <a:lnR>
                      <a:solidFill>
                        <a:srgbClr val="E2E4EC"/>
                      </a:solidFill>
                    </a:lnR>
                    <a:lnT>
                      <a:solidFill>
                        <a:srgbClr val="E2E4EC"/>
                      </a:solidFill>
                    </a:lnT>
                    <a:lnB>
                      <a:solidFill>
                        <a:srgbClr val="E2E4EC"/>
                      </a:solidFill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2000"/>
                      </a:pPr>
                      <a:r>
                        <a:rPr sz="1400" b="1">
                          <a:solidFill>
                            <a:srgbClr val="1E2761"/>
                          </a:solidFill>
                        </a:rPr>
                        <a:t>Retrieval quality gate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E2E4EC"/>
                      </a:solidFill>
                    </a:lnL>
                    <a:lnR>
                      <a:solidFill>
                        <a:srgbClr val="E2E4EC"/>
                      </a:solidFill>
                    </a:lnR>
                    <a:lnT>
                      <a:solidFill>
                        <a:srgbClr val="E2E4EC"/>
                      </a:solidFill>
                    </a:lnT>
                    <a:lnB>
                      <a:solidFill>
                        <a:srgbClr val="E2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9CA3AF"/>
                          </a:solidFill>
                        </a:defRPr>
                      </a:pPr>
                      <a:r>
                        <a:t>●  </a:t>
                      </a:r>
                      <a:r>
                        <a:rPr b="0">
                          <a:solidFill>
                            <a:srgbClr val="3A3F52"/>
                          </a:solidFill>
                        </a:rPr>
                        <a:t>Not started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E2E4EC"/>
                      </a:solidFill>
                    </a:lnL>
                    <a:lnR>
                      <a:solidFill>
                        <a:srgbClr val="E2E4EC"/>
                      </a:solidFill>
                    </a:lnR>
                    <a:lnT>
                      <a:solidFill>
                        <a:srgbClr val="E2E4EC"/>
                      </a:solidFill>
                    </a:lnT>
                    <a:lnB>
                      <a:solidFill>
                        <a:srgbClr val="E2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2000"/>
                      </a:pPr>
                      <a:r>
                        <a:rPr sz="1400" b="1">
                          <a:solidFill>
                            <a:srgbClr val="1E2761"/>
                          </a:solidFill>
                        </a:rPr>
                        <a:t>Agent tool-calling loop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E2E4EC"/>
                      </a:solidFill>
                    </a:lnL>
                    <a:lnR>
                      <a:solidFill>
                        <a:srgbClr val="E2E4EC"/>
                      </a:solidFill>
                    </a:lnR>
                    <a:lnT>
                      <a:solidFill>
                        <a:srgbClr val="E2E4EC"/>
                      </a:solidFill>
                    </a:lnT>
                    <a:lnB>
                      <a:solidFill>
                        <a:srgbClr val="E2E4EC"/>
                      </a:solidFill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9CA3AF"/>
                          </a:solidFill>
                        </a:defRPr>
                      </a:pPr>
                      <a:r>
                        <a:t>●  </a:t>
                      </a:r>
                      <a:r>
                        <a:rPr b="0">
                          <a:solidFill>
                            <a:srgbClr val="3A3F52"/>
                          </a:solidFill>
                        </a:rPr>
                        <a:t>Not started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E2E4EC"/>
                      </a:solidFill>
                    </a:lnL>
                    <a:lnR>
                      <a:solidFill>
                        <a:srgbClr val="E2E4EC"/>
                      </a:solidFill>
                    </a:lnR>
                    <a:lnT>
                      <a:solidFill>
                        <a:srgbClr val="E2E4EC"/>
                      </a:solidFill>
                    </a:lnT>
                    <a:lnB>
                      <a:solidFill>
                        <a:srgbClr val="E2E4EC"/>
                      </a:solidFill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19">
                <a:tc>
                  <a:txBody>
                    <a:bodyPr/>
                    <a:lstStyle/>
                    <a:p>
                      <a:pPr algn="l">
                        <a:defRPr sz="2000"/>
                      </a:pPr>
                      <a:r>
                        <a:rPr sz="1400" b="1">
                          <a:solidFill>
                            <a:srgbClr val="1E2761"/>
                          </a:solidFill>
                        </a:rPr>
                        <a:t>Fleet-manager dashboard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E2E4EC"/>
                      </a:solidFill>
                    </a:lnL>
                    <a:lnR>
                      <a:solidFill>
                        <a:srgbClr val="E2E4EC"/>
                      </a:solidFill>
                    </a:lnR>
                    <a:lnT>
                      <a:solidFill>
                        <a:srgbClr val="E2E4EC"/>
                      </a:solidFill>
                    </a:lnT>
                    <a:lnB>
                      <a:solidFill>
                        <a:srgbClr val="E2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9CA3AF"/>
                          </a:solidFill>
                        </a:defRPr>
                      </a:pPr>
                      <a:r>
                        <a:t>●  </a:t>
                      </a:r>
                      <a:r>
                        <a:rPr b="0">
                          <a:solidFill>
                            <a:srgbClr val="3A3F52"/>
                          </a:solidFill>
                        </a:rPr>
                        <a:t>Not started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E2E4EC"/>
                      </a:solidFill>
                    </a:lnL>
                    <a:lnR>
                      <a:solidFill>
                        <a:srgbClr val="E2E4EC"/>
                      </a:solidFill>
                    </a:lnR>
                    <a:lnT>
                      <a:solidFill>
                        <a:srgbClr val="E2E4EC"/>
                      </a:solidFill>
                    </a:lnT>
                    <a:lnB>
                      <a:solidFill>
                        <a:srgbClr val="E2E4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19">
                <a:tc>
                  <a:txBody>
                    <a:bodyPr/>
                    <a:lstStyle/>
                    <a:p>
                      <a:pPr algn="l">
                        <a:defRPr sz="2000"/>
                      </a:pPr>
                      <a:r>
                        <a:rPr sz="1400" b="1">
                          <a:solidFill>
                            <a:srgbClr val="1E2761"/>
                          </a:solidFill>
                        </a:rPr>
                        <a:t>Deployment &amp; evaluation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E2E4EC"/>
                      </a:solidFill>
                    </a:lnL>
                    <a:lnR>
                      <a:solidFill>
                        <a:srgbClr val="E2E4EC"/>
                      </a:solidFill>
                    </a:lnR>
                    <a:lnT>
                      <a:solidFill>
                        <a:srgbClr val="E2E4EC"/>
                      </a:solidFill>
                    </a:lnT>
                    <a:lnB>
                      <a:solidFill>
                        <a:srgbClr val="E2E4EC"/>
                      </a:solidFill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9CA3AF"/>
                          </a:solidFill>
                        </a:defRPr>
                      </a:pPr>
                      <a:r>
                        <a:t>●  </a:t>
                      </a:r>
                      <a:r>
                        <a:rPr b="0">
                          <a:solidFill>
                            <a:srgbClr val="3A3F52"/>
                          </a:solidFill>
                        </a:rPr>
                        <a:t>Not started</a:t>
                      </a:r>
                    </a:p>
                  </a:txBody>
                  <a:tcPr marL="45720" marR="45720" anchor="ctr" horzOverflow="overflow">
                    <a:lnL>
                      <a:solidFill>
                        <a:srgbClr val="E2E4EC"/>
                      </a:solidFill>
                    </a:lnL>
                    <a:lnR>
                      <a:solidFill>
                        <a:srgbClr val="E2E4EC"/>
                      </a:solidFill>
                    </a:lnR>
                    <a:lnT>
                      <a:solidFill>
                        <a:srgbClr val="E2E4EC"/>
                      </a:solidFill>
                    </a:lnT>
                    <a:lnB>
                      <a:solidFill>
                        <a:srgbClr val="E2E4EC"/>
                      </a:solidFill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8" name="Shape 3"/>
          <p:cNvSpPr/>
          <p:nvPr/>
        </p:nvSpPr>
        <p:spPr>
          <a:xfrm>
            <a:off x="640080" y="5623559"/>
            <a:ext cx="10927082" cy="868682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39" name="Text 4"/>
          <p:cNvSpPr txBox="1"/>
          <p:nvPr/>
        </p:nvSpPr>
        <p:spPr>
          <a:xfrm>
            <a:off x="914398" y="5872451"/>
            <a:ext cx="10378444" cy="370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400" b="1" i="1">
                <a:solidFill>
                  <a:srgbClr val="D97706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Gate before launch:  </a:t>
            </a:r>
            <a:r>
              <a:rPr b="0">
                <a:solidFill>
                  <a:srgbClr val="F5F3EE"/>
                </a:solidFill>
              </a:rPr>
              <a:t>retrieval must correctly surface the right NHTSA record for a set of known fault codes before the agent is allowed to use it — same discipline as the noise-floor check that shaped feature selection.</a:t>
            </a:r>
          </a:p>
        </p:txBody>
      </p:sp>
      <p:sp>
        <p:nvSpPr>
          <p:cNvPr id="140" name="Text 5"/>
          <p:cNvSpPr txBox="1"/>
          <p:nvPr/>
        </p:nvSpPr>
        <p:spPr>
          <a:xfrm>
            <a:off x="11277295" y="6423704"/>
            <a:ext cx="54864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B7BAC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14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roup"/>
          <p:cNvGrpSpPr/>
          <p:nvPr/>
        </p:nvGrpSpPr>
        <p:grpSpPr>
          <a:xfrm>
            <a:off x="3567900" y="1018800"/>
            <a:ext cx="5029201" cy="1828801"/>
            <a:chOff x="0" y="0"/>
            <a:chExt cx="5029200" cy="1828800"/>
          </a:xfrm>
        </p:grpSpPr>
        <p:sp>
          <p:nvSpPr>
            <p:cNvPr id="142" name="Rounded Rectangle"/>
            <p:cNvSpPr/>
            <p:nvPr/>
          </p:nvSpPr>
          <p:spPr>
            <a:xfrm>
              <a:off x="0" y="0"/>
              <a:ext cx="5029200" cy="1828800"/>
            </a:xfrm>
            <a:prstGeom prst="roundRect">
              <a:avLst>
                <a:gd name="adj" fmla="val 16667"/>
              </a:avLst>
            </a:prstGeom>
            <a:solidFill>
              <a:srgbClr val="1E276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pc="-1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43" name="Fleet maintenance monitoring dashboard"/>
            <p:cNvSpPr txBox="1"/>
            <p:nvPr/>
          </p:nvSpPr>
          <p:spPr>
            <a:xfrm>
              <a:off x="134274" y="748576"/>
              <a:ext cx="4760652" cy="33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b="1" spc="-1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Fleet maintenance monitoring dashboard</a:t>
              </a:r>
            </a:p>
          </p:txBody>
        </p:sp>
      </p:grpSp>
      <p:grpSp>
        <p:nvGrpSpPr>
          <p:cNvPr id="147" name="Group"/>
          <p:cNvGrpSpPr/>
          <p:nvPr/>
        </p:nvGrpSpPr>
        <p:grpSpPr>
          <a:xfrm>
            <a:off x="1053300" y="3533400"/>
            <a:ext cx="2057401" cy="685801"/>
            <a:chOff x="0" y="0"/>
            <a:chExt cx="2057400" cy="685800"/>
          </a:xfrm>
        </p:grpSpPr>
        <p:sp>
          <p:nvSpPr>
            <p:cNvPr id="145" name="Rounded Rectangle"/>
            <p:cNvSpPr/>
            <p:nvPr/>
          </p:nvSpPr>
          <p:spPr>
            <a:xfrm>
              <a:off x="0" y="0"/>
              <a:ext cx="2057400" cy="685800"/>
            </a:xfrm>
            <a:prstGeom prst="roundRect">
              <a:avLst>
                <a:gd name="adj" fmla="val 16667"/>
              </a:avLst>
            </a:prstGeom>
            <a:solidFill>
              <a:srgbClr val="D9770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pc="-1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46" name="Select Vehicle"/>
            <p:cNvSpPr txBox="1"/>
            <p:nvPr/>
          </p:nvSpPr>
          <p:spPr>
            <a:xfrm>
              <a:off x="78477" y="177076"/>
              <a:ext cx="1900446" cy="33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b="1" spc="-1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Select Vehicle</a:t>
              </a:r>
            </a:p>
          </p:txBody>
        </p:sp>
      </p:grpSp>
      <p:grpSp>
        <p:nvGrpSpPr>
          <p:cNvPr id="150" name="Group"/>
          <p:cNvGrpSpPr/>
          <p:nvPr/>
        </p:nvGrpSpPr>
        <p:grpSpPr>
          <a:xfrm>
            <a:off x="9081299" y="3533400"/>
            <a:ext cx="2057401" cy="685801"/>
            <a:chOff x="0" y="0"/>
            <a:chExt cx="2057400" cy="685800"/>
          </a:xfrm>
        </p:grpSpPr>
        <p:sp>
          <p:nvSpPr>
            <p:cNvPr id="148" name="Rounded Rectangle"/>
            <p:cNvSpPr/>
            <p:nvPr/>
          </p:nvSpPr>
          <p:spPr>
            <a:xfrm>
              <a:off x="0" y="0"/>
              <a:ext cx="2057400" cy="685800"/>
            </a:xfrm>
            <a:prstGeom prst="roundRect">
              <a:avLst>
                <a:gd name="adj" fmla="val 16667"/>
              </a:avLst>
            </a:prstGeom>
            <a:solidFill>
              <a:srgbClr val="D9770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pc="-1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49" name="Predict Run"/>
            <p:cNvSpPr txBox="1"/>
            <p:nvPr/>
          </p:nvSpPr>
          <p:spPr>
            <a:xfrm>
              <a:off x="78477" y="177076"/>
              <a:ext cx="1900446" cy="33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b="1" spc="-1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Predict Run</a:t>
              </a:r>
            </a:p>
          </p:txBody>
        </p:sp>
      </p:grpSp>
      <p:grpSp>
        <p:nvGrpSpPr>
          <p:cNvPr id="153" name="Group"/>
          <p:cNvGrpSpPr/>
          <p:nvPr/>
        </p:nvGrpSpPr>
        <p:grpSpPr>
          <a:xfrm>
            <a:off x="5121300" y="3533400"/>
            <a:ext cx="2057401" cy="685801"/>
            <a:chOff x="0" y="0"/>
            <a:chExt cx="2057400" cy="685800"/>
          </a:xfrm>
        </p:grpSpPr>
        <p:sp>
          <p:nvSpPr>
            <p:cNvPr id="151" name="Rounded Rectangle"/>
            <p:cNvSpPr/>
            <p:nvPr/>
          </p:nvSpPr>
          <p:spPr>
            <a:xfrm>
              <a:off x="0" y="0"/>
              <a:ext cx="2057400" cy="685800"/>
            </a:xfrm>
            <a:prstGeom prst="roundRect">
              <a:avLst>
                <a:gd name="adj" fmla="val 16667"/>
              </a:avLst>
            </a:prstGeom>
            <a:solidFill>
              <a:srgbClr val="D9770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pc="-1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52" name="Upload Readings"/>
            <p:cNvSpPr txBox="1"/>
            <p:nvPr/>
          </p:nvSpPr>
          <p:spPr>
            <a:xfrm>
              <a:off x="78477" y="177076"/>
              <a:ext cx="1900446" cy="33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b="1" spc="-1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Upload Readings</a:t>
              </a:r>
            </a:p>
          </p:txBody>
        </p:sp>
      </p:grpSp>
      <p:grpSp>
        <p:nvGrpSpPr>
          <p:cNvPr id="156" name="Group"/>
          <p:cNvGrpSpPr/>
          <p:nvPr/>
        </p:nvGrpSpPr>
        <p:grpSpPr>
          <a:xfrm>
            <a:off x="1053300" y="5153399"/>
            <a:ext cx="2057401" cy="685801"/>
            <a:chOff x="0" y="0"/>
            <a:chExt cx="2057400" cy="685800"/>
          </a:xfrm>
        </p:grpSpPr>
        <p:sp>
          <p:nvSpPr>
            <p:cNvPr id="154" name="Rounded Rectangle"/>
            <p:cNvSpPr/>
            <p:nvPr/>
          </p:nvSpPr>
          <p:spPr>
            <a:xfrm>
              <a:off x="0" y="0"/>
              <a:ext cx="2057400" cy="685800"/>
            </a:xfrm>
            <a:prstGeom prst="roundRect">
              <a:avLst>
                <a:gd name="adj" fmla="val 16667"/>
              </a:avLst>
            </a:prstGeom>
            <a:solidFill>
              <a:srgbClr val="F7F8FB"/>
            </a:solidFill>
            <a:ln w="9525" cap="flat">
              <a:solidFill>
                <a:srgbClr val="E2E4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pc="-1">
                  <a:solidFill>
                    <a:srgbClr val="1E2761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55" name="Risk Level"/>
            <p:cNvSpPr txBox="1"/>
            <p:nvPr/>
          </p:nvSpPr>
          <p:spPr>
            <a:xfrm>
              <a:off x="83240" y="177076"/>
              <a:ext cx="1890920" cy="33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b="1" spc="-1">
                  <a:solidFill>
                    <a:srgbClr val="1E2761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Risk Level</a:t>
              </a:r>
            </a:p>
          </p:txBody>
        </p:sp>
      </p:grpSp>
      <p:grpSp>
        <p:nvGrpSpPr>
          <p:cNvPr id="159" name="Group"/>
          <p:cNvGrpSpPr/>
          <p:nvPr/>
        </p:nvGrpSpPr>
        <p:grpSpPr>
          <a:xfrm>
            <a:off x="9081299" y="5153399"/>
            <a:ext cx="2057401" cy="685801"/>
            <a:chOff x="0" y="0"/>
            <a:chExt cx="2057400" cy="685800"/>
          </a:xfrm>
        </p:grpSpPr>
        <p:sp>
          <p:nvSpPr>
            <p:cNvPr id="157" name="Rounded Rectangle"/>
            <p:cNvSpPr/>
            <p:nvPr/>
          </p:nvSpPr>
          <p:spPr>
            <a:xfrm>
              <a:off x="0" y="0"/>
              <a:ext cx="2057400" cy="685800"/>
            </a:xfrm>
            <a:prstGeom prst="roundRect">
              <a:avLst>
                <a:gd name="adj" fmla="val 16667"/>
              </a:avLst>
            </a:prstGeom>
            <a:solidFill>
              <a:srgbClr val="F7F8FB"/>
            </a:solidFill>
            <a:ln w="9525" cap="flat">
              <a:solidFill>
                <a:srgbClr val="E2E4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pc="-1">
                  <a:solidFill>
                    <a:srgbClr val="1E2761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58" name="Explanation"/>
            <p:cNvSpPr txBox="1"/>
            <p:nvPr/>
          </p:nvSpPr>
          <p:spPr>
            <a:xfrm>
              <a:off x="83240" y="177076"/>
              <a:ext cx="1890920" cy="331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b="1" spc="-1">
                  <a:solidFill>
                    <a:srgbClr val="1E2761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Explanation</a:t>
              </a:r>
            </a:p>
          </p:txBody>
        </p:sp>
      </p:grpSp>
      <p:grpSp>
        <p:nvGrpSpPr>
          <p:cNvPr id="162" name="Group"/>
          <p:cNvGrpSpPr/>
          <p:nvPr/>
        </p:nvGrpSpPr>
        <p:grpSpPr>
          <a:xfrm>
            <a:off x="5121300" y="5153399"/>
            <a:ext cx="2057401" cy="685801"/>
            <a:chOff x="0" y="0"/>
            <a:chExt cx="2057400" cy="685800"/>
          </a:xfrm>
        </p:grpSpPr>
        <p:sp>
          <p:nvSpPr>
            <p:cNvPr id="160" name="Rounded Rectangle"/>
            <p:cNvSpPr/>
            <p:nvPr/>
          </p:nvSpPr>
          <p:spPr>
            <a:xfrm>
              <a:off x="0" y="0"/>
              <a:ext cx="2057400" cy="685800"/>
            </a:xfrm>
            <a:prstGeom prst="roundRect">
              <a:avLst>
                <a:gd name="adj" fmla="val 16667"/>
              </a:avLst>
            </a:prstGeom>
            <a:solidFill>
              <a:srgbClr val="F7F8FB"/>
            </a:solidFill>
            <a:ln w="9525" cap="flat">
              <a:solidFill>
                <a:srgbClr val="E2E4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pc="-1">
                  <a:solidFill>
                    <a:srgbClr val="1E2761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61" name="Probability of Fault"/>
            <p:cNvSpPr txBox="1"/>
            <p:nvPr/>
          </p:nvSpPr>
          <p:spPr>
            <a:xfrm>
              <a:off x="83240" y="31026"/>
              <a:ext cx="1890920" cy="623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4999" tIns="44999" rIns="44999" bIns="44999" numCol="1" anchor="ctr">
              <a:spAutoFit/>
            </a:bodyPr>
            <a:lstStyle>
              <a:lvl1pPr algn="ctr">
                <a:defRPr b="1" spc="-1">
                  <a:solidFill>
                    <a:srgbClr val="1E2761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Probability of Fault</a:t>
              </a:r>
            </a:p>
          </p:txBody>
        </p:sp>
      </p:grpSp>
      <p:sp>
        <p:nvSpPr>
          <p:cNvPr id="163" name="Text 5"/>
          <p:cNvSpPr txBox="1"/>
          <p:nvPr/>
        </p:nvSpPr>
        <p:spPr>
          <a:xfrm>
            <a:off x="11277295" y="6423704"/>
            <a:ext cx="54864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B7BAC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04</a:t>
            </a:r>
          </a:p>
        </p:txBody>
      </p:sp>
      <p:sp>
        <p:nvSpPr>
          <p:cNvPr id="163" name="ProbCaption"/>
          <p:cNvSpPr txBox="1"/>
          <p:nvPr/>
        </p:nvSpPr>
        <p:spPr>
          <a:xfrm>
            <a:off x="5121300" y="5900000"/>
            <a:ext cx="2057401" cy="350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defRPr sz="1100" i="1">
                <a:solidFill>
                  <a:srgbClr val="8890B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e.g. 80% probability, flagged above a 33% threshold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1" animBg="1" advAuto="0"/>
      <p:bldP spid="147" grpId="2" animBg="1" advAuto="0"/>
      <p:bldP spid="150" grpId="4" animBg="1" advAuto="0"/>
      <p:bldP spid="153" grpId="3" animBg="1" advAuto="0"/>
      <p:bldP spid="156" grpId="5" animBg="1" advAuto="0"/>
      <p:bldP spid="159" grpId="7" animBg="1" advAuto="0"/>
      <p:bldP spid="162" grpId="6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 txBox="1"/>
          <p:nvPr/>
        </p:nvSpPr>
        <p:spPr>
          <a:xfrm>
            <a:off x="640080" y="2846070"/>
            <a:ext cx="10881360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THANK YOU</a:t>
            </a:r>
          </a:p>
        </p:txBody>
      </p:sp>
      <p:sp>
        <p:nvSpPr>
          <p:cNvPr id="166" name="Text 1"/>
          <p:cNvSpPr txBox="1"/>
          <p:nvPr/>
        </p:nvSpPr>
        <p:spPr>
          <a:xfrm>
            <a:off x="640080" y="3944709"/>
            <a:ext cx="1088136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>
                <a:solidFill>
                  <a:srgbClr val="D9770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Questions?</a:t>
            </a:r>
          </a:p>
        </p:txBody>
      </p:sp>
      <p:sp>
        <p:nvSpPr>
          <p:cNvPr id="167" name="Text 2"/>
          <p:cNvSpPr txBox="1"/>
          <p:nvPr/>
        </p:nvSpPr>
        <p:spPr>
          <a:xfrm>
            <a:off x="11277295" y="6423704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8890B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15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Eyebrow"/>
          <p:cNvSpPr txBox="1"/>
          <p:nvPr/>
        </p:nvSpPr>
        <p:spPr>
          <a:xfrm>
            <a:off x="640080" y="525071"/>
            <a:ext cx="9144001" cy="1568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400" b="1" spc="200">
                <a:solidFill>
                  <a:srgbClr val="D9770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ADVANCED MODEL</a:t>
            </a:r>
          </a:p>
        </p:txBody>
      </p:sp>
      <p:sp>
        <p:nvSpPr>
          <p:cNvPr id="201" name="Title"/>
          <p:cNvSpPr txBox="1"/>
          <p:nvPr/>
        </p:nvSpPr>
        <p:spPr>
          <a:xfrm>
            <a:off x="640080" y="786382"/>
            <a:ext cx="10881360" cy="43088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What “rolling” and “lag” actually mean</a:t>
            </a:r>
          </a:p>
        </p:txBody>
      </p:sp>
      <p:sp>
        <p:nvSpPr>
          <p:cNvPr id="202" name="ExampleBox"/>
          <p:cNvSpPr/>
          <p:nvPr/>
        </p:nvSpPr>
        <p:spPr>
          <a:xfrm>
            <a:off x="640080" y="1737360"/>
            <a:ext cx="5486400" cy="4297680"/>
          </a:xfrm>
          <a:prstGeom prst="roundRect">
            <a:avLst>
              <a:gd name="adj" fmla="val 2540"/>
            </a:avLst>
          </a:prstGeom>
          <a:solidFill>
            <a:srgbClr val="F7F8FB"/>
          </a:solidFill>
          <a:ln w="12700">
            <a:solidFill>
              <a:srgbClr val="E2E4EC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3" name="ExampleTitle"/>
          <p:cNvSpPr txBox="1"/>
          <p:nvPr/>
        </p:nvSpPr>
        <p:spPr>
          <a:xfrm>
            <a:off x="914400" y="1965960"/>
            <a:ext cx="4937760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700" b="1">
                <a:solidFill>
                  <a:srgbClr val="1E276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Example: it's 2pm on the dashboard</a:t>
            </a:r>
          </a:p>
        </p:txBody>
      </p:sp>
      <p:sp>
        <p:nvSpPr>
          <p:cNvPr id="204" name="ExampleBullets"/>
          <p:cNvSpPr txBox="1"/>
          <p:nvPr/>
        </p:nvSpPr>
        <p:spPr>
          <a:xfrm>
            <a:off x="914400" y="2461233"/>
            <a:ext cx="4937760" cy="3400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500">
                <a:solidFill>
                  <a:srgbClr val="3A3F5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marL="257175" indent="-257175">
              <a:spcBef>
                <a:spcPts val="600"/>
              </a:spcBef>
              <a:buChar char="•"/>
            </a:pPr>
            <a:r>
              <a:rPr b="1"/>
              <a:t>Motor_Temp_lag_3h</a:t>
            </a:r>
            <a:r>
              <a:t> is the Motor_Temp reading from 11am, 3 hours ago</a:t>
            </a:r>
          </a:p>
          <a:p>
            <a:pPr marL="257175" indent="-257175">
              <a:spcBef>
                <a:spcPts val="600"/>
              </a:spcBef>
              <a:buChar char="•"/>
            </a:pPr>
            <a:r>
              <a:rPr b="1"/>
              <a:t>Motor_RPM_roll_mean_24h</a:t>
            </a:r>
            <a:r>
              <a:t> is the average Motor_RPM over the last 24 hours</a:t>
            </a:r>
          </a:p>
          <a:p>
            <a:pPr marL="257175" indent="-257175">
              <a:spcBef>
                <a:spcPts val="600"/>
              </a:spcBef>
              <a:buChar char="•"/>
            </a:pPr>
            <a:r>
              <a:rPr b="1"/>
              <a:t>hour_of_day, day_of_week</a:t>
            </a:r>
            <a:r>
              <a:t> are calendar signals, not sensor readings</a:t>
            </a:r>
          </a:p>
          <a:p>
            <a:pPr marL="0" indent="0">
              <a:spcBef>
                <a:spcPts val="1200"/>
              </a:spcBef>
              <a:buNone/>
            </a:pPr>
            <a:r>
              <a:t>All of it comes from each vehicle's own historical readings, grouped by usage profile so one vehicle's history never leaks into another's.</a:t>
            </a:r>
          </a:p>
        </p:txBody>
      </p:sp>
      <p:sp>
        <p:nvSpPr>
          <p:cNvPr id="205" name="AppCard"/>
          <p:cNvSpPr/>
          <p:nvPr/>
        </p:nvSpPr>
        <p:spPr>
          <a:xfrm>
            <a:off x="6400800" y="1737360"/>
            <a:ext cx="5150800" cy="1950000"/>
          </a:xfrm>
          <a:prstGeom prst="roundRect">
            <a:avLst>
              <a:gd name="adj" fmla="val 2540"/>
            </a:avLst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6" name="AppCardTitle"/>
          <p:cNvSpPr txBox="1"/>
          <p:nvPr/>
        </p:nvSpPr>
        <p:spPr>
          <a:xfrm>
            <a:off x="6675080" y="1965960"/>
            <a:ext cx="4602240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700" b="1">
                <a:solidFill>
                  <a:srgbClr val="F2A93B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What this means for the app</a:t>
            </a:r>
          </a:p>
        </p:txBody>
      </p:sp>
      <p:sp>
        <p:nvSpPr>
          <p:cNvPr id="207" name="AppCardBody"/>
          <p:cNvSpPr txBox="1"/>
          <p:nvPr/>
        </p:nvSpPr>
        <p:spPr>
          <a:xfrm>
            <a:off x="6675080" y="2461233"/>
            <a:ext cx="4602240" cy="1150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400">
                <a:solidFill>
                  <a:srgbClr val="F5F3E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The baseline model only needs the vehicle's current readings. The tuned models use recent history, so they need the last 6 to 24 hours of readings before they can forecast.</a:t>
            </a:r>
          </a:p>
        </p:txBody>
      </p:sp>
      <p:sp>
        <p:nvSpPr>
          <p:cNvPr id="208" name="LimitCard"/>
          <p:cNvSpPr/>
          <p:nvPr/>
        </p:nvSpPr>
        <p:spPr>
          <a:xfrm>
            <a:off x="6400800" y="3886200"/>
            <a:ext cx="5150800" cy="2148840"/>
          </a:xfrm>
          <a:prstGeom prst="roundRect">
            <a:avLst>
              <a:gd name="adj" fmla="val 2540"/>
            </a:avLst>
          </a:prstGeom>
          <a:solidFill>
            <a:srgbClr val="FDF3E0"/>
          </a:solidFill>
          <a:ln w="12700">
            <a:solidFill>
              <a:srgbClr val="F2A93B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9" name="LimitCardTitle"/>
          <p:cNvSpPr txBox="1"/>
          <p:nvPr/>
        </p:nvSpPr>
        <p:spPr>
          <a:xfrm>
            <a:off x="6675080" y="4114800"/>
            <a:ext cx="4602240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700" b="1">
                <a:solidFill>
                  <a:srgbClr val="1E276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Known limitation</a:t>
            </a:r>
          </a:p>
        </p:txBody>
      </p:sp>
      <p:sp>
        <p:nvSpPr>
          <p:cNvPr id="210" name="LimitCardBody"/>
          <p:cNvSpPr txBox="1"/>
          <p:nvPr/>
        </p:nvSpPr>
        <p:spPr>
          <a:xfrm>
            <a:off x="6675080" y="4610073"/>
            <a:ext cx="4602240" cy="1300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400">
                <a:solidFill>
                  <a:srgbClr val="3A3F5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This assumes our 4 training usage profiles generalize to other vehicles. More vehicles and battery types in training would make the forecast more reliable.</a:t>
            </a:r>
          </a:p>
        </p:txBody>
      </p:sp>
      <p:sp>
        <p:nvSpPr>
          <p:cNvPr id="211" name="PageNum"/>
          <p:cNvSpPr txBox="1"/>
          <p:nvPr/>
        </p:nvSpPr>
        <p:spPr>
          <a:xfrm>
            <a:off x="11277295" y="6423704"/>
            <a:ext cx="548642" cy="13707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B7BAC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12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Eyebrow"/>
          <p:cNvSpPr txBox="1"/>
          <p:nvPr/>
        </p:nvSpPr>
        <p:spPr>
          <a:xfrm>
            <a:off x="640080" y="525071"/>
            <a:ext cx="9144001" cy="1568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400" b="1" spc="200">
                <a:solidFill>
                  <a:srgbClr val="D9770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FROM FORECAST TO CLASSIFICATION</a:t>
            </a:r>
          </a:p>
        </p:txBody>
      </p:sp>
      <p:sp>
        <p:nvSpPr>
          <p:cNvPr id="221" name="Title"/>
          <p:cNvSpPr txBox="1"/>
          <p:nvPr/>
        </p:nvSpPr>
        <p:spPr>
          <a:xfrm>
            <a:off x="640080" y="786382"/>
            <a:ext cx="10881360" cy="43088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29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How we turned this into a yes/no question</a:t>
            </a:r>
          </a:p>
        </p:txBody>
      </p:sp>
      <p:sp>
        <p:nvSpPr>
          <p:cNvPr id="222" name="ExampleBox"/>
          <p:cNvSpPr/>
          <p:nvPr/>
        </p:nvSpPr>
        <p:spPr>
          <a:xfrm>
            <a:off x="640080" y="1737360"/>
            <a:ext cx="5486400" cy="4297680"/>
          </a:xfrm>
          <a:prstGeom prst="roundRect">
            <a:avLst>
              <a:gd name="adj" fmla="val 2540"/>
            </a:avLst>
          </a:prstGeom>
          <a:solidFill>
            <a:srgbClr val="F7F8FB"/>
          </a:solidFill>
          <a:ln w="12700">
            <a:solidFill>
              <a:srgbClr val="E2E4EC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23" name="ExampleTitle"/>
          <p:cNvSpPr txBox="1"/>
          <p:nvPr/>
        </p:nvSpPr>
        <p:spPr>
          <a:xfrm>
            <a:off x="914400" y="1965960"/>
            <a:ext cx="4937760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700" b="1">
                <a:solidFill>
                  <a:srgbClr val="1E276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What we start with vs. what we predict</a:t>
            </a:r>
          </a:p>
        </p:txBody>
      </p:sp>
      <p:sp>
        <p:nvSpPr>
          <p:cNvPr id="224" name="ExampleBullets"/>
          <p:cNvSpPr txBox="1"/>
          <p:nvPr/>
        </p:nvSpPr>
        <p:spPr>
          <a:xfrm>
            <a:off x="914400" y="2461233"/>
            <a:ext cx="4937760" cy="3400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500">
                <a:solidFill>
                  <a:srgbClr val="3A3F5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marL="257175" indent="-257175">
              <a:spcBef>
                <a:spcPts val="600"/>
              </a:spcBef>
              <a:buChar char="•"/>
            </a:pPr>
            <a:r>
              <a:rPr b="1"/>
              <a:t>Raw data: </a:t>
            </a:r>
            <a:r>
              <a:t>hourly sensor readings per vehicle, grouped by usage profile (daily, heavy, moderate, rare)</a:t>
            </a:r>
          </a:p>
          <a:p>
            <a:pPr marL="257175" indent="-257175">
              <a:spcBef>
                <a:spcPts val="600"/>
              </a:spcBef>
              <a:buChar char="•"/>
            </a:pPr>
            <a:r>
              <a:rPr b="1"/>
              <a:t>Engineered target: </a:t>
            </a:r>
            <a:r>
              <a:t>for every hour, we look 6 hours ahead in that same vehicle's history and label it fault or no fault</a:t>
            </a:r>
          </a:p>
          <a:p>
            <a:pPr marL="257175" indent="-257175">
              <a:spcBef>
                <a:spcPts val="600"/>
              </a:spcBef>
              <a:buChar char="•"/>
            </a:pPr>
            <a:r>
              <a:rPr b="1"/>
              <a:t>Result: </a:t>
            </a:r>
            <a:r>
              <a:t>one classification decision per hour, yes or no, not a continuous forecast</a:t>
            </a:r>
          </a:p>
          <a:p>
            <a:pPr marL="0" indent="0">
              <a:spcBef>
                <a:spcPts val="1200"/>
              </a:spcBef>
              <a:buNone/>
            </a:pPr>
            <a:r>
              <a:t>Grouping by usage profile keeps one vehicle's history from leaking into another's label.</a:t>
            </a:r>
          </a:p>
        </p:txBody>
      </p:sp>
      <p:sp>
        <p:nvSpPr>
          <p:cNvPr id="225" name="AppCard"/>
          <p:cNvSpPr/>
          <p:nvPr/>
        </p:nvSpPr>
        <p:spPr>
          <a:xfrm>
            <a:off x="6400800" y="1737360"/>
            <a:ext cx="5150800" cy="1950000"/>
          </a:xfrm>
          <a:prstGeom prst="roundRect">
            <a:avLst>
              <a:gd name="adj" fmla="val 2540"/>
            </a:avLst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26" name="AppCardTitle"/>
          <p:cNvSpPr txBox="1"/>
          <p:nvPr/>
        </p:nvSpPr>
        <p:spPr>
          <a:xfrm>
            <a:off x="6675080" y="1965960"/>
            <a:ext cx="4602240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700" b="1">
                <a:solidFill>
                  <a:srgbClr val="F2A93B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The assumption we're making</a:t>
            </a:r>
          </a:p>
        </p:txBody>
      </p:sp>
      <p:sp>
        <p:nvSpPr>
          <p:cNvPr id="227" name="AppCardBody"/>
          <p:cNvSpPr txBox="1"/>
          <p:nvPr/>
        </p:nvSpPr>
        <p:spPr>
          <a:xfrm>
            <a:off x="6675080" y="2461233"/>
            <a:ext cx="4602240" cy="1150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400">
                <a:solidFill>
                  <a:srgbClr val="F5F3E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We assume our 4 training usage profiles represent the fleet well enough to generalize. That's a modeling choice, not a fact about the world.</a:t>
            </a:r>
          </a:p>
        </p:txBody>
      </p:sp>
      <p:sp>
        <p:nvSpPr>
          <p:cNvPr id="228" name="LimitCard"/>
          <p:cNvSpPr/>
          <p:nvPr/>
        </p:nvSpPr>
        <p:spPr>
          <a:xfrm>
            <a:off x="6400800" y="3886200"/>
            <a:ext cx="5150800" cy="2148840"/>
          </a:xfrm>
          <a:prstGeom prst="roundRect">
            <a:avLst>
              <a:gd name="adj" fmla="val 2540"/>
            </a:avLst>
          </a:prstGeom>
          <a:solidFill>
            <a:srgbClr val="FDF3E0"/>
          </a:solidFill>
          <a:ln w="12700">
            <a:solidFill>
              <a:srgbClr val="F2A93B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29" name="LimitCardTitle"/>
          <p:cNvSpPr txBox="1"/>
          <p:nvPr/>
        </p:nvSpPr>
        <p:spPr>
          <a:xfrm>
            <a:off x="6675080" y="4114800"/>
            <a:ext cx="4602240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700" b="1">
                <a:solidFill>
                  <a:srgbClr val="1E276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The limitation</a:t>
            </a:r>
          </a:p>
        </p:txBody>
      </p:sp>
      <p:sp>
        <p:nvSpPr>
          <p:cNvPr id="230" name="LimitCardBody"/>
          <p:cNvSpPr txBox="1"/>
          <p:nvPr/>
        </p:nvSpPr>
        <p:spPr>
          <a:xfrm>
            <a:off x="6675080" y="4610073"/>
            <a:ext cx="4602240" cy="1300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400">
                <a:solidFill>
                  <a:srgbClr val="3A3F5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More vehicles and battery types in training would make us more confident the pattern holds outside these 4 profiles.</a:t>
            </a:r>
          </a:p>
        </p:txBody>
      </p:sp>
      <p:sp>
        <p:nvSpPr>
          <p:cNvPr id="231" name="PageNum"/>
          <p:cNvSpPr txBox="1"/>
          <p:nvPr/>
        </p:nvSpPr>
        <p:spPr>
          <a:xfrm>
            <a:off x="11277295" y="6423704"/>
            <a:ext cx="548642" cy="13707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B7BAC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07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2209</Words>
  <Application>Microsoft Office PowerPoint</Application>
  <PresentationFormat>Widescreen</PresentationFormat>
  <Paragraphs>235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Harsha vardhan Ratnala</dc:creator>
  <cp:lastModifiedBy>Harsha Vardhan</cp:lastModifiedBy>
  <cp:revision>2</cp:revision>
  <dcterms:modified xsi:type="dcterms:W3CDTF">2026-08-10T07:36:41Z</dcterms:modified>
</cp:coreProperties>
</file>