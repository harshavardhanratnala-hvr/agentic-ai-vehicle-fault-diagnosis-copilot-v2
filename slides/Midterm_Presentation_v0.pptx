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Fault rate by usage profile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Fault %</c:v>
                </c:pt>
              </c:strCache>
            </c:strRef>
          </c:tx>
          <c:spPr>
            <a:solidFill>
              <a:srgbClr val="B23A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rare_user</c:v>
                  </c:pt>
                  <c:pt idx="1">
                    <c:v>daily_user</c:v>
                  </c:pt>
                  <c:pt idx="2">
                    <c:v>moderate_user</c:v>
                  </c:pt>
                  <c:pt idx="3">
                    <c:v>heavy_user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0.986</c:v>
                </c:pt>
                <c:pt idx="1">
                  <c:v>1.112</c:v>
                </c:pt>
                <c:pt idx="2">
                  <c:v>1.379</c:v>
                </c:pt>
                <c:pt idx="3">
                  <c:v>2.573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A model that never predicts a fault, scored 3 ways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Metric score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Looks accurate</c:v>
                  </c:pt>
                  <c:pt idx="1">
                    <c:v>Balanced score</c:v>
                  </c:pt>
                  <c:pt idx="2">
                    <c:v>Actually catches faults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0.909</c:v>
                </c:pt>
                <c:pt idx="1">
                  <c:v>0.476</c:v>
                </c:pt>
                <c:pt idx="2">
                  <c:v>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Model comparison (test set)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 metric (F2)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
Regression</c:v>
                  </c:pt>
                  <c:pt idx="1">
                    <c:v>Random
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0.328</c:v>
                </c:pt>
                <c:pt idx="1">
                  <c:v>0.459</c:v>
                </c:pt>
                <c:pt idx="2">
                  <c:v>0.491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of real faults caught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
Regression</c:v>
                  </c:pt>
                  <c:pt idx="1">
                    <c:v>Random
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0.517</c:v>
                </c:pt>
                <c:pt idx="1">
                  <c:v>0.743</c:v>
                </c:pt>
                <c:pt idx="2">
                  <c:v>0.855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47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[All] Quick hello. Introduce the team and the one line framing: we're building a copilot that forecasts EV faults before they happen, so a fleet manager can act early instead of reacting to a breakdown.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[Harsha] State the business goal exactly as written on the slide. Emphasize the 6 hour forecast window is a deliberate choice: long enough to act on, short enough to be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[Ghada] Walk through the three roles left to right. Land on the fleet manager as the primary client: the model's output is designed around what they can act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[Hüseyin] Name the source and license explicitly (real dataset provenance question examiners ask). Note the 4 usage profiles: daily, heavy, moderate, rare. That's the "usage profile" the fleet varies across.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[Harsha] Point at the chart: heavy_user's fault rate is 2.6x rare_user's. This single finding is why merging all 4 vehicles into one model needs to be treated carefully. Flagged here, before modeling, not discovered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[Hüseyin] Tell it as a story: "we tested our scoring method against a model that predicts nothing, found it lied to us, and fixed it." Technical term for the audience if asked: macro F1 looked fine (about 0.48) for a model with zero real fault recall. That's why we moved to F2, which weights catching faults (recall) about twice as heavily as precision.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[Harsha] Walk left to right along the pipeline. Point out the dashed final box: agent + RAG is explicitly future work, not built yet. Technical note if asked: the single-vehicle version uses a chronological (leakage-conservative) split; the fleet-wide version shown here uses a stratified random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[Ghada] Emphasize this is the reference point, not the final answer. Catching 52% of real faults at this stage sets up the next slide's improvement story. Technical note if asked: stratified 80/20 train/test split, F2-score is the headline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[Hüseyin] Read the chart left to right as a progression, not three unrelated bars. Land on the number: recall went from 52% to 85.5% baseline to best. Technical terms if asked: feature selection used mutual information versus a random-noise benchmark, cross-checked with permutation importance; tuning used RandomizedSearchCV scored on F2.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[Harsha] Quick slide. Just name the categories: modeling stack on the left is real and used today, the right side is what RAG plus the agent plus deployment will run on, coming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[Ghada] Be explicit that none of these 4 items are built yet. This slide is the honest "here's the real gap" slide, not filler.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[All] Open the floor for Q&amp;A. Have the repo link ready to share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PRESENTATION  ·  VERSION 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Vehicle Fault Diagnosis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Repair Copilot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EV faults before they happen: a fleet-maintenance copilot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NodePair  ·  Harsha  ·  Ghada  ·  Hüseyin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faults before they happen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4206240"/>
          </a:xfrm>
          <a:prstGeom prst="roundRect">
            <a:avLst>
              <a:gd name="adj" fmla="val 2174"/>
            </a:avLst>
          </a:prstGeom>
          <a:solidFill>
            <a:srgbClr val="EEF3F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03120"/>
            <a:ext cx="5852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1600"/>
              </a:spcAft>
              <a:buSzPct val="100000"/>
              <a:buChar char="•"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whether a fault will occur in the next 6 hours</a:t>
            </a:r>
            <a:endParaRPr lang="en-US" sz="1900" dirty="0"/>
          </a:p>
          <a:p>
            <a:pPr marL="342900" indent="-342900">
              <a:lnSpc>
                <a:spcPct val="140000"/>
              </a:lnSpc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vehicle's own sensor history to make the call</a:t>
            </a:r>
            <a:endParaRPr lang="en-US" sz="1900" dirty="0"/>
          </a:p>
          <a:p>
            <a:pPr marL="342900" indent="-342900">
              <a:lnSpc>
                <a:spcPct val="140000"/>
              </a:lnSpc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fleet manager schedule maintenance before a breakdown, not after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223760" y="1737360"/>
            <a:ext cx="4389120" cy="1965960"/>
          </a:xfrm>
          <a:prstGeom prst="roundRect">
            <a:avLst>
              <a:gd name="adj" fmla="val 3721"/>
            </a:avLst>
          </a:prstGeom>
          <a:solidFill>
            <a:srgbClr val="12163C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1965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today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0" y="25146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get serviced only after a fault is flagged, after the fact.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23760" y="3931920"/>
            <a:ext cx="438912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0" y="4160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tomorrow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0" y="47091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6-hour early warning turns a breakdown into a scheduled visit.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is actually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7F9FC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client. Receives the early-warning signal and decides when a vehicle is pulled in for service.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7F9FC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148840"/>
            <a:ext cx="640080" cy="640080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17720" y="29718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/ Driver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5661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of the forecast. Sensor telemetry flows from the vehicle continuously.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7F9FC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214884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58200" y="29718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/ Service Tech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58200" y="35661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beneficiary. Once a fault is flagged, the repair-ticket agent (future work) hands them a cited starting point.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sensor telemetry, 4 vehicles, 5 years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Kaggle, "EV Sensors Driving-Pattern Diagnostics 2020 to 24"
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 4.0
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sensor readings, per vehicle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raw sensors per reading: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3F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611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361188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3FD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3611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361188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3FD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3611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Cycles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3F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14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Temp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97480" y="411480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3FD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4114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RPM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411480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3FD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4114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Torque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3F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617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Temp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97480" y="461772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3FD"/>
          </a:solidFill>
          <a:ln/>
        </p:spPr>
      </p:sp>
      <p:sp>
        <p:nvSpPr>
          <p:cNvPr id="21" name="Text 19"/>
          <p:cNvSpPr/>
          <p:nvPr/>
        </p:nvSpPr>
        <p:spPr>
          <a:xfrm>
            <a:off x="2697480" y="4617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Pad Wear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461772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3FD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4617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Voltage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EF3FD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120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 Pressure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40880" y="1737360"/>
            <a:ext cx="457200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184708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175,176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7315200" y="2560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readings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040880" y="3246120"/>
            <a:ext cx="457200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0" y="335584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7315200" y="4069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/ usage profiles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040880" y="4754880"/>
            <a:ext cx="457200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0" y="486460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yrs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315200" y="5577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2020 to Dec 2024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rate already differs by usage profile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173736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7F9FC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95160" y="184708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2.6x spread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995160" y="22402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heavy_user faults 2.6x more often than rare_user, visible before any model is fit.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766560" y="315468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7F9FC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95160" y="326440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data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95160" y="36576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175,176 rows, 0 missing values, no timestamp gaps in any of the 4 vehicles.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766560" y="457200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7F9FC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95160" y="468172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Hour-of-day matters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95160" y="50749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rate varies by hour of day, a real, checked seasonality signal, not assumed.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faults matters more than "looking accurate"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7607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675120" y="17373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predicts zero faults still looks fine on standard scorecards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this on purpose and caught it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picked a metric that can't be fooled that way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675120" y="3291840"/>
            <a:ext cx="4937760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0" y="35204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metric: F2-score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949440" y="4023360"/>
            <a:ext cx="4389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catching a real fault about twice as much as it penalizes a false alarm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real world cost: missing a fault is far more expensive than double checking a vehicle that turns out fine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sensors to a forecast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85292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340156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all 4 vehicles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31720" y="30632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68880" y="274320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12163C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285292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60320" y="340156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/ lag / calendar features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51960" y="30632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89120" y="274320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85292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80560" y="340156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signals that matter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72200" y="30632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274320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12163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85292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340156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simple model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092440" y="30632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0" y="274320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285292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Models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21040" y="340156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powerful models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012680" y="30632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149840" y="274320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DF3E0"/>
          </a:solidFill>
          <a:ln w="19050">
            <a:solidFill>
              <a:srgbClr val="F2A93B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0241280" y="285292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RAG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241280" y="340156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(future work)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4297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actually built and compared two versions of this pipeline: one on a single vehicle, one across the whole fleet (shown above), and kept both.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Regression, all 4 vehicles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first model, trained on all 10 raw sensors across all 4 vehicles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whether a fault will happen in the next 6 hours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ahead, rather than just detecting a fault that's already happening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3F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803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3FD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8803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0" y="36576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real faults caught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3FD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8803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13.3%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09360" y="36576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fault alerts that were real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52560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28803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0.328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44000" y="36576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metric (F2)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data the model never saw during training. This is the reference every later model has to beat.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powerful models catch far more faults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315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1783080"/>
            <a:ext cx="3566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85.5% of real faults, best of the three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selection: 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 54 candidate signals, kept the 45 that actually predict faults better than random noise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settings were tuned specifically to catch more faults, not just to look accurate overall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planned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use now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(RAG / agent / deployment)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932688" cy="932688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7" name="Image 0" descr="icons_out/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286000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30815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21408" y="2103120"/>
            <a:ext cx="932688" cy="932688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10" name="Image 1" descr="icons_out/pand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2286000"/>
            <a:ext cx="566928" cy="5669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01368" y="30815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694176" y="2103120"/>
            <a:ext cx="932688" cy="932688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13" name="Image 2" descr="icons_out/num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056" y="22860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74136" y="30815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266944" y="2103120"/>
            <a:ext cx="932688" cy="932688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16" name="Image 3" descr="icons_out/scikitlea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824" y="2286000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46904" y="30815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839712" y="2103120"/>
            <a:ext cx="932688" cy="932688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19" name="Image 4" descr="icons_out/xgboo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2" y="2286000"/>
            <a:ext cx="566928" cy="56692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19672" y="30815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8412480" y="2103120"/>
            <a:ext cx="932688" cy="932688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22" name="Image 5" descr="icons_out/jupyt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2286000"/>
            <a:ext cx="566928" cy="56692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092440" y="30815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9985248" y="2103120"/>
            <a:ext cx="932688" cy="932688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25" name="Image 6" descr="icons_out/githu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8128" y="2286000"/>
            <a:ext cx="566928" cy="56692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665208" y="30815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548640" y="4617720"/>
            <a:ext cx="932688" cy="932688"/>
          </a:xfrm>
          <a:prstGeom prst="ellipse">
            <a:avLst/>
          </a:prstGeom>
          <a:solidFill>
            <a:srgbClr val="E9ECF3"/>
          </a:solidFill>
          <a:ln/>
        </p:spPr>
      </p:sp>
      <p:pic>
        <p:nvPicPr>
          <p:cNvPr id="28" name="Image 7" descr="icons_out/fastapi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800600"/>
            <a:ext cx="566928" cy="56692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228600" y="55961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2121408" y="4617720"/>
            <a:ext cx="932688" cy="932688"/>
          </a:xfrm>
          <a:prstGeom prst="ellipse">
            <a:avLst/>
          </a:prstGeom>
          <a:solidFill>
            <a:srgbClr val="E9ECF3"/>
          </a:solidFill>
          <a:ln/>
        </p:spPr>
      </p:sp>
      <p:pic>
        <p:nvPicPr>
          <p:cNvPr id="31" name="Image 8" descr="icons_out/streamli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04288" y="4800600"/>
            <a:ext cx="566928" cy="56692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801368" y="55961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3694176" y="4617720"/>
            <a:ext cx="932688" cy="932688"/>
          </a:xfrm>
          <a:prstGeom prst="ellipse">
            <a:avLst/>
          </a:prstGeom>
          <a:solidFill>
            <a:srgbClr val="E9ECF3"/>
          </a:solidFill>
          <a:ln/>
        </p:spPr>
      </p:sp>
      <p:pic>
        <p:nvPicPr>
          <p:cNvPr id="34" name="Image 9" descr="icons_out/nextj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77056" y="4800600"/>
            <a:ext cx="566928" cy="566928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3374136" y="55961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000" dirty="0"/>
          </a:p>
        </p:txBody>
      </p:sp>
      <p:sp>
        <p:nvSpPr>
          <p:cNvPr id="36" name="Shape 24"/>
          <p:cNvSpPr/>
          <p:nvPr/>
        </p:nvSpPr>
        <p:spPr>
          <a:xfrm>
            <a:off x="5266944" y="4617720"/>
            <a:ext cx="932688" cy="932688"/>
          </a:xfrm>
          <a:prstGeom prst="ellipse">
            <a:avLst/>
          </a:prstGeom>
          <a:solidFill>
            <a:srgbClr val="E9ECF3"/>
          </a:solidFill>
          <a:ln/>
        </p:spPr>
      </p:sp>
      <p:pic>
        <p:nvPicPr>
          <p:cNvPr id="37" name="Image 10" descr="icons_out/postgre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49824" y="4800600"/>
            <a:ext cx="566928" cy="566928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46904" y="55961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000" dirty="0"/>
          </a:p>
        </p:txBody>
      </p:sp>
      <p:sp>
        <p:nvSpPr>
          <p:cNvPr id="39" name="Shape 26"/>
          <p:cNvSpPr/>
          <p:nvPr/>
        </p:nvSpPr>
        <p:spPr>
          <a:xfrm>
            <a:off x="6839712" y="4617720"/>
            <a:ext cx="932688" cy="932688"/>
          </a:xfrm>
          <a:prstGeom prst="ellipse">
            <a:avLst/>
          </a:prstGeom>
          <a:solidFill>
            <a:srgbClr val="E9ECF3"/>
          </a:solidFill>
          <a:ln/>
        </p:spPr>
      </p:sp>
      <p:pic>
        <p:nvPicPr>
          <p:cNvPr id="40" name="Image 11" descr="icons_out/supabas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22592" y="4800600"/>
            <a:ext cx="566928" cy="566928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519672" y="55961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00" dirty="0"/>
          </a:p>
        </p:txBody>
      </p:sp>
      <p:sp>
        <p:nvSpPr>
          <p:cNvPr id="42" name="Shape 28"/>
          <p:cNvSpPr/>
          <p:nvPr/>
        </p:nvSpPr>
        <p:spPr>
          <a:xfrm>
            <a:off x="8412480" y="4617720"/>
            <a:ext cx="932688" cy="932688"/>
          </a:xfrm>
          <a:prstGeom prst="ellipse">
            <a:avLst/>
          </a:prstGeom>
          <a:solidFill>
            <a:srgbClr val="E9ECF3"/>
          </a:solidFill>
          <a:ln/>
        </p:spPr>
      </p:sp>
      <p:pic>
        <p:nvPicPr>
          <p:cNvPr id="43" name="Image 12" descr="icons_out/huggingfac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95360" y="4800600"/>
            <a:ext cx="566928" cy="566928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8092440" y="55961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Embeddings</a:t>
            </a:r>
            <a:endParaRPr lang="en-US" sz="1000" dirty="0"/>
          </a:p>
        </p:txBody>
      </p:sp>
      <p:sp>
        <p:nvSpPr>
          <p:cNvPr id="45" name="Shape 30"/>
          <p:cNvSpPr/>
          <p:nvPr/>
        </p:nvSpPr>
        <p:spPr>
          <a:xfrm>
            <a:off x="9985248" y="4617720"/>
            <a:ext cx="932688" cy="932688"/>
          </a:xfrm>
          <a:prstGeom prst="ellipse">
            <a:avLst/>
          </a:prstGeom>
          <a:solidFill>
            <a:srgbClr val="E9ECF3"/>
          </a:solidFill>
          <a:ln/>
        </p:spPr>
      </p:sp>
      <p:pic>
        <p:nvPicPr>
          <p:cNvPr id="46" name="Image 13" descr="icons_out/openai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68128" y="4800600"/>
            <a:ext cx="566928" cy="566928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9665208" y="559612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000" dirty="0"/>
          </a:p>
        </p:txBody>
      </p:sp>
      <p:sp>
        <p:nvSpPr>
          <p:cNvPr id="48" name="Text 32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6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next, before the final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NHTSA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recall, complaint, and TSB text filtered to battery and electrical tags. Not started yet.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057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6060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loop: classify → search recalls → generate a cited repair ticket.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343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Per-profile fairness re-check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8920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recall breakdown by usage profile on this all-vehicle track.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411480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4343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48920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backend, Streamlit/Next.js dashboard, Supabase for storage.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6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github.com/harshavardhanratnala-hvr/agentic-ai-vehicle-fault-diagnosis-copilot-v2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2026-08-08T08:25:08Z</dcterms:created>
  <dcterms:modified xsi:type="dcterms:W3CDTF">2026-08-08T08:25:08Z</dcterms:modified>
</cp:coreProperties>
</file>