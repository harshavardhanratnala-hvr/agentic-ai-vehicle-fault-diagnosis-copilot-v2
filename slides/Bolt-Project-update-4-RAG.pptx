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66" r:id="rId13"/>
    <p:sldId id="259" r:id="rId5"/>
    <p:sldId id="269" r:id="rId6"/>
    <p:sldId id="272" r:id="rId21"/>
    <p:sldId id="260" r:id="rId7"/>
    <p:sldId id="261" r:id="rId8"/>
    <p:sldId id="270" r:id="rId9"/>
    <p:sldId id="263" r:id="rId10"/>
    <p:sldId id="271" r:id="rId20"/>
    <p:sldId id="264" r:id="rId11"/>
    <p:sldId id="265" r:id="rId12"/>
    <p:sldId id="273" r:id="rId22"/>
    <p:sldId id="274" r:id="rId23"/>
    <p:sldId id="275" r:id="rId24"/>
    <p:sldId id="276" r:id="rId25"/>
    <p:sldId id="267" r:id="rId1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3" autoAdjust="0"/>
    <p:restoredTop sz="82976" autoAdjust="0"/>
  </p:normalViewPr>
  <p:slideViewPr>
    <p:cSldViewPr snapToGrid="0">
      <p:cViewPr>
        <p:scale>
          <a:sx n="53" d="100"/>
          <a:sy n="53" d="100"/>
        </p:scale>
        <p:origin x="102" y="8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4.xml"/><Relationship Id="rId14" Type="http://schemas.openxmlformats.org/officeDocument/2006/relationships/slide" Target="slides/slide19.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2.xml"/><Relationship Id="rId21" Type="http://schemas.openxmlformats.org/officeDocument/2006/relationships/slide" Target="slides/slide7.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300" b="0" i="0" u="none" strike="noStrike">
                <a:solidFill>
                  <a:srgbClr val="1E2761"/>
                </a:solidFill>
                <a:latin typeface="Arial"/>
              </a:defRPr>
            </a:pPr>
            <a:r>
              <a:rPr lang="en-IN" sz="1300" b="0" i="0" u="none" strike="noStrike">
                <a:solidFill>
                  <a:srgbClr val="1E2761"/>
                </a:solidFill>
                <a:latin typeface="Arial"/>
              </a:rPr>
              <a:t>Model comparison (test set)</a:t>
            </a:r>
          </a:p>
        </c:rich>
      </c:tx>
      <c:overlay val="0"/>
    </c:title>
    <c:autoTitleDeleted val="0"/>
    <c:plotArea>
      <c:layout/>
      <c:barChart>
        <c:barDir val="col"/>
        <c:grouping val="clustered"/>
        <c:varyColors val="0"/>
        <c:ser>
          <c:idx val="0"/>
          <c:order val="0"/>
          <c:tx>
            <c:strRef>
              <c:f>Sheet1!$B$1</c:f>
              <c:strCache>
                <c:ptCount val="1"/>
                <c:pt idx="0">
                  <c:v>Our metric (F2)</c:v>
                </c:pt>
              </c:strCache>
            </c:strRef>
          </c:tx>
          <c:spPr>
            <a:solidFill>
              <a:srgbClr val="1E2761"/>
            </a:solidFill>
            <a:effectLst/>
          </c:spPr>
          <c:invertIfNegative val="0"/>
          <c:dLbls>
            <c:numFmt formatCode="0.00" sourceLinked="0"/>
            <c:spPr>
              <a:noFill/>
              <a:ln>
                <a:noFill/>
              </a:ln>
              <a:effectLst/>
            </c:spPr>
            <c:txPr>
              <a:bodyPr/>
              <a:lstStyle/>
              <a:p>
                <a:pPr>
                  <a:defRPr sz="1000" b="0" i="0" u="none" strike="noStrike">
                    <a:solidFill>
                      <a:srgbClr val="1E2761"/>
                    </a:solidFill>
                    <a:latin typeface="Arial"/>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Logistic
Regression</c:v>
                </c:pt>
                <c:pt idx="1">
                  <c:v>Random
Forest</c:v>
                </c:pt>
                <c:pt idx="2">
                  <c:v>XGBoost</c:v>
                </c:pt>
              </c:strCache>
            </c:strRef>
          </c:cat>
          <c:val>
            <c:numRef>
              <c:f>Sheet1!$B$2:$B$4</c:f>
              <c:numCache>
                <c:formatCode>General</c:formatCode>
                <c:ptCount val="3"/>
                <c:pt idx="0">
                  <c:v>0.32800000000000001</c:v>
                </c:pt>
                <c:pt idx="1">
                  <c:v>0.47899999999999998</c:v>
                </c:pt>
                <c:pt idx="2">
                  <c:v>0.59399999999999997</c:v>
                </c:pt>
              </c:numCache>
            </c:numRef>
          </c:val>
          <c:extLst>
            <c:ext xmlns:c16="http://schemas.microsoft.com/office/drawing/2014/chart" uri="{C3380CC4-5D6E-409C-BE32-E72D297353CC}">
              <c16:uniqueId val="{00000000-32D8-4D1F-900C-22EEE051499A}"/>
            </c:ext>
          </c:extLst>
        </c:ser>
        <c:ser>
          <c:idx val="1"/>
          <c:order val="1"/>
          <c:tx>
            <c:strRef>
              <c:f>Sheet1!$C$1</c:f>
              <c:strCache>
                <c:ptCount val="1"/>
                <c:pt idx="0">
                  <c:v>% of real faults caught</c:v>
                </c:pt>
              </c:strCache>
            </c:strRef>
          </c:tx>
          <c:spPr>
            <a:solidFill>
              <a:srgbClr val="F2A93B"/>
            </a:solidFill>
            <a:effectLst/>
          </c:spPr>
          <c:invertIfNegative val="0"/>
          <c:dLbls>
            <c:numFmt formatCode="0.00" sourceLinked="0"/>
            <c:spPr>
              <a:noFill/>
              <a:ln>
                <a:noFill/>
              </a:ln>
              <a:effectLst/>
            </c:spPr>
            <c:txPr>
              <a:bodyPr/>
              <a:lstStyle/>
              <a:p>
                <a:pPr>
                  <a:defRPr sz="1000" b="0" i="0" u="none" strike="noStrike">
                    <a:solidFill>
                      <a:srgbClr val="1E2761"/>
                    </a:solidFill>
                    <a:latin typeface="Arial"/>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Logistic
Regression</c:v>
                </c:pt>
                <c:pt idx="1">
                  <c:v>Random
Forest</c:v>
                </c:pt>
                <c:pt idx="2">
                  <c:v>XGBoost</c:v>
                </c:pt>
              </c:strCache>
            </c:strRef>
          </c:cat>
          <c:val>
            <c:numRef>
              <c:f>Sheet1!$C$2:$C$4</c:f>
              <c:numCache>
                <c:formatCode>General</c:formatCode>
                <c:ptCount val="3"/>
                <c:pt idx="0">
                  <c:v>0.51700000000000002</c:v>
                </c:pt>
                <c:pt idx="1">
                  <c:v>0.75</c:v>
                </c:pt>
                <c:pt idx="2">
                  <c:v>0.85399999999999998</c:v>
                </c:pt>
              </c:numCache>
            </c:numRef>
          </c:val>
          <c:extLst>
            <c:ext xmlns:c16="http://schemas.microsoft.com/office/drawing/2014/chart" uri="{C3380CC4-5D6E-409C-BE32-E72D297353CC}">
              <c16:uniqueId val="{00000001-32D8-4D1F-900C-22EEE051499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4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478"/>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Shape 17"/>
          <p:cNvSpPr>
            <a:spLocks noGrp="1" noRot="1" noChangeAspect="1"/>
          </p:cNvSpPr>
          <p:nvPr>
            <p:ph type="sldImg"/>
          </p:nvPr>
        </p:nvSpPr>
        <p:spPr>
          <a:xfrm>
            <a:off x="1143000" y="685800"/>
            <a:ext cx="4572000" cy="3429000"/>
          </a:xfrm>
          <a:prstGeom prst="rect">
            <a:avLst/>
          </a:prstGeom>
        </p:spPr>
        <p:txBody>
          <a:bodyPr/>
          <a:lstStyle/>
          <a:p>
            <a:endParaRPr/>
          </a:p>
        </p:txBody>
      </p:sp>
      <p:sp>
        <p:nvSpPr>
          <p:cNvPr id="18" name="Shape 1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[Ghada, position 1 of 15] Quick hello. Introduce the team, one line on what this is. Hand-off map: I take 1-5 (goal through metric), Harsha takes 6-10 (dataset through advanced model), Huseyin takes 11-15 (rolling/lag through thank you).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[Ghada, position 2] State the problem as short reminders, say the full sentence aloud rather than reading the bullet: a car fails, you find out about it later - we want to help you find out earlier. Then: unplanned downtime costs more than scheduled maintenance, and fault rates already differ by usage profile. Land on 'the ask' line word for word.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[Ghada, position 3] Name the fleet maintenance manager as the one stakeholder that matters here. Frame it as a proactive scheduling decision, not a repair job.</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[Ghada, position 5] This is the metric slide. Say plainly: this is a classification task, will a fault happen in the next 6 hours, yes or no - that's why precision, recall, and F2 apply. F2 weights recall about twice as heavily as precision, matching the real cost of missing a fault. Hand off to Harsha here.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[Harsha, position 6] Name the source and license explicitly. Note the 4 usage profiles: daily, heavy, moderate, rare. This sets up the next slide, which explains how we turned this into the classification task Ghada just introduced.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[Harsha, position 8] Walk the four-stage pipeline left to right: EDA, feature engineering, feature selection, model and tune. Keep it high-level - rolling and lag get explained with concrete examples two slides from now, not here.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[Harsha, position 9] Three EDA numbers to land: zero missing values, the 2.6x fault-rate spread by usage profile, and 9.05 percent positive rate for the actual modeling target.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[Harsha, position 10] Emphasize this is the reference point, not the final answer. Catching 52% of real faults at this stage sets up the next slide's improvement story.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[Huseyin, position 11] Read the chart left to right as a progression: 52% to 75% to 85.4% recall, baseline to best. Precision improved too (13.3% to 26.8%), which is why F2 -- our headline metric -- nearly doubled (0.328 to 0.594). Technical detail (RandomizedSearchCV, tree depths, full training-set search) only if asked. That hands off to the next slide, where we explain what rolling and lag actually mean.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[Huseyin, position 13] Quick slide. Name the categories - this is the real, working stack behind everything just shown. Present tense throughout: this is the technology we are using, not going to use.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t>This is the RAG track status slide. Quick framing: the classifier tells the fleet manager THAT a fault is coming and WHY -- which sensors are driving it. That's diagnosis. RAG is the part that tells them WHAT TO DO about it, by finding real NHTSA precedent for that kind of problem. As of this build, every workstream on this table is done: the corpus is loaded and filtered, it's indexed for search, we've run a quality gate to prove retrieval actually works, and we built repair ticket generation that ties it all together. What's left is wiring this into the Streamlit dashboard visually, and formal deployment. I'll walk through each piece on the next few slides.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[Ghada, position 4] This moved up front on purpose so you see something real before the technical detail. Walk the dashboard flow: select vehicle, upload readings, predict, see risk level, probability of fault, and explanation together. Point out the probability plus threshold example next to the Probability of Fault box - that's what turns a number into an action.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[Huseyin, position 15] Close with the headline number, 85.4% of real faults caught, and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[Huseyin, position 12] Concrete examples of rolling and lag features, and what they mean for deployment: the baseline model only needs current readings, the tuned models need the last 6-24 hours of history. State the same generalization limitation as the earlier bridge slide - this reinforces it, doesn't repeat it word for word.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[Harsha, position 7] This is the bridge slide the coaches asked for. Explain the conversion directly, without the term 'time series': raw hourly sensor data, grouped by usage profile, becomes one yes/no label per hour by looking 6 hours ahead in that same vehicle's history. State the assumption (4 profiles assumed representative) and the limitation (more vehicles and battery types would make it more reliable) out loud.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Here's exactly what's in the corpus and how we search it. Two real NHTSA sources: 202 recall notices and 3,329 owner complaint narratives, both filtered to battery and electrical system tags so we're not diluting this with unrelated recalls. Each row is already a short paragraph, so chunking is trivial -- one row is one document, nothing to split. For the search method, we planned to use neural embeddings with sentence-transformers, but that needs torch, which failed to install in our dev environment due to a disk space limit. So we substituted TF-IDF plus cosine similarity from scikit-learn -- this is a legitimate, standard lexical retrieval technique, it's literally the same idea BM25 search engines are built on, and it works well on short structured text like this. If we want dense embeddings later, only one function needs to change -- the corpus loading and our evaluation gate don't care which method is underneath.</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full pipeline, start to finish. Step one, Classify and Explain: classify_fault gives us the risk level and probability, and explain_prediction tells us which specific sensor readings are driving that risk. Step two, Build Query: we automatically turn those top sensors into a plain-English search phrase, like 'motor RPM hour of day' -- no manual typing required. Step three, Retrieve: that query goes into search_recalls_tsbs, which ranks all the NHTSA records by how closely their wording matches, and returns the top few with real citation numbers. Step four, Compose Ticket: generate_ticket takes all of that -- the risk, the driving sensors, the citations -- and fills a structured template: Summary, Likely Cause, Recommended Action, Supporting Evidence, and a Confidence Note. This is the piece that makes 'repair copilot' literal instead of just aspirational.</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Before trusting retrieval for anything, we built a gate to prove it actually works, the same way we validated feature selection with a noise-floor check. The honest caveat first: we don't have a hand-labeled 'fault code maps to this exact NHTSA record' answer key, because these are recall and complaint narratives, not a lookup table. So we used self-retrieval instead -- we sample 30 real records, take a realistic fragment of each one's text, like a fleet manager would actually describe a symptom, and check whether retrieval finds that same record back. The results: 90% of the time it's found at rank 1, 97% of the time it's in the top 5, and the mean reciprocal rank is 0.923 -- meaning even when it's not rank 1, it's usually very close. This validates the retrieval mechanism itself is sound on real data. It's not a claim that we'll always find the single correct citation for a brand-new complaint we've never seen -- that would need real usage feedback or a hand-labeled test set we don't have yet.</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Here's what the whole pipeline produces, end to end, using our prefault demo scenario. The classifier flags 68% probability, driven by motor RPM and hour of day. That auto-builds the query 'motor RPM hour of day', which retrieves a real Kia EV6 complaint about rear motor overheating as the top match. generate_ticket then fills the template using only those three things -- nothing invented. One honest limitation to flag: this ticket text is a filled template, not an LLM writing a natural paragraph. We looked at using a real LLM call, and it needs a paid API key with no free tier -- not worth the cost or the dependency for a capstone demo. The template gives the same structured, cited output, deterministically and for free. If we want a real LLM voice later, it's a one-function swap -- everything upstream stays the same. What's not done yet: wiring this into the Streamlit UI so a fleet manager sees it live, which is the immediate next step.</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826683" y="769937"/>
            <a:ext cx="9753601" cy="16684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lstStyle/>
          <a:p>
            <a:r>
              <a:t>Title Text</a:t>
            </a:r>
          </a:p>
        </p:txBody>
      </p:sp>
      <p:sp>
        <p:nvSpPr>
          <p:cNvPr id="3" name="Body Level One…"/>
          <p:cNvSpPr txBox="1">
            <a:spLocks noGrp="1"/>
          </p:cNvSpPr>
          <p:nvPr>
            <p:ph type="body" idx="1"/>
          </p:nvPr>
        </p:nvSpPr>
        <p:spPr>
          <a:xfrm>
            <a:off x="6805083" y="2438400"/>
            <a:ext cx="4775201" cy="4419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478978" y="6232199"/>
            <a:ext cx="258623" cy="248303"/>
          </a:xfrm>
          <a:prstGeom prst="rect">
            <a:avLst/>
          </a:prstGeom>
          <a:ln w="12700">
            <a:miter lim="400000"/>
          </a:ln>
        </p:spPr>
        <p:txBody>
          <a:bodyPr wrap="none" lIns="45718" tIns="45718" rIns="45718" bIns="45718" anchor="ctr">
            <a:spAutoFit/>
          </a:bodyPr>
          <a:lstStyle>
            <a:lvl1pPr algn="r">
              <a:defRPr sz="1200">
                <a:latin typeface="+mn-lt"/>
                <a:ea typeface="+mn-ea"/>
                <a:cs typeface="+mn-cs"/>
                <a:sym typeface="Calibri"/>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pic>
        <p:nvPicPr>
          <p:cNvPr id="23" name="Car Icon"/>
          <p:cNvPicPr>
            <a:picLocks noChangeAspect="1"/>
          </p:cNvPicPr>
          <p:nvPr/>
        </p:nvPicPr>
        <p:blipFill>
          <a:blip r:embed="rId3"/>
          <a:stretch>
            <a:fillRect/>
          </a:stretch>
        </p:blipFill>
        <p:spPr>
          <a:xfrm>
            <a:off x="5646000" y="850000"/>
            <a:ext cx="900000" cy="900000"/>
          </a:xfrm>
          <a:prstGeom prst="rect">
            <a:avLst/>
          </a:prstGeom>
        </p:spPr>
      </p:pic>
      <p:sp>
        <p:nvSpPr>
          <p:cNvPr id="21" name="Text 1"/>
          <p:cNvSpPr txBox="1"/>
          <p:nvPr/>
        </p:nvSpPr>
        <p:spPr>
          <a:xfrm>
            <a:off x="640080" y="2394642"/>
            <a:ext cx="10058401" cy="660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4600">
                <a:solidFill>
                  <a:srgbClr val="FFFFFF"/>
                </a:solidFill>
                <a:latin typeface="Cambria"/>
                <a:ea typeface="Cambria"/>
                <a:cs typeface="Cambria"/>
                <a:sym typeface="Cambria"/>
              </a:defRPr>
            </a:lvl1pPr>
          </a:lstStyle>
          <a:p>
            <a:r>
              <a:t>Vehicle Fault Diagnosis &amp; Repair Copilot</a:t>
            </a:r>
          </a:p>
        </p:txBody>
      </p:sp>
      <p:sp>
        <p:nvSpPr>
          <p:cNvPr id="22" name="Text 2"/>
          <p:cNvSpPr txBox="1"/>
          <p:nvPr/>
        </p:nvSpPr>
        <p:spPr>
          <a:xfrm>
            <a:off x="868680" y="3800595"/>
            <a:ext cx="10424160" cy="2807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lvl1pPr>
              <a:defRPr sz="1600">
                <a:solidFill>
                  <a:srgbClr val="CADCFC"/>
                </a:solidFill>
                <a:latin typeface="+mn-lt"/>
                <a:ea typeface="+mn-ea"/>
                <a:cs typeface="+mn-cs"/>
                <a:sym typeface="Calibri"/>
              </a:defRPr>
            </a:lvl1pPr>
          </a:lstStyle>
          <a:p>
            <a:r>
              <a:t>Team NodePair: Harsha, Ghada &amp; Hüseyin  ·  neue fische Data Science &amp; AI Bootcamp</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0"/>
          <p:cNvSpPr txBox="1"/>
          <p:nvPr/>
        </p:nvSpPr>
        <p:spPr>
          <a:xfrm>
            <a:off x="640080" y="525071"/>
            <a:ext cx="9144001" cy="1568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400" b="1" spc="200">
                <a:solidFill>
                  <a:srgbClr val="D97706"/>
                </a:solidFill>
                <a:latin typeface="+mn-lt"/>
                <a:ea typeface="+mn-ea"/>
                <a:cs typeface="+mn-cs"/>
                <a:sym typeface="Calibri"/>
              </a:defRPr>
            </a:lvl1pPr>
          </a:lstStyle>
          <a:p>
            <a:r>
              <a:t>THE PROBLEM</a:t>
            </a:r>
          </a:p>
        </p:txBody>
      </p:sp>
      <p:sp>
        <p:nvSpPr>
          <p:cNvPr id="25" name="Text 1"/>
          <p:cNvSpPr txBox="1"/>
          <p:nvPr/>
        </p:nvSpPr>
        <p:spPr>
          <a:xfrm>
            <a:off x="640080" y="786383"/>
            <a:ext cx="10881360" cy="4191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3000">
                <a:solidFill>
                  <a:srgbClr val="1E2761"/>
                </a:solidFill>
                <a:latin typeface="Cambria"/>
                <a:ea typeface="Cambria"/>
                <a:cs typeface="Cambria"/>
                <a:sym typeface="Cambria"/>
              </a:defRPr>
            </a:lvl1pPr>
          </a:lstStyle>
          <a:p>
            <a:r>
              <a:rPr dirty="0"/>
              <a:t>Faults get caught after they happen, not before</a:t>
            </a:r>
          </a:p>
        </p:txBody>
      </p:sp>
      <p:sp>
        <p:nvSpPr>
          <p:cNvPr id="26" name="Text 2"/>
          <p:cNvSpPr txBox="1"/>
          <p:nvPr/>
        </p:nvSpPr>
        <p:spPr>
          <a:xfrm>
            <a:off x="640078" y="1965960"/>
            <a:ext cx="5852164" cy="240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285750" indent="-285750">
              <a:spcBef>
                <a:spcPts val="2400"/>
              </a:spcBef>
              <a:buSzPct val="100000"/>
              <a:buChar char="■"/>
              <a:defRPr sz="2200" b="1">
                <a:solidFill>
                  <a:srgbClr val="3A3F52"/>
                </a:solidFill>
                <a:latin typeface="+mn-lt"/>
                <a:ea typeface="+mn-ea"/>
                <a:cs typeface="+mn-cs"/>
                <a:sym typeface="Calibri"/>
              </a:defRPr>
            </a:pPr>
            <a:r>
              <a:t>Caught reactively, not proactively</a:t>
            </a:r>
          </a:p>
          <a:p>
            <a:pPr marL="285750" indent="-285750">
              <a:spcBef>
                <a:spcPts val="2400"/>
              </a:spcBef>
              <a:buSzPct val="100000"/>
              <a:buChar char="■"/>
              <a:defRPr sz="2200" b="1">
                <a:solidFill>
                  <a:srgbClr val="3A3F52"/>
                </a:solidFill>
                <a:latin typeface="+mn-lt"/>
                <a:ea typeface="+mn-ea"/>
                <a:cs typeface="+mn-cs"/>
                <a:sym typeface="Calibri"/>
              </a:defRPr>
            </a:pPr>
            <a:r>
              <a:t>No early-warning signal today</a:t>
            </a:r>
          </a:p>
          <a:p>
            <a:pPr marL="285750" indent="-285750">
              <a:spcBef>
                <a:spcPts val="2400"/>
              </a:spcBef>
              <a:buSzPct val="100000"/>
              <a:buChar char="■"/>
              <a:defRPr sz="2200" b="1">
                <a:solidFill>
                  <a:srgbClr val="3A3F52"/>
                </a:solidFill>
                <a:latin typeface="+mn-lt"/>
                <a:ea typeface="+mn-ea"/>
                <a:cs typeface="+mn-cs"/>
                <a:sym typeface="Calibri"/>
              </a:defRPr>
            </a:pPr>
            <a:r>
              <a:t>One schedule doesn't fit every vehicle</a:t>
            </a:r>
          </a:p>
        </p:txBody>
      </p:sp>
      <p:pic>
        <p:nvPicPr>
          <p:cNvPr id="30" name="Warning Icon"/>
          <p:cNvPicPr>
            <a:picLocks noChangeAspect="1"/>
          </p:cNvPicPr>
          <p:nvPr/>
        </p:nvPicPr>
        <p:blipFill>
          <a:blip r:embed="rId3"/>
          <a:stretch>
            <a:fillRect/>
          </a:stretch>
        </p:blipFill>
        <p:spPr>
          <a:xfrm>
            <a:off x="8100000" y="2000000"/>
            <a:ext cx="2400000" cy="2160000"/>
          </a:xfrm>
          <a:prstGeom prst="rect">
            <a:avLst/>
          </a:prstGeom>
        </p:spPr>
      </p:pic>
      <p:sp>
        <p:nvSpPr>
          <p:cNvPr id="31" name="RightCaption"/>
          <p:cNvSpPr txBox="1"/>
          <p:nvPr/>
        </p:nvSpPr>
        <p:spPr>
          <a:xfrm>
            <a:off x="7300000" y="4300000"/>
            <a:ext cx="4200000" cy="500000"/>
          </a:xfrm>
          <a:prstGeom prst="rect">
            <a:avLst/>
          </a:prstGeom>
          <a:ln w="12700">
            <a:miter lim="400000"/>
          </a:ln>
        </p:spPr>
        <p:txBody>
          <a:bodyPr lIns="0" tIns="0" rIns="0" bIns="0" anchor="ctr">
            <a:spAutoFit/>
          </a:bodyPr>
          <a:lstStyle>
            <a:lvl1pPr algn="ctr">
              <a:defRPr sz="1400" i="1">
                <a:solidFill>
                  <a:srgbClr val="8890BE"/>
                </a:solidFill>
                <a:latin typeface="+mn-lt"/>
                <a:ea typeface="+mn-ea"/>
                <a:cs typeface="+mn-cs"/>
                <a:sym typeface="Calibri"/>
              </a:defRPr>
            </a:lvl1pPr>
          </a:lstStyle>
          <a:p>
            <a:r>
              <a:t>A car fails, you find out later. We want to catch it earlier.</a:t>
            </a:r>
          </a:p>
        </p:txBody>
      </p:sp>
      <p:sp>
        <p:nvSpPr>
          <p:cNvPr id="27" name="Shape 6"/>
          <p:cNvSpPr/>
          <p:nvPr/>
        </p:nvSpPr>
        <p:spPr>
          <a:xfrm>
            <a:off x="640080" y="5212079"/>
            <a:ext cx="10927082" cy="1051562"/>
          </a:xfrm>
          <a:prstGeom prst="roundRect">
            <a:avLst>
              <a:gd name="adj" fmla="val 6957"/>
            </a:avLst>
          </a:prstGeom>
          <a:solidFill>
            <a:srgbClr val="F7F8FB"/>
          </a:solidFill>
          <a:ln w="12700">
            <a:solidFill>
              <a:srgbClr val="E2E4EC"/>
            </a:solidFill>
          </a:ln>
        </p:spPr>
        <p:txBody>
          <a:bodyPr lIns="45718" tIns="45718" rIns="45718" bIns="45718"/>
          <a:lstStyle/>
          <a:p>
            <a:pPr>
              <a:defRPr>
                <a:latin typeface="+mn-lt"/>
                <a:ea typeface="+mn-ea"/>
                <a:cs typeface="+mn-cs"/>
                <a:sym typeface="Calibri"/>
              </a:defRPr>
            </a:pPr>
            <a:endParaRPr/>
          </a:p>
        </p:txBody>
      </p:sp>
      <p:sp>
        <p:nvSpPr>
          <p:cNvPr id="28" name="Text 7"/>
          <p:cNvSpPr txBox="1"/>
          <p:nvPr/>
        </p:nvSpPr>
        <p:spPr>
          <a:xfrm>
            <a:off x="914398" y="5415981"/>
            <a:ext cx="10378444" cy="6437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defRPr sz="1700" b="1">
                <a:solidFill>
                  <a:srgbClr val="1E2761"/>
                </a:solidFill>
                <a:latin typeface="+mn-lt"/>
                <a:ea typeface="+mn-ea"/>
                <a:cs typeface="+mn-cs"/>
                <a:sym typeface="Calibri"/>
              </a:defRPr>
            </a:pPr>
            <a:r>
              <a:t>The ask</a:t>
            </a:r>
          </a:p>
          <a:p>
            <a:pPr>
              <a:defRPr sz="1700" b="1">
                <a:solidFill>
                  <a:srgbClr val="1E2761"/>
                </a:solidFill>
                <a:latin typeface="+mn-lt"/>
                <a:ea typeface="+mn-ea"/>
                <a:cs typeface="+mn-cs"/>
                <a:sym typeface="Calibri"/>
              </a:defRPr>
            </a:pPr>
            <a:r>
              <a:rPr b="0" i="1">
                <a:solidFill>
                  <a:srgbClr val="3A3F52"/>
                </a:solidFill>
              </a:rPr>
              <a:t>Enabling a Steady, smooth and secure journey while reducing the unexpected breakdowns to minimum: for any vehicle in the fleet, forecast whether a fault will occur in the next 6 hours, using sensor telemetry alone.</a:t>
            </a:r>
          </a:p>
        </p:txBody>
      </p:sp>
      <p:sp>
        <p:nvSpPr>
          <p:cNvPr id="29" name="Text 8"/>
          <p:cNvSpPr txBox="1"/>
          <p:nvPr/>
        </p:nvSpPr>
        <p:spPr>
          <a:xfrm>
            <a:off x="11277295" y="6423704"/>
            <a:ext cx="548642" cy="1370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r">
              <a:defRPr sz="1000">
                <a:solidFill>
                  <a:srgbClr val="B7BAC6"/>
                </a:solidFill>
                <a:latin typeface="+mn-lt"/>
                <a:ea typeface="+mn-ea"/>
                <a:cs typeface="+mn-cs"/>
                <a:sym typeface="Calibri"/>
              </a:defRPr>
            </a:lvl1pPr>
          </a:lstStyle>
          <a:p>
            <a:r>
              <a:t>02</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0"/>
          <p:cNvSpPr txBox="1"/>
          <p:nvPr/>
        </p:nvSpPr>
        <p:spPr>
          <a:xfrm>
            <a:off x="594359" y="401628"/>
            <a:ext cx="8138160" cy="2483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lvl1pPr>
              <a:defRPr sz="1400" b="1" spc="100">
                <a:solidFill>
                  <a:srgbClr val="F2A93B"/>
                </a:solidFill>
                <a:latin typeface="+mn-lt"/>
                <a:ea typeface="+mn-ea"/>
                <a:cs typeface="+mn-cs"/>
                <a:sym typeface="Calibri"/>
              </a:defRPr>
            </a:lvl1pPr>
          </a:lstStyle>
          <a:p>
            <a:r>
              <a:t>TARGET USER</a:t>
            </a:r>
          </a:p>
        </p:txBody>
      </p:sp>
      <p:sp>
        <p:nvSpPr>
          <p:cNvPr id="32" name="Text 1"/>
          <p:cNvSpPr txBox="1"/>
          <p:nvPr/>
        </p:nvSpPr>
        <p:spPr>
          <a:xfrm>
            <a:off x="594359" y="822961"/>
            <a:ext cx="10698482" cy="5486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lvl1pPr>
              <a:defRPr sz="3200">
                <a:solidFill>
                  <a:srgbClr val="161C4A"/>
                </a:solidFill>
                <a:latin typeface="Cambria"/>
                <a:ea typeface="Cambria"/>
                <a:cs typeface="Cambria"/>
                <a:sym typeface="Cambria"/>
              </a:defRPr>
            </a:lvl1pPr>
          </a:lstStyle>
          <a:p>
            <a:r>
              <a:rPr dirty="0"/>
              <a:t>Who this is for, and why</a:t>
            </a:r>
          </a:p>
        </p:txBody>
      </p:sp>
      <p:sp>
        <p:nvSpPr>
          <p:cNvPr id="33" name="Shape 2"/>
          <p:cNvSpPr/>
          <p:nvPr/>
        </p:nvSpPr>
        <p:spPr>
          <a:xfrm>
            <a:off x="548640" y="1737360"/>
            <a:ext cx="10698482" cy="3200000"/>
          </a:xfrm>
          <a:prstGeom prst="roundRect">
            <a:avLst>
              <a:gd name="adj" fmla="val 2051"/>
            </a:avLst>
          </a:prstGeom>
          <a:solidFill>
            <a:srgbClr val="1E2761"/>
          </a:solidFill>
          <a:ln w="12700">
            <a:solidFill>
              <a:srgbClr val="1E2761"/>
            </a:solidFill>
          </a:ln>
        </p:spPr>
        <p:txBody>
          <a:bodyPr lIns="45718" tIns="45718" rIns="45718" bIns="45718"/>
          <a:lstStyle/>
          <a:p>
            <a:pPr>
              <a:defRPr>
                <a:latin typeface="+mn-lt"/>
                <a:ea typeface="+mn-ea"/>
                <a:cs typeface="+mn-cs"/>
                <a:sym typeface="Calibri"/>
              </a:defRPr>
            </a:pPr>
            <a:endParaRPr/>
          </a:p>
        </p:txBody>
      </p:sp>
      <p:sp>
        <p:nvSpPr>
          <p:cNvPr id="34" name="Text 3"/>
          <p:cNvSpPr txBox="1"/>
          <p:nvPr/>
        </p:nvSpPr>
        <p:spPr>
          <a:xfrm>
            <a:off x="914400" y="2039315"/>
            <a:ext cx="9966962" cy="36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lvl1pPr>
              <a:defRPr sz="1900" b="1">
                <a:solidFill>
                  <a:srgbClr val="FFFFFF"/>
                </a:solidFill>
                <a:latin typeface="+mn-lt"/>
                <a:ea typeface="+mn-ea"/>
                <a:cs typeface="+mn-cs"/>
                <a:sym typeface="Calibri"/>
              </a:defRPr>
            </a:lvl1pPr>
          </a:lstStyle>
          <a:p>
            <a:r>
              <a:t>Fleet maintenance manager</a:t>
            </a:r>
          </a:p>
        </p:txBody>
      </p:sp>
      <p:sp>
        <p:nvSpPr>
          <p:cNvPr id="35" name="Text 5"/>
          <p:cNvSpPr txBox="1"/>
          <p:nvPr/>
        </p:nvSpPr>
        <p:spPr>
          <a:xfrm>
            <a:off x="914400" y="2806689"/>
            <a:ext cx="9966962" cy="130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marL="342900" indent="-342900">
              <a:spcBef>
                <a:spcPts val="800"/>
              </a:spcBef>
              <a:buSzPct val="100000"/>
              <a:buChar char="•"/>
              <a:defRPr sz="1500">
                <a:solidFill>
                  <a:srgbClr val="CADCFC"/>
                </a:solidFill>
                <a:latin typeface="+mn-lt"/>
                <a:ea typeface="+mn-ea"/>
                <a:cs typeface="+mn-cs"/>
                <a:sym typeface="Calibri"/>
              </a:defRPr>
            </a:pPr>
            <a:r>
              <a:t>Watches continuous telemetry across the whole fleet</a:t>
            </a:r>
          </a:p>
          <a:p>
            <a:pPr marL="342900" indent="-342900">
              <a:spcBef>
                <a:spcPts val="800"/>
              </a:spcBef>
              <a:buSzPct val="100000"/>
              <a:buChar char="•"/>
              <a:defRPr sz="1500">
                <a:solidFill>
                  <a:srgbClr val="CADCFC"/>
                </a:solidFill>
                <a:latin typeface="+mn-lt"/>
                <a:ea typeface="+mn-ea"/>
                <a:cs typeface="+mn-cs"/>
                <a:sym typeface="Calibri"/>
              </a:defRPr>
            </a:pPr>
            <a:r>
              <a:t>Question: readings are trending toward a fault, bring it in proactively, or is it fine?</a:t>
            </a:r>
          </a:p>
          <a:p>
            <a:pPr marL="342900" indent="-342900">
              <a:spcBef>
                <a:spcPts val="800"/>
              </a:spcBef>
              <a:buSzPct val="100000"/>
              <a:buChar char="•"/>
              <a:defRPr sz="1500">
                <a:solidFill>
                  <a:srgbClr val="CADCFC"/>
                </a:solidFill>
                <a:latin typeface="+mn-lt"/>
                <a:ea typeface="+mn-ea"/>
                <a:cs typeface="+mn-cs"/>
                <a:sym typeface="Calibri"/>
              </a:defRPr>
            </a:pPr>
            <a:r>
              <a:t>A proactive scheduling decision, not a repair job</a:t>
            </a:r>
          </a:p>
        </p:txBody>
      </p:sp>
      <p:sp>
        <p:nvSpPr>
          <p:cNvPr id="36" name="Text 8"/>
          <p:cNvSpPr txBox="1"/>
          <p:nvPr/>
        </p:nvSpPr>
        <p:spPr>
          <a:xfrm>
            <a:off x="11277295" y="6423704"/>
            <a:ext cx="548642" cy="1370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r">
              <a:defRPr sz="1000">
                <a:solidFill>
                  <a:srgbClr val="B7BAC6"/>
                </a:solidFill>
                <a:latin typeface="+mn-lt"/>
                <a:ea typeface="+mn-ea"/>
                <a:cs typeface="+mn-cs"/>
                <a:sym typeface="Calibri"/>
              </a:defRPr>
            </a:lvl1pPr>
          </a:lstStyle>
          <a:p>
            <a:r>
              <a:t>03</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4" name="Group"/>
          <p:cNvGrpSpPr/>
          <p:nvPr/>
        </p:nvGrpSpPr>
        <p:grpSpPr>
          <a:xfrm>
            <a:off x="3567900" y="1018800"/>
            <a:ext cx="5029201" cy="1828801"/>
            <a:chOff x="0" y="0"/>
            <a:chExt cx="5029200" cy="1828800"/>
          </a:xfrm>
        </p:grpSpPr>
        <p:sp>
          <p:nvSpPr>
            <p:cNvPr id="142" name="Rounded Rectangle"/>
            <p:cNvSpPr/>
            <p:nvPr/>
          </p:nvSpPr>
          <p:spPr>
            <a:xfrm>
              <a:off x="0" y="0"/>
              <a:ext cx="5029200" cy="1828800"/>
            </a:xfrm>
            <a:prstGeom prst="roundRect">
              <a:avLst>
                <a:gd name="adj" fmla="val 16667"/>
              </a:avLst>
            </a:prstGeom>
            <a:solidFill>
              <a:srgbClr val="1E2761"/>
            </a:solidFill>
            <a:ln w="12700" cap="flat">
              <a:noFill/>
              <a:miter lim="400000"/>
            </a:ln>
            <a:effectLst/>
          </p:spPr>
          <p:txBody>
            <a:bodyPr wrap="square" lIns="45719" tIns="45719" rIns="45719" bIns="45719" numCol="1" anchor="ctr">
              <a:noAutofit/>
            </a:bodyPr>
            <a:lstStyle/>
            <a:p>
              <a:pPr algn="ctr">
                <a:defRPr b="1" spc="-1">
                  <a:solidFill>
                    <a:srgbClr val="FFFFFF"/>
                  </a:solidFill>
                  <a:latin typeface="+mn-lt"/>
                  <a:ea typeface="+mn-ea"/>
                  <a:cs typeface="+mn-cs"/>
                  <a:sym typeface="Calibri"/>
                </a:defRPr>
              </a:pPr>
              <a:endParaRPr/>
            </a:p>
          </p:txBody>
        </p:sp>
        <p:sp>
          <p:nvSpPr>
            <p:cNvPr id="143" name="Fleet maintenance monitoring dashboard"/>
            <p:cNvSpPr txBox="1"/>
            <p:nvPr/>
          </p:nvSpPr>
          <p:spPr>
            <a:xfrm>
              <a:off x="134274" y="748576"/>
              <a:ext cx="4760652" cy="33164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4999" tIns="44999" rIns="44999" bIns="44999" numCol="1" anchor="ctr">
              <a:spAutoFit/>
            </a:bodyPr>
            <a:lstStyle>
              <a:lvl1pPr algn="ctr">
                <a:defRPr b="1" spc="-1">
                  <a:solidFill>
                    <a:srgbClr val="FFFFFF"/>
                  </a:solidFill>
                  <a:latin typeface="+mn-lt"/>
                  <a:ea typeface="+mn-ea"/>
                  <a:cs typeface="+mn-cs"/>
                  <a:sym typeface="Calibri"/>
                </a:defRPr>
              </a:lvl1pPr>
            </a:lstStyle>
            <a:p>
              <a:r>
                <a:t>Fleet maintenance monitoring dashboard</a:t>
              </a:r>
            </a:p>
          </p:txBody>
        </p:sp>
      </p:grpSp>
      <p:grpSp>
        <p:nvGrpSpPr>
          <p:cNvPr id="147" name="Group"/>
          <p:cNvGrpSpPr/>
          <p:nvPr/>
        </p:nvGrpSpPr>
        <p:grpSpPr>
          <a:xfrm>
            <a:off x="1053300" y="3533400"/>
            <a:ext cx="2057401" cy="685801"/>
            <a:chOff x="0" y="0"/>
            <a:chExt cx="2057400" cy="685800"/>
          </a:xfrm>
        </p:grpSpPr>
        <p:sp>
          <p:nvSpPr>
            <p:cNvPr id="145" name="Rounded Rectangle"/>
            <p:cNvSpPr/>
            <p:nvPr/>
          </p:nvSpPr>
          <p:spPr>
            <a:xfrm>
              <a:off x="0" y="0"/>
              <a:ext cx="2057400" cy="685800"/>
            </a:xfrm>
            <a:prstGeom prst="roundRect">
              <a:avLst>
                <a:gd name="adj" fmla="val 16667"/>
              </a:avLst>
            </a:prstGeom>
            <a:solidFill>
              <a:srgbClr val="D97706"/>
            </a:solidFill>
            <a:ln w="12700" cap="flat">
              <a:noFill/>
              <a:miter lim="400000"/>
            </a:ln>
            <a:effectLst/>
          </p:spPr>
          <p:txBody>
            <a:bodyPr wrap="square" lIns="45719" tIns="45719" rIns="45719" bIns="45719" numCol="1" anchor="ctr">
              <a:noAutofit/>
            </a:bodyPr>
            <a:lstStyle/>
            <a:p>
              <a:pPr algn="ctr">
                <a:defRPr b="1" spc="-1">
                  <a:solidFill>
                    <a:srgbClr val="FFFFFF"/>
                  </a:solidFill>
                  <a:latin typeface="+mn-lt"/>
                  <a:ea typeface="+mn-ea"/>
                  <a:cs typeface="+mn-cs"/>
                  <a:sym typeface="Calibri"/>
                </a:defRPr>
              </a:pPr>
              <a:endParaRPr/>
            </a:p>
          </p:txBody>
        </p:sp>
        <p:sp>
          <p:nvSpPr>
            <p:cNvPr id="146" name="Select Vehicle"/>
            <p:cNvSpPr txBox="1"/>
            <p:nvPr/>
          </p:nvSpPr>
          <p:spPr>
            <a:xfrm>
              <a:off x="78477" y="177076"/>
              <a:ext cx="1900446" cy="33164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4999" tIns="44999" rIns="44999" bIns="44999" numCol="1" anchor="ctr">
              <a:spAutoFit/>
            </a:bodyPr>
            <a:lstStyle>
              <a:lvl1pPr algn="ctr">
                <a:defRPr b="1" spc="-1">
                  <a:solidFill>
                    <a:srgbClr val="FFFFFF"/>
                  </a:solidFill>
                  <a:latin typeface="+mn-lt"/>
                  <a:ea typeface="+mn-ea"/>
                  <a:cs typeface="+mn-cs"/>
                  <a:sym typeface="Calibri"/>
                </a:defRPr>
              </a:lvl1pPr>
            </a:lstStyle>
            <a:p>
              <a:r>
                <a:t>Select Vehicle</a:t>
              </a:r>
            </a:p>
          </p:txBody>
        </p:sp>
      </p:grpSp>
      <p:grpSp>
        <p:nvGrpSpPr>
          <p:cNvPr id="150" name="Group"/>
          <p:cNvGrpSpPr/>
          <p:nvPr/>
        </p:nvGrpSpPr>
        <p:grpSpPr>
          <a:xfrm>
            <a:off x="9081299" y="3533400"/>
            <a:ext cx="2057401" cy="685801"/>
            <a:chOff x="0" y="0"/>
            <a:chExt cx="2057400" cy="685800"/>
          </a:xfrm>
        </p:grpSpPr>
        <p:sp>
          <p:nvSpPr>
            <p:cNvPr id="148" name="Rounded Rectangle"/>
            <p:cNvSpPr/>
            <p:nvPr/>
          </p:nvSpPr>
          <p:spPr>
            <a:xfrm>
              <a:off x="0" y="0"/>
              <a:ext cx="2057400" cy="685800"/>
            </a:xfrm>
            <a:prstGeom prst="roundRect">
              <a:avLst>
                <a:gd name="adj" fmla="val 16667"/>
              </a:avLst>
            </a:prstGeom>
            <a:solidFill>
              <a:srgbClr val="D97706"/>
            </a:solidFill>
            <a:ln w="12700" cap="flat">
              <a:noFill/>
              <a:miter lim="400000"/>
            </a:ln>
            <a:effectLst/>
          </p:spPr>
          <p:txBody>
            <a:bodyPr wrap="square" lIns="45719" tIns="45719" rIns="45719" bIns="45719" numCol="1" anchor="ctr">
              <a:noAutofit/>
            </a:bodyPr>
            <a:lstStyle/>
            <a:p>
              <a:pPr algn="ctr">
                <a:defRPr b="1" spc="-1">
                  <a:solidFill>
                    <a:srgbClr val="FFFFFF"/>
                  </a:solidFill>
                  <a:latin typeface="+mn-lt"/>
                  <a:ea typeface="+mn-ea"/>
                  <a:cs typeface="+mn-cs"/>
                  <a:sym typeface="Calibri"/>
                </a:defRPr>
              </a:pPr>
              <a:endParaRPr/>
            </a:p>
          </p:txBody>
        </p:sp>
        <p:sp>
          <p:nvSpPr>
            <p:cNvPr id="149" name="Predict Run"/>
            <p:cNvSpPr txBox="1"/>
            <p:nvPr/>
          </p:nvSpPr>
          <p:spPr>
            <a:xfrm>
              <a:off x="78477" y="177076"/>
              <a:ext cx="1900446" cy="33164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4999" tIns="44999" rIns="44999" bIns="44999" numCol="1" anchor="ctr">
              <a:spAutoFit/>
            </a:bodyPr>
            <a:lstStyle>
              <a:lvl1pPr algn="ctr">
                <a:defRPr b="1" spc="-1">
                  <a:solidFill>
                    <a:srgbClr val="FFFFFF"/>
                  </a:solidFill>
                  <a:latin typeface="+mn-lt"/>
                  <a:ea typeface="+mn-ea"/>
                  <a:cs typeface="+mn-cs"/>
                  <a:sym typeface="Calibri"/>
                </a:defRPr>
              </a:lvl1pPr>
            </a:lstStyle>
            <a:p>
              <a:r>
                <a:t>Predict Run</a:t>
              </a:r>
            </a:p>
          </p:txBody>
        </p:sp>
      </p:grpSp>
      <p:grpSp>
        <p:nvGrpSpPr>
          <p:cNvPr id="153" name="Group"/>
          <p:cNvGrpSpPr/>
          <p:nvPr/>
        </p:nvGrpSpPr>
        <p:grpSpPr>
          <a:xfrm>
            <a:off x="5121300" y="3533400"/>
            <a:ext cx="2057401" cy="685801"/>
            <a:chOff x="0" y="0"/>
            <a:chExt cx="2057400" cy="685800"/>
          </a:xfrm>
        </p:grpSpPr>
        <p:sp>
          <p:nvSpPr>
            <p:cNvPr id="151" name="Rounded Rectangle"/>
            <p:cNvSpPr/>
            <p:nvPr/>
          </p:nvSpPr>
          <p:spPr>
            <a:xfrm>
              <a:off x="0" y="0"/>
              <a:ext cx="2057400" cy="685800"/>
            </a:xfrm>
            <a:prstGeom prst="roundRect">
              <a:avLst>
                <a:gd name="adj" fmla="val 16667"/>
              </a:avLst>
            </a:prstGeom>
            <a:solidFill>
              <a:srgbClr val="D97706"/>
            </a:solidFill>
            <a:ln w="12700" cap="flat">
              <a:noFill/>
              <a:miter lim="400000"/>
            </a:ln>
            <a:effectLst/>
          </p:spPr>
          <p:txBody>
            <a:bodyPr wrap="square" lIns="45719" tIns="45719" rIns="45719" bIns="45719" numCol="1" anchor="ctr">
              <a:noAutofit/>
            </a:bodyPr>
            <a:lstStyle/>
            <a:p>
              <a:pPr algn="ctr">
                <a:defRPr b="1" spc="-1">
                  <a:solidFill>
                    <a:srgbClr val="FFFFFF"/>
                  </a:solidFill>
                  <a:latin typeface="+mn-lt"/>
                  <a:ea typeface="+mn-ea"/>
                  <a:cs typeface="+mn-cs"/>
                  <a:sym typeface="Calibri"/>
                </a:defRPr>
              </a:pPr>
              <a:endParaRPr/>
            </a:p>
          </p:txBody>
        </p:sp>
        <p:sp>
          <p:nvSpPr>
            <p:cNvPr id="152" name="Upload Readings"/>
            <p:cNvSpPr txBox="1"/>
            <p:nvPr/>
          </p:nvSpPr>
          <p:spPr>
            <a:xfrm>
              <a:off x="78477" y="177076"/>
              <a:ext cx="1900446" cy="33164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4999" tIns="44999" rIns="44999" bIns="44999" numCol="1" anchor="ctr">
              <a:spAutoFit/>
            </a:bodyPr>
            <a:lstStyle>
              <a:lvl1pPr algn="ctr">
                <a:defRPr b="1" spc="-1">
                  <a:solidFill>
                    <a:srgbClr val="FFFFFF"/>
                  </a:solidFill>
                  <a:latin typeface="+mn-lt"/>
                  <a:ea typeface="+mn-ea"/>
                  <a:cs typeface="+mn-cs"/>
                  <a:sym typeface="Calibri"/>
                </a:defRPr>
              </a:lvl1pPr>
            </a:lstStyle>
            <a:p>
              <a:r>
                <a:t>Upload Readings</a:t>
              </a:r>
            </a:p>
          </p:txBody>
        </p:sp>
      </p:grpSp>
      <p:grpSp>
        <p:nvGrpSpPr>
          <p:cNvPr id="156" name="Group"/>
          <p:cNvGrpSpPr/>
          <p:nvPr/>
        </p:nvGrpSpPr>
        <p:grpSpPr>
          <a:xfrm>
            <a:off x="1053300" y="5153399"/>
            <a:ext cx="2057401" cy="685801"/>
            <a:chOff x="0" y="0"/>
            <a:chExt cx="2057400" cy="685800"/>
          </a:xfrm>
        </p:grpSpPr>
        <p:sp>
          <p:nvSpPr>
            <p:cNvPr id="154" name="Rounded Rectangle"/>
            <p:cNvSpPr/>
            <p:nvPr/>
          </p:nvSpPr>
          <p:spPr>
            <a:xfrm>
              <a:off x="0" y="0"/>
              <a:ext cx="2057400" cy="685800"/>
            </a:xfrm>
            <a:prstGeom prst="roundRect">
              <a:avLst>
                <a:gd name="adj" fmla="val 16667"/>
              </a:avLst>
            </a:prstGeom>
            <a:solidFill>
              <a:srgbClr val="F7F8FB"/>
            </a:solidFill>
            <a:ln w="9525" cap="flat">
              <a:solidFill>
                <a:srgbClr val="E2E4EC"/>
              </a:solidFill>
              <a:prstDash val="solid"/>
              <a:round/>
            </a:ln>
            <a:effectLst/>
          </p:spPr>
          <p:txBody>
            <a:bodyPr wrap="square" lIns="45719" tIns="45719" rIns="45719" bIns="45719" numCol="1" anchor="ctr">
              <a:noAutofit/>
            </a:bodyPr>
            <a:lstStyle/>
            <a:p>
              <a:pPr algn="ctr">
                <a:defRPr b="1" spc="-1">
                  <a:solidFill>
                    <a:srgbClr val="1E2761"/>
                  </a:solidFill>
                  <a:latin typeface="+mn-lt"/>
                  <a:ea typeface="+mn-ea"/>
                  <a:cs typeface="+mn-cs"/>
                  <a:sym typeface="Calibri"/>
                </a:defRPr>
              </a:pPr>
              <a:endParaRPr/>
            </a:p>
          </p:txBody>
        </p:sp>
        <p:sp>
          <p:nvSpPr>
            <p:cNvPr id="155" name="Risk Level"/>
            <p:cNvSpPr txBox="1"/>
            <p:nvPr/>
          </p:nvSpPr>
          <p:spPr>
            <a:xfrm>
              <a:off x="83240" y="177076"/>
              <a:ext cx="1890920" cy="33164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4999" tIns="44999" rIns="44999" bIns="44999" numCol="1" anchor="ctr">
              <a:spAutoFit/>
            </a:bodyPr>
            <a:lstStyle>
              <a:lvl1pPr algn="ctr">
                <a:defRPr b="1" spc="-1">
                  <a:solidFill>
                    <a:srgbClr val="1E2761"/>
                  </a:solidFill>
                  <a:latin typeface="+mn-lt"/>
                  <a:ea typeface="+mn-ea"/>
                  <a:cs typeface="+mn-cs"/>
                  <a:sym typeface="Calibri"/>
                </a:defRPr>
              </a:lvl1pPr>
            </a:lstStyle>
            <a:p>
              <a:r>
                <a:t>Risk Level</a:t>
              </a:r>
            </a:p>
          </p:txBody>
        </p:sp>
      </p:grpSp>
      <p:grpSp>
        <p:nvGrpSpPr>
          <p:cNvPr id="159" name="Group"/>
          <p:cNvGrpSpPr/>
          <p:nvPr/>
        </p:nvGrpSpPr>
        <p:grpSpPr>
          <a:xfrm>
            <a:off x="9081299" y="5153399"/>
            <a:ext cx="2057401" cy="685801"/>
            <a:chOff x="0" y="0"/>
            <a:chExt cx="2057400" cy="685800"/>
          </a:xfrm>
        </p:grpSpPr>
        <p:sp>
          <p:nvSpPr>
            <p:cNvPr id="157" name="Rounded Rectangle"/>
            <p:cNvSpPr/>
            <p:nvPr/>
          </p:nvSpPr>
          <p:spPr>
            <a:xfrm>
              <a:off x="0" y="0"/>
              <a:ext cx="2057400" cy="685800"/>
            </a:xfrm>
            <a:prstGeom prst="roundRect">
              <a:avLst>
                <a:gd name="adj" fmla="val 16667"/>
              </a:avLst>
            </a:prstGeom>
            <a:solidFill>
              <a:srgbClr val="F7F8FB"/>
            </a:solidFill>
            <a:ln w="9525" cap="flat">
              <a:solidFill>
                <a:srgbClr val="E2E4EC"/>
              </a:solidFill>
              <a:prstDash val="solid"/>
              <a:round/>
            </a:ln>
            <a:effectLst/>
          </p:spPr>
          <p:txBody>
            <a:bodyPr wrap="square" lIns="45719" tIns="45719" rIns="45719" bIns="45719" numCol="1" anchor="ctr">
              <a:noAutofit/>
            </a:bodyPr>
            <a:lstStyle/>
            <a:p>
              <a:pPr algn="ctr">
                <a:defRPr b="1" spc="-1">
                  <a:solidFill>
                    <a:srgbClr val="1E2761"/>
                  </a:solidFill>
                  <a:latin typeface="+mn-lt"/>
                  <a:ea typeface="+mn-ea"/>
                  <a:cs typeface="+mn-cs"/>
                  <a:sym typeface="Calibri"/>
                </a:defRPr>
              </a:pPr>
              <a:endParaRPr/>
            </a:p>
          </p:txBody>
        </p:sp>
        <p:sp>
          <p:nvSpPr>
            <p:cNvPr id="158" name="Explanation"/>
            <p:cNvSpPr txBox="1"/>
            <p:nvPr/>
          </p:nvSpPr>
          <p:spPr>
            <a:xfrm>
              <a:off x="83240" y="177076"/>
              <a:ext cx="1890920" cy="33164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4999" tIns="44999" rIns="44999" bIns="44999" numCol="1" anchor="ctr">
              <a:spAutoFit/>
            </a:bodyPr>
            <a:lstStyle>
              <a:lvl1pPr algn="ctr">
                <a:defRPr b="1" spc="-1">
                  <a:solidFill>
                    <a:srgbClr val="1E2761"/>
                  </a:solidFill>
                  <a:latin typeface="+mn-lt"/>
                  <a:ea typeface="+mn-ea"/>
                  <a:cs typeface="+mn-cs"/>
                  <a:sym typeface="Calibri"/>
                </a:defRPr>
              </a:lvl1pPr>
            </a:lstStyle>
            <a:p>
              <a:r>
                <a:t>Explanation</a:t>
              </a:r>
            </a:p>
          </p:txBody>
        </p:sp>
      </p:grpSp>
      <p:grpSp>
        <p:nvGrpSpPr>
          <p:cNvPr id="162" name="Group"/>
          <p:cNvGrpSpPr/>
          <p:nvPr/>
        </p:nvGrpSpPr>
        <p:grpSpPr>
          <a:xfrm>
            <a:off x="5121300" y="5153399"/>
            <a:ext cx="2057401" cy="685801"/>
            <a:chOff x="0" y="0"/>
            <a:chExt cx="2057400" cy="685800"/>
          </a:xfrm>
        </p:grpSpPr>
        <p:sp>
          <p:nvSpPr>
            <p:cNvPr id="160" name="Rounded Rectangle"/>
            <p:cNvSpPr/>
            <p:nvPr/>
          </p:nvSpPr>
          <p:spPr>
            <a:xfrm>
              <a:off x="0" y="0"/>
              <a:ext cx="2057400" cy="685800"/>
            </a:xfrm>
            <a:prstGeom prst="roundRect">
              <a:avLst>
                <a:gd name="adj" fmla="val 16667"/>
              </a:avLst>
            </a:prstGeom>
            <a:solidFill>
              <a:srgbClr val="F7F8FB"/>
            </a:solidFill>
            <a:ln w="9525" cap="flat">
              <a:solidFill>
                <a:srgbClr val="E2E4EC"/>
              </a:solidFill>
              <a:prstDash val="solid"/>
              <a:round/>
            </a:ln>
            <a:effectLst/>
          </p:spPr>
          <p:txBody>
            <a:bodyPr wrap="square" lIns="45719" tIns="45719" rIns="45719" bIns="45719" numCol="1" anchor="ctr">
              <a:noAutofit/>
            </a:bodyPr>
            <a:lstStyle/>
            <a:p>
              <a:pPr algn="ctr">
                <a:defRPr b="1" spc="-1">
                  <a:solidFill>
                    <a:srgbClr val="1E2761"/>
                  </a:solidFill>
                  <a:latin typeface="+mn-lt"/>
                  <a:ea typeface="+mn-ea"/>
                  <a:cs typeface="+mn-cs"/>
                  <a:sym typeface="Calibri"/>
                </a:defRPr>
              </a:pPr>
              <a:endParaRPr/>
            </a:p>
          </p:txBody>
        </p:sp>
        <p:sp>
          <p:nvSpPr>
            <p:cNvPr id="161" name="Probability of Fault"/>
            <p:cNvSpPr txBox="1"/>
            <p:nvPr/>
          </p:nvSpPr>
          <p:spPr>
            <a:xfrm>
              <a:off x="83240" y="31026"/>
              <a:ext cx="1890920" cy="62374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4999" tIns="44999" rIns="44999" bIns="44999" numCol="1" anchor="ctr">
              <a:spAutoFit/>
            </a:bodyPr>
            <a:lstStyle>
              <a:lvl1pPr algn="ctr">
                <a:defRPr b="1" spc="-1">
                  <a:solidFill>
                    <a:srgbClr val="1E2761"/>
                  </a:solidFill>
                  <a:latin typeface="+mn-lt"/>
                  <a:ea typeface="+mn-ea"/>
                  <a:cs typeface="+mn-cs"/>
                  <a:sym typeface="Calibri"/>
                </a:defRPr>
              </a:lvl1pPr>
            </a:lstStyle>
            <a:p>
              <a:r>
                <a:t>Probability of Fault</a:t>
              </a:r>
            </a:p>
          </p:txBody>
        </p:sp>
      </p:grpSp>
      <p:sp>
        <p:nvSpPr>
          <p:cNvPr id="163" name="Text 5"/>
          <p:cNvSpPr txBox="1"/>
          <p:nvPr/>
        </p:nvSpPr>
        <p:spPr>
          <a:xfrm>
            <a:off x="11277295" y="6423704"/>
            <a:ext cx="548642" cy="1370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r">
              <a:defRPr sz="1000">
                <a:solidFill>
                  <a:srgbClr val="B7BAC6"/>
                </a:solidFill>
                <a:latin typeface="+mn-lt"/>
                <a:ea typeface="+mn-ea"/>
                <a:cs typeface="+mn-cs"/>
                <a:sym typeface="Calibri"/>
              </a:defRPr>
            </a:lvl1pPr>
          </a:lstStyle>
          <a:p>
            <a:r>
              <a:t>04</a:t>
            </a:r>
          </a:p>
        </p:txBody>
      </p:sp>
      <p:sp>
        <p:nvSpPr>
          <p:cNvPr id="163" name="ProbCaption"/>
          <p:cNvSpPr txBox="1"/>
          <p:nvPr/>
        </p:nvSpPr>
        <p:spPr>
          <a:xfrm>
            <a:off x="5121300" y="5900000"/>
            <a:ext cx="2057401" cy="350000"/>
          </a:xfrm>
          <a:prstGeom prst="rect">
            <a:avLst/>
          </a:prstGeom>
          <a:ln w="12700">
            <a:miter lim="400000"/>
          </a:ln>
        </p:spPr>
        <p:txBody>
          <a:bodyPr lIns="0" tIns="0" rIns="0" bIns="0" anchor="ctr">
            <a:spAutoFit/>
          </a:bodyPr>
          <a:lstStyle>
            <a:lvl1pPr algn="ctr">
              <a:defRPr sz="1100" i="1">
                <a:solidFill>
                  <a:srgbClr val="8890BE"/>
                </a:solidFill>
                <a:latin typeface="+mn-lt"/>
                <a:ea typeface="+mn-ea"/>
                <a:cs typeface="+mn-cs"/>
                <a:sym typeface="Calibri"/>
              </a:defRPr>
            </a:lvl1pPr>
          </a:lstStyle>
          <a:p>
            <a:r>
              <a:t>e.g. 80% probability, flagged above a 33% threshold</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1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3" nodeType="clickEffect">
                                  <p:stCondLst>
                                    <p:cond delay="0"/>
                                  </p:stCondLst>
                                  <p:iterate>
                                    <p:tmAbs val="0"/>
                                  </p:iterate>
                                  <p:childTnLst>
                                    <p:set>
                                      <p:cBhvr>
                                        <p:cTn id="14" fill="hold"/>
                                        <p:tgtEl>
                                          <p:spTgt spid="1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4" nodeType="clickEffect">
                                  <p:stCondLst>
                                    <p:cond delay="0"/>
                                  </p:stCondLst>
                                  <p:iterate>
                                    <p:tmAbs val="0"/>
                                  </p:iterate>
                                  <p:childTnLst>
                                    <p:set>
                                      <p:cBhvr>
                                        <p:cTn id="18" fill="hold"/>
                                        <p:tgtEl>
                                          <p:spTgt spid="15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5" nodeType="clickEffect">
                                  <p:stCondLst>
                                    <p:cond delay="0"/>
                                  </p:stCondLst>
                                  <p:iterate>
                                    <p:tmAbs val="0"/>
                                  </p:iterate>
                                  <p:childTnLst>
                                    <p:set>
                                      <p:cBhvr>
                                        <p:cTn id="22" fill="hold"/>
                                        <p:tgtEl>
                                          <p:spTgt spid="1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6" nodeType="clickEffect">
                                  <p:stCondLst>
                                    <p:cond delay="0"/>
                                  </p:stCondLst>
                                  <p:iterate>
                                    <p:tmAbs val="0"/>
                                  </p:iterate>
                                  <p:childTnLst>
                                    <p:set>
                                      <p:cBhvr>
                                        <p:cTn id="26" fill="hold"/>
                                        <p:tgtEl>
                                          <p:spTgt spid="16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7" nodeType="clickEffect">
                                  <p:stCondLst>
                                    <p:cond delay="0"/>
                                  </p:stCondLst>
                                  <p:iterate>
                                    <p:tmAbs val="0"/>
                                  </p:iterate>
                                  <p:childTnLst>
                                    <p:set>
                                      <p:cBhvr>
                                        <p:cTn id="30" fill="hold"/>
                                        <p:tgtEl>
                                          <p:spTgt spid="1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 grpId="1" animBg="1" advAuto="0"/>
      <p:bldP spid="147" grpId="2" animBg="1" advAuto="0"/>
      <p:bldP spid="150" grpId="4" animBg="1" advAuto="0"/>
      <p:bldP spid="153" grpId="3" animBg="1" advAuto="0"/>
      <p:bldP spid="156" grpId="5" animBg="1" advAuto="0"/>
      <p:bldP spid="159" grpId="7" animBg="1" advAuto="0"/>
      <p:bldP spid="162" grpId="6"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 0"/>
          <p:cNvSpPr txBox="1"/>
          <p:nvPr/>
        </p:nvSpPr>
        <p:spPr>
          <a:xfrm>
            <a:off x="640080" y="525071"/>
            <a:ext cx="9144001" cy="1568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400" b="1" spc="200">
                <a:solidFill>
                  <a:srgbClr val="D97706"/>
                </a:solidFill>
                <a:latin typeface="+mn-lt"/>
                <a:ea typeface="+mn-ea"/>
                <a:cs typeface="+mn-cs"/>
                <a:sym typeface="Calibri"/>
              </a:defRPr>
            </a:lvl1pPr>
          </a:lstStyle>
          <a:p>
            <a:r>
              <a:rPr dirty="0"/>
              <a:t>EVALUATION METRIC</a:t>
            </a:r>
          </a:p>
        </p:txBody>
      </p:sp>
      <p:sp>
        <p:nvSpPr>
          <p:cNvPr id="39" name="Text 1"/>
          <p:cNvSpPr txBox="1"/>
          <p:nvPr/>
        </p:nvSpPr>
        <p:spPr>
          <a:xfrm>
            <a:off x="640080" y="786383"/>
            <a:ext cx="10881360" cy="4191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3000">
                <a:solidFill>
                  <a:srgbClr val="1E2761"/>
                </a:solidFill>
                <a:latin typeface="Cambria"/>
                <a:ea typeface="Cambria"/>
                <a:cs typeface="Cambria"/>
                <a:sym typeface="Cambria"/>
              </a:defRPr>
            </a:lvl1pPr>
          </a:lstStyle>
          <a:p>
            <a:r>
              <a:rPr dirty="0"/>
              <a:t>F2 score: weights recall, but can’t be gamed</a:t>
            </a:r>
          </a:p>
        </p:txBody>
      </p:sp>
      <p:sp>
        <p:nvSpPr>
          <p:cNvPr id="37" name="Text Frame"/>
          <p:cNvSpPr txBox="1"/>
          <p:nvPr/>
        </p:nvSpPr>
        <p:spPr>
          <a:xfrm>
            <a:off x="640080" y="1230000"/>
            <a:ext cx="10881360" cy="480000"/>
          </a:xfrm>
          <a:prstGeom prst="rect">
            <a:avLst/>
          </a:prstGeom>
          <a:ln w="12700">
            <a:miter lim="400000"/>
          </a:ln>
        </p:spPr>
        <p:txBody>
          <a:bodyPr lIns="0" tIns="0" rIns="0" bIns="0" anchor="t">
            <a:spAutoFit/>
          </a:bodyPr>
          <a:lstStyle>
            <a:lvl1pPr>
              <a:defRPr sz="1600">
                <a:solidFill>
                  <a:srgbClr val="3A3F52"/>
                </a:solidFill>
                <a:latin typeface="+mn-lt"/>
                <a:ea typeface="+mn-ea"/>
                <a:cs typeface="+mn-cs"/>
                <a:sym typeface="Calibri"/>
              </a:defRPr>
            </a:lvl1pPr>
          </a:lstStyle>
          <a:p>
            <a:r>
              <a:rPr dirty="0"/>
              <a:t>This is a classification task: will a fault happen in the next 6 hours, yes or no. That is why precision, recall, and F2 apply here.</a:t>
            </a:r>
          </a:p>
        </p:txBody>
      </p:sp>
      <p:sp>
        <p:nvSpPr>
          <p:cNvPr id="40" name="Shape 12"/>
          <p:cNvSpPr/>
          <p:nvPr/>
        </p:nvSpPr>
        <p:spPr>
          <a:xfrm>
            <a:off x="7991119" y="2488819"/>
            <a:ext cx="3502154" cy="2880362"/>
          </a:xfrm>
          <a:prstGeom prst="roundRect">
            <a:avLst>
              <a:gd name="adj" fmla="val 2540"/>
            </a:avLst>
          </a:prstGeom>
          <a:solidFill>
            <a:srgbClr val="1E2761"/>
          </a:solidFill>
          <a:ln w="12700">
            <a:miter lim="400000"/>
          </a:ln>
        </p:spPr>
        <p:txBody>
          <a:bodyPr lIns="45718" tIns="45718" rIns="45718" bIns="45718"/>
          <a:lstStyle/>
          <a:p>
            <a:pPr>
              <a:defRPr>
                <a:latin typeface="+mn-lt"/>
                <a:ea typeface="+mn-ea"/>
                <a:cs typeface="+mn-cs"/>
                <a:sym typeface="Calibri"/>
              </a:defRPr>
            </a:pPr>
            <a:endParaRPr/>
          </a:p>
        </p:txBody>
      </p:sp>
      <p:sp>
        <p:nvSpPr>
          <p:cNvPr id="41" name="Text 13"/>
          <p:cNvSpPr txBox="1"/>
          <p:nvPr/>
        </p:nvSpPr>
        <p:spPr>
          <a:xfrm>
            <a:off x="8192287" y="2754248"/>
            <a:ext cx="548642" cy="2921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200" b="1">
                <a:solidFill>
                  <a:srgbClr val="D97706"/>
                </a:solidFill>
                <a:latin typeface="+mn-lt"/>
                <a:ea typeface="+mn-ea"/>
                <a:cs typeface="+mn-cs"/>
                <a:sym typeface="Calibri"/>
              </a:defRPr>
            </a:lvl1pPr>
          </a:lstStyle>
          <a:p>
            <a:r>
              <a:t>✓</a:t>
            </a:r>
          </a:p>
        </p:txBody>
      </p:sp>
      <p:sp>
        <p:nvSpPr>
          <p:cNvPr id="42" name="Text 14"/>
          <p:cNvSpPr txBox="1"/>
          <p:nvPr/>
        </p:nvSpPr>
        <p:spPr>
          <a:xfrm>
            <a:off x="8192287" y="3271210"/>
            <a:ext cx="3099818" cy="2091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800" b="1">
                <a:solidFill>
                  <a:srgbClr val="FFFFFF"/>
                </a:solidFill>
                <a:latin typeface="+mn-lt"/>
                <a:ea typeface="+mn-ea"/>
                <a:cs typeface="+mn-cs"/>
                <a:sym typeface="Calibri"/>
              </a:defRPr>
            </a:lvl1pPr>
          </a:lstStyle>
          <a:p>
            <a:r>
              <a:t>F2 score — chosen</a:t>
            </a:r>
          </a:p>
        </p:txBody>
      </p:sp>
      <p:sp>
        <p:nvSpPr>
          <p:cNvPr id="43" name="Text 15"/>
          <p:cNvSpPr txBox="1"/>
          <p:nvPr/>
        </p:nvSpPr>
        <p:spPr>
          <a:xfrm>
            <a:off x="8192287" y="4021885"/>
            <a:ext cx="3099818" cy="6006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nSpc>
                <a:spcPct val="120000"/>
              </a:lnSpc>
              <a:defRPr sz="1400">
                <a:solidFill>
                  <a:srgbClr val="F5F3EE"/>
                </a:solidFill>
                <a:latin typeface="+mn-lt"/>
                <a:ea typeface="+mn-ea"/>
                <a:cs typeface="+mn-cs"/>
                <a:sym typeface="Calibri"/>
              </a:defRPr>
            </a:lvl1pPr>
          </a:lstStyle>
          <a:p>
            <a:r>
              <a:t>Weights recall 2× precision, exactly, not roughly: missing a fault costs more than a false alarm, and it can’t be gamed by either extreme.</a:t>
            </a:r>
          </a:p>
        </p:txBody>
      </p:sp>
      <p:sp>
        <p:nvSpPr>
          <p:cNvPr id="44" name="Text 16"/>
          <p:cNvSpPr txBox="1"/>
          <p:nvPr/>
        </p:nvSpPr>
        <p:spPr>
          <a:xfrm>
            <a:off x="8192287" y="5026323"/>
            <a:ext cx="3099818" cy="1370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200" b="1" spc="100">
                <a:solidFill>
                  <a:srgbClr val="D97706"/>
                </a:solidFill>
                <a:latin typeface="+mn-lt"/>
                <a:ea typeface="+mn-ea"/>
                <a:cs typeface="+mn-cs"/>
                <a:sym typeface="Calibri"/>
              </a:defRPr>
            </a:lvl1pPr>
          </a:lstStyle>
          <a:p>
            <a:r>
              <a:t>HEADLINE METRIC</a:t>
            </a:r>
          </a:p>
        </p:txBody>
      </p:sp>
      <p:sp>
        <p:nvSpPr>
          <p:cNvPr id="45" name="Text 19"/>
          <p:cNvSpPr txBox="1"/>
          <p:nvPr/>
        </p:nvSpPr>
        <p:spPr>
          <a:xfrm>
            <a:off x="11277295" y="6423704"/>
            <a:ext cx="548642" cy="1370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r">
              <a:defRPr sz="1000">
                <a:solidFill>
                  <a:srgbClr val="B7BAC6"/>
                </a:solidFill>
                <a:latin typeface="+mn-lt"/>
                <a:ea typeface="+mn-ea"/>
                <a:cs typeface="+mn-cs"/>
                <a:sym typeface="Calibri"/>
              </a:defRPr>
            </a:lvl1pPr>
          </a:lstStyle>
          <a:p>
            <a:r>
              <a:t>05</a:t>
            </a:r>
          </a:p>
        </p:txBody>
      </p:sp>
      <p:pic>
        <p:nvPicPr>
          <p:cNvPr id="46" name="pasted-movie.png" descr="pasted-movie.png"/>
          <p:cNvPicPr>
            <a:picLocks noChangeAspect="1"/>
          </p:cNvPicPr>
          <p:nvPr/>
        </p:nvPicPr>
        <p:blipFill>
          <a:blip r:embed="rId3"/>
          <a:stretch>
            <a:fillRect/>
          </a:stretch>
        </p:blipFill>
        <p:spPr>
          <a:xfrm>
            <a:off x="778666" y="1849135"/>
            <a:ext cx="5957468" cy="4159730"/>
          </a:xfrm>
          <a:prstGeom prst="rect">
            <a:avLst/>
          </a:prstGeom>
          <a:ln w="12700">
            <a:miter lim="400000"/>
          </a:ln>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rtlCol="0" anchor="ctr"/>
          <a:lstStyle/>
          <a:p>
            <a:pPr marL="0" indent="0">
              <a:buNone/>
            </a:pPr>
            <a:r>
              <a:rPr lang="en-US" sz="1400" b="1" spc="200" dirty="0">
                <a:solidFill>
                  <a:srgbClr val="D97706"/>
                </a:solidFill>
                <a:latin typeface="+mn-lt"/>
                <a:ea typeface="+mn-ea"/>
                <a:cs typeface="+mn-cs"/>
                <a:sym typeface="Calibri"/>
              </a:rPr>
              <a:t>DATASET</a:t>
            </a:r>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400" dirty="0">
                <a:solidFill>
                  <a:srgbClr val="1E2761"/>
                </a:solidFill>
                <a:latin typeface="Cambria" pitchFamily="34" charset="0"/>
                <a:ea typeface="Cambria" pitchFamily="34" charset="-122"/>
                <a:cs typeface="Cambria" pitchFamily="34" charset="-120"/>
              </a:rPr>
              <a:t>EV sensor telemetry, 4 vehicles, 5 years</a:t>
            </a:r>
            <a:endParaRPr lang="en-US" sz="3400" dirty="0"/>
          </a:p>
        </p:txBody>
      </p:sp>
      <p:sp>
        <p:nvSpPr>
          <p:cNvPr id="4" name="Text 2"/>
          <p:cNvSpPr/>
          <p:nvPr/>
        </p:nvSpPr>
        <p:spPr>
          <a:xfrm>
            <a:off x="548640" y="1691640"/>
            <a:ext cx="5760720" cy="1463040"/>
          </a:xfrm>
          <a:prstGeom prst="rect">
            <a:avLst/>
          </a:prstGeom>
          <a:noFill/>
          <a:ln/>
        </p:spPr>
        <p:txBody>
          <a:bodyPr wrap="square" rtlCol="0" anchor="ctr"/>
          <a:lstStyle/>
          <a:p>
            <a:pPr marL="0" indent="0">
              <a:lnSpc>
                <a:spcPct val="140000"/>
              </a:lnSpc>
              <a:buNone/>
            </a:pPr>
            <a:r>
              <a:rPr lang="en-US" sz="1600" b="1" dirty="0">
                <a:solidFill>
                  <a:srgbClr val="1E2761"/>
                </a:solidFill>
                <a:latin typeface="Calibri" pitchFamily="34" charset="0"/>
                <a:ea typeface="Calibri" pitchFamily="34" charset="-122"/>
                <a:cs typeface="Calibri" pitchFamily="34" charset="-120"/>
              </a:rPr>
              <a:t>Source: </a:t>
            </a:r>
            <a:r>
              <a:rPr lang="en-US" sz="1600" dirty="0">
                <a:solidFill>
                  <a:srgbClr val="5B6478"/>
                </a:solidFill>
                <a:latin typeface="Calibri" pitchFamily="34" charset="0"/>
                <a:ea typeface="Calibri" pitchFamily="34" charset="-122"/>
                <a:cs typeface="Calibri" pitchFamily="34" charset="-120"/>
              </a:rPr>
              <a:t>Kaggle, "EV Sensors Driving-Pattern Diagnostics 2020 to 24"
</a:t>
            </a:r>
            <a:r>
              <a:rPr lang="en-US" sz="1600" b="1" dirty="0">
                <a:solidFill>
                  <a:srgbClr val="1E2761"/>
                </a:solidFill>
                <a:latin typeface="Calibri" pitchFamily="34" charset="0"/>
                <a:ea typeface="Calibri" pitchFamily="34" charset="-122"/>
                <a:cs typeface="Calibri" pitchFamily="34" charset="-120"/>
              </a:rPr>
              <a:t>License: </a:t>
            </a:r>
            <a:r>
              <a:rPr lang="en-US" sz="1600" dirty="0">
                <a:solidFill>
                  <a:srgbClr val="5B6478"/>
                </a:solidFill>
                <a:latin typeface="Calibri" pitchFamily="34" charset="0"/>
                <a:ea typeface="Calibri" pitchFamily="34" charset="-122"/>
                <a:cs typeface="Calibri" pitchFamily="34" charset="-120"/>
              </a:rPr>
              <a:t>CC BY 4.0
</a:t>
            </a:r>
            <a:r>
              <a:rPr lang="en-US" sz="1600" b="1" dirty="0">
                <a:solidFill>
                  <a:srgbClr val="1E2761"/>
                </a:solidFill>
                <a:latin typeface="Calibri" pitchFamily="34" charset="0"/>
                <a:ea typeface="Calibri" pitchFamily="34" charset="-122"/>
                <a:cs typeface="Calibri" pitchFamily="34" charset="-120"/>
              </a:rPr>
              <a:t>Granularity: </a:t>
            </a:r>
            <a:r>
              <a:rPr lang="en-US" sz="1600" dirty="0">
                <a:solidFill>
                  <a:srgbClr val="5B6478"/>
                </a:solidFill>
                <a:latin typeface="Calibri" pitchFamily="34" charset="0"/>
                <a:ea typeface="Calibri" pitchFamily="34" charset="-122"/>
                <a:cs typeface="Calibri" pitchFamily="34" charset="-120"/>
              </a:rPr>
              <a:t>hourly sensor readings, per vehicle</a:t>
            </a:r>
            <a:endParaRPr lang="en-US" sz="1600" dirty="0"/>
          </a:p>
        </p:txBody>
      </p:sp>
      <p:sp>
        <p:nvSpPr>
          <p:cNvPr id="5" name="Text 3"/>
          <p:cNvSpPr/>
          <p:nvPr/>
        </p:nvSpPr>
        <p:spPr>
          <a:xfrm>
            <a:off x="548640" y="3200400"/>
            <a:ext cx="6309360" cy="32004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10 raw sensors per reading:</a:t>
            </a:r>
            <a:endParaRPr lang="en-US" sz="1500" dirty="0"/>
          </a:p>
        </p:txBody>
      </p:sp>
      <p:sp>
        <p:nvSpPr>
          <p:cNvPr id="6" name="Shape 4"/>
          <p:cNvSpPr/>
          <p:nvPr/>
        </p:nvSpPr>
        <p:spPr>
          <a:xfrm>
            <a:off x="548640" y="3611880"/>
            <a:ext cx="2011680" cy="384048"/>
          </a:xfrm>
          <a:prstGeom prst="roundRect">
            <a:avLst>
              <a:gd name="adj" fmla="val 14286"/>
            </a:avLst>
          </a:prstGeom>
          <a:solidFill>
            <a:srgbClr val="EEF3FD"/>
          </a:solidFill>
          <a:ln/>
        </p:spPr>
      </p:sp>
      <p:sp>
        <p:nvSpPr>
          <p:cNvPr id="7" name="Text 5"/>
          <p:cNvSpPr/>
          <p:nvPr/>
        </p:nvSpPr>
        <p:spPr>
          <a:xfrm>
            <a:off x="548640" y="3611880"/>
            <a:ext cx="2011680" cy="384048"/>
          </a:xfrm>
          <a:prstGeom prst="rect">
            <a:avLst/>
          </a:prstGeom>
          <a:noFill/>
          <a:ln/>
        </p:spPr>
        <p:txBody>
          <a:bodyPr wrap="square" rtlCol="0" anchor="ctr"/>
          <a:lstStyle/>
          <a:p>
            <a:pPr marL="0" indent="0" algn="ctr">
              <a:buNone/>
            </a:pPr>
            <a:r>
              <a:rPr lang="en-US" sz="1200" dirty="0">
                <a:solidFill>
                  <a:srgbClr val="1E2761"/>
                </a:solidFill>
                <a:latin typeface="Calibri" pitchFamily="34" charset="0"/>
                <a:ea typeface="Calibri" pitchFamily="34" charset="-122"/>
                <a:cs typeface="Calibri" pitchFamily="34" charset="-120"/>
              </a:rPr>
              <a:t>SOC</a:t>
            </a:r>
            <a:endParaRPr lang="en-US" sz="1200" dirty="0"/>
          </a:p>
        </p:txBody>
      </p:sp>
      <p:sp>
        <p:nvSpPr>
          <p:cNvPr id="8" name="Shape 6"/>
          <p:cNvSpPr/>
          <p:nvPr/>
        </p:nvSpPr>
        <p:spPr>
          <a:xfrm>
            <a:off x="2697480" y="3611880"/>
            <a:ext cx="2011680" cy="384048"/>
          </a:xfrm>
          <a:prstGeom prst="roundRect">
            <a:avLst>
              <a:gd name="adj" fmla="val 14286"/>
            </a:avLst>
          </a:prstGeom>
          <a:solidFill>
            <a:srgbClr val="EEF3FD"/>
          </a:solidFill>
          <a:ln/>
        </p:spPr>
      </p:sp>
      <p:sp>
        <p:nvSpPr>
          <p:cNvPr id="9" name="Text 7"/>
          <p:cNvSpPr/>
          <p:nvPr/>
        </p:nvSpPr>
        <p:spPr>
          <a:xfrm>
            <a:off x="2697480" y="3611880"/>
            <a:ext cx="2011680" cy="384048"/>
          </a:xfrm>
          <a:prstGeom prst="rect">
            <a:avLst/>
          </a:prstGeom>
          <a:noFill/>
          <a:ln/>
        </p:spPr>
        <p:txBody>
          <a:bodyPr wrap="square" rtlCol="0" anchor="ctr"/>
          <a:lstStyle/>
          <a:p>
            <a:pPr marL="0" indent="0" algn="ctr">
              <a:buNone/>
            </a:pPr>
            <a:r>
              <a:rPr lang="en-US" sz="1200" dirty="0">
                <a:solidFill>
                  <a:srgbClr val="1E2761"/>
                </a:solidFill>
                <a:latin typeface="Calibri" pitchFamily="34" charset="0"/>
                <a:ea typeface="Calibri" pitchFamily="34" charset="-122"/>
                <a:cs typeface="Calibri" pitchFamily="34" charset="-120"/>
              </a:rPr>
              <a:t>SOH</a:t>
            </a:r>
            <a:endParaRPr lang="en-US" sz="1200" dirty="0"/>
          </a:p>
        </p:txBody>
      </p:sp>
      <p:sp>
        <p:nvSpPr>
          <p:cNvPr id="10" name="Shape 8"/>
          <p:cNvSpPr/>
          <p:nvPr/>
        </p:nvSpPr>
        <p:spPr>
          <a:xfrm>
            <a:off x="4846320" y="3611880"/>
            <a:ext cx="2011680" cy="384048"/>
          </a:xfrm>
          <a:prstGeom prst="roundRect">
            <a:avLst>
              <a:gd name="adj" fmla="val 14286"/>
            </a:avLst>
          </a:prstGeom>
          <a:solidFill>
            <a:srgbClr val="EEF3FD"/>
          </a:solidFill>
          <a:ln/>
        </p:spPr>
      </p:sp>
      <p:sp>
        <p:nvSpPr>
          <p:cNvPr id="11" name="Text 9"/>
          <p:cNvSpPr/>
          <p:nvPr/>
        </p:nvSpPr>
        <p:spPr>
          <a:xfrm>
            <a:off x="4846320" y="3611880"/>
            <a:ext cx="2011680" cy="384048"/>
          </a:xfrm>
          <a:prstGeom prst="rect">
            <a:avLst/>
          </a:prstGeom>
          <a:noFill/>
          <a:ln/>
        </p:spPr>
        <p:txBody>
          <a:bodyPr wrap="square" rtlCol="0" anchor="ctr"/>
          <a:lstStyle/>
          <a:p>
            <a:pPr marL="0" indent="0" algn="ctr">
              <a:buNone/>
            </a:pPr>
            <a:r>
              <a:rPr lang="en-US" sz="1200" dirty="0">
                <a:solidFill>
                  <a:srgbClr val="1E2761"/>
                </a:solidFill>
                <a:latin typeface="Calibri" pitchFamily="34" charset="0"/>
                <a:ea typeface="Calibri" pitchFamily="34" charset="-122"/>
                <a:cs typeface="Calibri" pitchFamily="34" charset="-120"/>
              </a:rPr>
              <a:t>Charging Cycles</a:t>
            </a:r>
            <a:endParaRPr lang="en-US" sz="1200" dirty="0"/>
          </a:p>
        </p:txBody>
      </p:sp>
      <p:sp>
        <p:nvSpPr>
          <p:cNvPr id="12" name="Shape 10"/>
          <p:cNvSpPr/>
          <p:nvPr/>
        </p:nvSpPr>
        <p:spPr>
          <a:xfrm>
            <a:off x="548640" y="4114800"/>
            <a:ext cx="2011680" cy="384048"/>
          </a:xfrm>
          <a:prstGeom prst="roundRect">
            <a:avLst>
              <a:gd name="adj" fmla="val 14286"/>
            </a:avLst>
          </a:prstGeom>
          <a:solidFill>
            <a:srgbClr val="EEF3FD"/>
          </a:solidFill>
          <a:ln/>
        </p:spPr>
      </p:sp>
      <p:sp>
        <p:nvSpPr>
          <p:cNvPr id="13" name="Text 11"/>
          <p:cNvSpPr/>
          <p:nvPr/>
        </p:nvSpPr>
        <p:spPr>
          <a:xfrm>
            <a:off x="548640" y="4114800"/>
            <a:ext cx="2011680" cy="384048"/>
          </a:xfrm>
          <a:prstGeom prst="rect">
            <a:avLst/>
          </a:prstGeom>
          <a:noFill/>
          <a:ln/>
        </p:spPr>
        <p:txBody>
          <a:bodyPr wrap="square" rtlCol="0" anchor="ctr"/>
          <a:lstStyle/>
          <a:p>
            <a:pPr marL="0" indent="0" algn="ctr">
              <a:buNone/>
            </a:pPr>
            <a:r>
              <a:rPr lang="en-US" sz="1200" dirty="0">
                <a:solidFill>
                  <a:srgbClr val="1E2761"/>
                </a:solidFill>
                <a:latin typeface="Calibri" pitchFamily="34" charset="0"/>
                <a:ea typeface="Calibri" pitchFamily="34" charset="-122"/>
                <a:cs typeface="Calibri" pitchFamily="34" charset="-120"/>
              </a:rPr>
              <a:t>Battery Temp</a:t>
            </a:r>
            <a:endParaRPr lang="en-US" sz="1200" dirty="0"/>
          </a:p>
        </p:txBody>
      </p:sp>
      <p:sp>
        <p:nvSpPr>
          <p:cNvPr id="14" name="Shape 12"/>
          <p:cNvSpPr/>
          <p:nvPr/>
        </p:nvSpPr>
        <p:spPr>
          <a:xfrm>
            <a:off x="2697480" y="4114800"/>
            <a:ext cx="2011680" cy="384048"/>
          </a:xfrm>
          <a:prstGeom prst="roundRect">
            <a:avLst>
              <a:gd name="adj" fmla="val 14286"/>
            </a:avLst>
          </a:prstGeom>
          <a:solidFill>
            <a:srgbClr val="EEF3FD"/>
          </a:solidFill>
          <a:ln/>
        </p:spPr>
      </p:sp>
      <p:sp>
        <p:nvSpPr>
          <p:cNvPr id="15" name="Text 13"/>
          <p:cNvSpPr/>
          <p:nvPr/>
        </p:nvSpPr>
        <p:spPr>
          <a:xfrm>
            <a:off x="2697480" y="4114800"/>
            <a:ext cx="2011680" cy="384048"/>
          </a:xfrm>
          <a:prstGeom prst="rect">
            <a:avLst/>
          </a:prstGeom>
          <a:noFill/>
          <a:ln/>
        </p:spPr>
        <p:txBody>
          <a:bodyPr wrap="square" rtlCol="0" anchor="ctr"/>
          <a:lstStyle/>
          <a:p>
            <a:pPr marL="0" indent="0" algn="ctr">
              <a:buNone/>
            </a:pPr>
            <a:r>
              <a:rPr lang="en-US" sz="1200" dirty="0">
                <a:solidFill>
                  <a:srgbClr val="1E2761"/>
                </a:solidFill>
                <a:latin typeface="Calibri" pitchFamily="34" charset="0"/>
                <a:ea typeface="Calibri" pitchFamily="34" charset="-122"/>
                <a:cs typeface="Calibri" pitchFamily="34" charset="-120"/>
              </a:rPr>
              <a:t>Motor RPM</a:t>
            </a:r>
            <a:endParaRPr lang="en-US" sz="1200" dirty="0"/>
          </a:p>
        </p:txBody>
      </p:sp>
      <p:sp>
        <p:nvSpPr>
          <p:cNvPr id="16" name="Shape 14"/>
          <p:cNvSpPr/>
          <p:nvPr/>
        </p:nvSpPr>
        <p:spPr>
          <a:xfrm>
            <a:off x="4846320" y="4114800"/>
            <a:ext cx="2011680" cy="384048"/>
          </a:xfrm>
          <a:prstGeom prst="roundRect">
            <a:avLst>
              <a:gd name="adj" fmla="val 14286"/>
            </a:avLst>
          </a:prstGeom>
          <a:solidFill>
            <a:srgbClr val="EEF3FD"/>
          </a:solidFill>
          <a:ln/>
        </p:spPr>
      </p:sp>
      <p:sp>
        <p:nvSpPr>
          <p:cNvPr id="17" name="Text 15"/>
          <p:cNvSpPr/>
          <p:nvPr/>
        </p:nvSpPr>
        <p:spPr>
          <a:xfrm>
            <a:off x="4846320" y="4114800"/>
            <a:ext cx="2011680" cy="384048"/>
          </a:xfrm>
          <a:prstGeom prst="rect">
            <a:avLst/>
          </a:prstGeom>
          <a:noFill/>
          <a:ln/>
        </p:spPr>
        <p:txBody>
          <a:bodyPr wrap="square" rtlCol="0" anchor="ctr"/>
          <a:lstStyle/>
          <a:p>
            <a:pPr marL="0" indent="0" algn="ctr">
              <a:buNone/>
            </a:pPr>
            <a:r>
              <a:rPr lang="en-US" sz="1200" dirty="0">
                <a:solidFill>
                  <a:srgbClr val="1E2761"/>
                </a:solidFill>
                <a:latin typeface="Calibri" pitchFamily="34" charset="0"/>
                <a:ea typeface="Calibri" pitchFamily="34" charset="-122"/>
                <a:cs typeface="Calibri" pitchFamily="34" charset="-120"/>
              </a:rPr>
              <a:t>Motor Torque</a:t>
            </a:r>
            <a:endParaRPr lang="en-US" sz="1200" dirty="0"/>
          </a:p>
        </p:txBody>
      </p:sp>
      <p:sp>
        <p:nvSpPr>
          <p:cNvPr id="18" name="Shape 16"/>
          <p:cNvSpPr/>
          <p:nvPr/>
        </p:nvSpPr>
        <p:spPr>
          <a:xfrm>
            <a:off x="548640" y="4617720"/>
            <a:ext cx="2011680" cy="384048"/>
          </a:xfrm>
          <a:prstGeom prst="roundRect">
            <a:avLst>
              <a:gd name="adj" fmla="val 14286"/>
            </a:avLst>
          </a:prstGeom>
          <a:solidFill>
            <a:srgbClr val="EEF3FD"/>
          </a:solidFill>
          <a:ln/>
        </p:spPr>
      </p:sp>
      <p:sp>
        <p:nvSpPr>
          <p:cNvPr id="19" name="Text 17"/>
          <p:cNvSpPr/>
          <p:nvPr/>
        </p:nvSpPr>
        <p:spPr>
          <a:xfrm>
            <a:off x="548640" y="4617720"/>
            <a:ext cx="2011680" cy="384048"/>
          </a:xfrm>
          <a:prstGeom prst="rect">
            <a:avLst/>
          </a:prstGeom>
          <a:noFill/>
          <a:ln/>
        </p:spPr>
        <p:txBody>
          <a:bodyPr wrap="square" rtlCol="0" anchor="ctr"/>
          <a:lstStyle/>
          <a:p>
            <a:pPr marL="0" indent="0" algn="ctr">
              <a:buNone/>
            </a:pPr>
            <a:r>
              <a:rPr lang="en-US" sz="1200" dirty="0">
                <a:solidFill>
                  <a:srgbClr val="1E2761"/>
                </a:solidFill>
                <a:latin typeface="Calibri" pitchFamily="34" charset="0"/>
                <a:ea typeface="Calibri" pitchFamily="34" charset="-122"/>
                <a:cs typeface="Calibri" pitchFamily="34" charset="-120"/>
              </a:rPr>
              <a:t>Motor Temp</a:t>
            </a:r>
            <a:endParaRPr lang="en-US" sz="1200" dirty="0"/>
          </a:p>
        </p:txBody>
      </p:sp>
      <p:sp>
        <p:nvSpPr>
          <p:cNvPr id="20" name="Shape 18"/>
          <p:cNvSpPr/>
          <p:nvPr/>
        </p:nvSpPr>
        <p:spPr>
          <a:xfrm>
            <a:off x="2697480" y="4617720"/>
            <a:ext cx="2011680" cy="384048"/>
          </a:xfrm>
          <a:prstGeom prst="roundRect">
            <a:avLst>
              <a:gd name="adj" fmla="val 14286"/>
            </a:avLst>
          </a:prstGeom>
          <a:solidFill>
            <a:srgbClr val="EEF3FD"/>
          </a:solidFill>
          <a:ln/>
        </p:spPr>
      </p:sp>
      <p:sp>
        <p:nvSpPr>
          <p:cNvPr id="21" name="Text 19"/>
          <p:cNvSpPr/>
          <p:nvPr/>
        </p:nvSpPr>
        <p:spPr>
          <a:xfrm>
            <a:off x="2697480" y="4617720"/>
            <a:ext cx="2011680" cy="384048"/>
          </a:xfrm>
          <a:prstGeom prst="rect">
            <a:avLst/>
          </a:prstGeom>
          <a:noFill/>
          <a:ln/>
        </p:spPr>
        <p:txBody>
          <a:bodyPr wrap="square" rtlCol="0" anchor="ctr"/>
          <a:lstStyle/>
          <a:p>
            <a:pPr marL="0" indent="0" algn="ctr">
              <a:buNone/>
            </a:pPr>
            <a:r>
              <a:rPr lang="en-US" sz="1200" dirty="0">
                <a:solidFill>
                  <a:srgbClr val="1E2761"/>
                </a:solidFill>
                <a:latin typeface="Calibri" pitchFamily="34" charset="0"/>
                <a:ea typeface="Calibri" pitchFamily="34" charset="-122"/>
                <a:cs typeface="Calibri" pitchFamily="34" charset="-120"/>
              </a:rPr>
              <a:t>Brake Pad Wear</a:t>
            </a:r>
            <a:endParaRPr lang="en-US" sz="1200" dirty="0"/>
          </a:p>
        </p:txBody>
      </p:sp>
      <p:sp>
        <p:nvSpPr>
          <p:cNvPr id="22" name="Shape 20"/>
          <p:cNvSpPr/>
          <p:nvPr/>
        </p:nvSpPr>
        <p:spPr>
          <a:xfrm>
            <a:off x="4846320" y="4617720"/>
            <a:ext cx="2011680" cy="384048"/>
          </a:xfrm>
          <a:prstGeom prst="roundRect">
            <a:avLst>
              <a:gd name="adj" fmla="val 14286"/>
            </a:avLst>
          </a:prstGeom>
          <a:solidFill>
            <a:srgbClr val="EEF3FD"/>
          </a:solidFill>
          <a:ln/>
        </p:spPr>
      </p:sp>
      <p:sp>
        <p:nvSpPr>
          <p:cNvPr id="23" name="Text 21"/>
          <p:cNvSpPr/>
          <p:nvPr/>
        </p:nvSpPr>
        <p:spPr>
          <a:xfrm>
            <a:off x="4846320" y="4617720"/>
            <a:ext cx="2011680" cy="384048"/>
          </a:xfrm>
          <a:prstGeom prst="rect">
            <a:avLst/>
          </a:prstGeom>
          <a:noFill/>
          <a:ln/>
        </p:spPr>
        <p:txBody>
          <a:bodyPr wrap="square" rtlCol="0" anchor="ctr"/>
          <a:lstStyle/>
          <a:p>
            <a:pPr marL="0" indent="0" algn="ctr">
              <a:buNone/>
            </a:pPr>
            <a:r>
              <a:rPr lang="en-US" sz="1200" dirty="0">
                <a:solidFill>
                  <a:srgbClr val="1E2761"/>
                </a:solidFill>
                <a:latin typeface="Calibri" pitchFamily="34" charset="0"/>
                <a:ea typeface="Calibri" pitchFamily="34" charset="-122"/>
                <a:cs typeface="Calibri" pitchFamily="34" charset="-120"/>
              </a:rPr>
              <a:t>Charging Voltage</a:t>
            </a:r>
            <a:endParaRPr lang="en-US" sz="1200" dirty="0"/>
          </a:p>
        </p:txBody>
      </p:sp>
      <p:sp>
        <p:nvSpPr>
          <p:cNvPr id="24" name="Shape 22"/>
          <p:cNvSpPr/>
          <p:nvPr/>
        </p:nvSpPr>
        <p:spPr>
          <a:xfrm>
            <a:off x="548640" y="5120640"/>
            <a:ext cx="2011680" cy="384048"/>
          </a:xfrm>
          <a:prstGeom prst="roundRect">
            <a:avLst>
              <a:gd name="adj" fmla="val 14286"/>
            </a:avLst>
          </a:prstGeom>
          <a:solidFill>
            <a:srgbClr val="EEF3FD"/>
          </a:solidFill>
          <a:ln/>
        </p:spPr>
      </p:sp>
      <p:sp>
        <p:nvSpPr>
          <p:cNvPr id="25" name="Text 23"/>
          <p:cNvSpPr/>
          <p:nvPr/>
        </p:nvSpPr>
        <p:spPr>
          <a:xfrm>
            <a:off x="548640" y="5120640"/>
            <a:ext cx="2011680" cy="384048"/>
          </a:xfrm>
          <a:prstGeom prst="rect">
            <a:avLst/>
          </a:prstGeom>
          <a:noFill/>
          <a:ln/>
        </p:spPr>
        <p:txBody>
          <a:bodyPr wrap="square" rtlCol="0" anchor="ctr"/>
          <a:lstStyle/>
          <a:p>
            <a:pPr marL="0" indent="0" algn="ctr">
              <a:buNone/>
            </a:pPr>
            <a:r>
              <a:rPr lang="en-US" sz="1200" dirty="0">
                <a:solidFill>
                  <a:srgbClr val="1E2761"/>
                </a:solidFill>
                <a:latin typeface="Calibri" pitchFamily="34" charset="0"/>
                <a:ea typeface="Calibri" pitchFamily="34" charset="-122"/>
                <a:cs typeface="Calibri" pitchFamily="34" charset="-120"/>
              </a:rPr>
              <a:t>Tire Pressure</a:t>
            </a:r>
            <a:endParaRPr lang="en-US" sz="1200" dirty="0"/>
          </a:p>
        </p:txBody>
      </p:sp>
      <p:sp>
        <p:nvSpPr>
          <p:cNvPr id="26" name="Shape 24"/>
          <p:cNvSpPr/>
          <p:nvPr/>
        </p:nvSpPr>
        <p:spPr>
          <a:xfrm>
            <a:off x="7040880" y="1737360"/>
            <a:ext cx="4572000" cy="1280160"/>
          </a:xfrm>
          <a:prstGeom prst="roundRect">
            <a:avLst>
              <a:gd name="adj" fmla="val 7143"/>
            </a:avLst>
          </a:prstGeom>
          <a:solidFill>
            <a:srgbClr val="1E2761"/>
          </a:solidFill>
          <a:ln/>
        </p:spPr>
      </p:sp>
      <p:sp>
        <p:nvSpPr>
          <p:cNvPr id="27" name="Text 25"/>
          <p:cNvSpPr/>
          <p:nvPr/>
        </p:nvSpPr>
        <p:spPr>
          <a:xfrm>
            <a:off x="7315200" y="1847088"/>
            <a:ext cx="4023360" cy="685800"/>
          </a:xfrm>
          <a:prstGeom prst="rect">
            <a:avLst/>
          </a:prstGeom>
          <a:noFill/>
          <a:ln/>
        </p:spPr>
        <p:txBody>
          <a:bodyPr wrap="square" rtlCol="0" anchor="ctr"/>
          <a:lstStyle/>
          <a:p>
            <a:pPr marL="0" indent="0">
              <a:buNone/>
            </a:pPr>
            <a:r>
              <a:rPr lang="en-US" sz="3600" b="1" dirty="0">
                <a:solidFill>
                  <a:srgbClr val="F2A93B"/>
                </a:solidFill>
                <a:latin typeface="Cambria" pitchFamily="34" charset="0"/>
                <a:ea typeface="Cambria" pitchFamily="34" charset="-122"/>
                <a:cs typeface="Cambria" pitchFamily="34" charset="-120"/>
              </a:rPr>
              <a:t>175,176</a:t>
            </a:r>
            <a:endParaRPr lang="en-US" sz="3600" dirty="0"/>
          </a:p>
        </p:txBody>
      </p:sp>
      <p:sp>
        <p:nvSpPr>
          <p:cNvPr id="28" name="Text 26"/>
          <p:cNvSpPr/>
          <p:nvPr/>
        </p:nvSpPr>
        <p:spPr>
          <a:xfrm>
            <a:off x="7315200" y="2560320"/>
            <a:ext cx="4023360" cy="365760"/>
          </a:xfrm>
          <a:prstGeom prst="rect">
            <a:avLst/>
          </a:prstGeom>
          <a:noFill/>
          <a:ln/>
        </p:spPr>
        <p:txBody>
          <a:bodyPr wrap="square" rtlCol="0" anchor="ctr"/>
          <a:lstStyle/>
          <a:p>
            <a:pPr marL="0" indent="0">
              <a:buNone/>
            </a:pPr>
            <a:r>
              <a:rPr lang="en-US" sz="1500" dirty="0">
                <a:solidFill>
                  <a:srgbClr val="EEF3FD"/>
                </a:solidFill>
                <a:latin typeface="Calibri" pitchFamily="34" charset="0"/>
                <a:ea typeface="Calibri" pitchFamily="34" charset="-122"/>
                <a:cs typeface="Calibri" pitchFamily="34" charset="-120"/>
              </a:rPr>
              <a:t>hourly readings</a:t>
            </a:r>
            <a:endParaRPr lang="en-US" sz="1500" dirty="0"/>
          </a:p>
        </p:txBody>
      </p:sp>
      <p:sp>
        <p:nvSpPr>
          <p:cNvPr id="29" name="Shape 27"/>
          <p:cNvSpPr/>
          <p:nvPr/>
        </p:nvSpPr>
        <p:spPr>
          <a:xfrm>
            <a:off x="7040880" y="3246120"/>
            <a:ext cx="4572000" cy="1280160"/>
          </a:xfrm>
          <a:prstGeom prst="roundRect">
            <a:avLst>
              <a:gd name="adj" fmla="val 7143"/>
            </a:avLst>
          </a:prstGeom>
          <a:solidFill>
            <a:srgbClr val="1E2761"/>
          </a:solidFill>
          <a:ln/>
        </p:spPr>
      </p:sp>
      <p:sp>
        <p:nvSpPr>
          <p:cNvPr id="30" name="Text 28"/>
          <p:cNvSpPr/>
          <p:nvPr/>
        </p:nvSpPr>
        <p:spPr>
          <a:xfrm>
            <a:off x="7315200" y="3355848"/>
            <a:ext cx="4023360" cy="685800"/>
          </a:xfrm>
          <a:prstGeom prst="rect">
            <a:avLst/>
          </a:prstGeom>
          <a:noFill/>
          <a:ln/>
        </p:spPr>
        <p:txBody>
          <a:bodyPr wrap="square" rtlCol="0" anchor="ctr"/>
          <a:lstStyle/>
          <a:p>
            <a:pPr marL="0" indent="0">
              <a:buNone/>
            </a:pPr>
            <a:r>
              <a:rPr lang="en-US" sz="3600" b="1" dirty="0">
                <a:solidFill>
                  <a:srgbClr val="F2A93B"/>
                </a:solidFill>
                <a:latin typeface="Cambria" pitchFamily="34" charset="0"/>
                <a:ea typeface="Cambria" pitchFamily="34" charset="-122"/>
                <a:cs typeface="Cambria" pitchFamily="34" charset="-120"/>
              </a:rPr>
              <a:t>4</a:t>
            </a:r>
            <a:endParaRPr lang="en-US" sz="3600" dirty="0"/>
          </a:p>
        </p:txBody>
      </p:sp>
      <p:sp>
        <p:nvSpPr>
          <p:cNvPr id="31" name="Text 29"/>
          <p:cNvSpPr/>
          <p:nvPr/>
        </p:nvSpPr>
        <p:spPr>
          <a:xfrm>
            <a:off x="7315200" y="4069080"/>
            <a:ext cx="4023360" cy="365760"/>
          </a:xfrm>
          <a:prstGeom prst="rect">
            <a:avLst/>
          </a:prstGeom>
          <a:noFill/>
          <a:ln/>
        </p:spPr>
        <p:txBody>
          <a:bodyPr wrap="square" rtlCol="0" anchor="ctr"/>
          <a:lstStyle/>
          <a:p>
            <a:pPr marL="0" indent="0">
              <a:buNone/>
            </a:pPr>
            <a:r>
              <a:rPr lang="en-US" sz="1500" dirty="0">
                <a:solidFill>
                  <a:srgbClr val="EEF3FD"/>
                </a:solidFill>
                <a:latin typeface="Calibri" pitchFamily="34" charset="0"/>
                <a:ea typeface="Calibri" pitchFamily="34" charset="-122"/>
                <a:cs typeface="Calibri" pitchFamily="34" charset="-120"/>
              </a:rPr>
              <a:t>vehicles / usage profiles</a:t>
            </a:r>
            <a:endParaRPr lang="en-US" sz="1500" dirty="0"/>
          </a:p>
        </p:txBody>
      </p:sp>
      <p:sp>
        <p:nvSpPr>
          <p:cNvPr id="32" name="Shape 30"/>
          <p:cNvSpPr/>
          <p:nvPr/>
        </p:nvSpPr>
        <p:spPr>
          <a:xfrm>
            <a:off x="7040880" y="4754880"/>
            <a:ext cx="4572000" cy="1280160"/>
          </a:xfrm>
          <a:prstGeom prst="roundRect">
            <a:avLst>
              <a:gd name="adj" fmla="val 7143"/>
            </a:avLst>
          </a:prstGeom>
          <a:solidFill>
            <a:srgbClr val="1E2761"/>
          </a:solidFill>
          <a:ln/>
        </p:spPr>
      </p:sp>
      <p:sp>
        <p:nvSpPr>
          <p:cNvPr id="33" name="Text 31"/>
          <p:cNvSpPr/>
          <p:nvPr/>
        </p:nvSpPr>
        <p:spPr>
          <a:xfrm>
            <a:off x="7315200" y="4864608"/>
            <a:ext cx="4023360" cy="685800"/>
          </a:xfrm>
          <a:prstGeom prst="rect">
            <a:avLst/>
          </a:prstGeom>
          <a:noFill/>
          <a:ln/>
        </p:spPr>
        <p:txBody>
          <a:bodyPr wrap="square" rtlCol="0" anchor="ctr"/>
          <a:lstStyle/>
          <a:p>
            <a:pPr marL="0" indent="0">
              <a:buNone/>
            </a:pPr>
            <a:r>
              <a:rPr lang="en-US" sz="3600" b="1" dirty="0">
                <a:solidFill>
                  <a:srgbClr val="F2A93B"/>
                </a:solidFill>
                <a:latin typeface="Cambria" pitchFamily="34" charset="0"/>
                <a:ea typeface="Cambria" pitchFamily="34" charset="-122"/>
                <a:cs typeface="Cambria" pitchFamily="34" charset="-120"/>
              </a:rPr>
              <a:t>5 yrs</a:t>
            </a:r>
            <a:endParaRPr lang="en-US" sz="3600" dirty="0"/>
          </a:p>
        </p:txBody>
      </p:sp>
      <p:sp>
        <p:nvSpPr>
          <p:cNvPr id="34" name="Text 32"/>
          <p:cNvSpPr/>
          <p:nvPr/>
        </p:nvSpPr>
        <p:spPr>
          <a:xfrm>
            <a:off x="7315200" y="5577840"/>
            <a:ext cx="4023360" cy="365760"/>
          </a:xfrm>
          <a:prstGeom prst="rect">
            <a:avLst/>
          </a:prstGeom>
          <a:noFill/>
          <a:ln/>
        </p:spPr>
        <p:txBody>
          <a:bodyPr wrap="square" rtlCol="0" anchor="ctr"/>
          <a:lstStyle/>
          <a:p>
            <a:pPr marL="0" indent="0">
              <a:buNone/>
            </a:pPr>
            <a:r>
              <a:rPr lang="en-US" sz="1500" dirty="0">
                <a:solidFill>
                  <a:srgbClr val="EEF3FD"/>
                </a:solidFill>
                <a:latin typeface="Calibri" pitchFamily="34" charset="0"/>
                <a:ea typeface="Calibri" pitchFamily="34" charset="-122"/>
                <a:cs typeface="Calibri" pitchFamily="34" charset="-120"/>
              </a:rPr>
              <a:t>Jan 2020 to Dec 2024</a:t>
            </a:r>
            <a:endParaRPr lang="en-US" sz="1500" dirty="0"/>
          </a:p>
        </p:txBody>
      </p:sp>
      <p:sp>
        <p:nvSpPr>
          <p:cNvPr id="35" name="Text 33"/>
          <p:cNvSpPr/>
          <p:nvPr/>
        </p:nvSpPr>
        <p:spPr>
          <a:xfrm>
            <a:off x="11612880" y="6446520"/>
            <a:ext cx="365760" cy="274320"/>
          </a:xfrm>
          <a:prstGeom prst="rect">
            <a:avLst/>
          </a:prstGeom>
          <a:noFill/>
          <a:ln/>
        </p:spPr>
        <p:txBody>
          <a:bodyPr wrap="square" rtlCol="0" anchor="ctr"/>
          <a:lstStyle/>
          <a:p>
            <a:pPr marL="0" indent="0" algn="r">
              <a:buNone/>
            </a:pPr>
            <a:r>
              <a:rPr lang="en-US" sz="1000" dirty="0">
                <a:solidFill>
                  <a:srgbClr val="9AA3B5"/>
                </a:solidFill>
                <a:latin typeface="Calibri" pitchFamily="34" charset="0"/>
                <a:ea typeface="Calibri" pitchFamily="34" charset="-122"/>
                <a:cs typeface="Calibri" pitchFamily="34" charset="-120"/>
              </a:rPr>
              <a:t>06</a:t>
            </a:r>
            <a:endParaRPr lang="en-US" sz="1200" dirty="0"/>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Eyebrow"/>
          <p:cNvSpPr txBox="1"/>
          <p:nvPr/>
        </p:nvSpPr>
        <p:spPr>
          <a:xfrm>
            <a:off x="640080" y="525071"/>
            <a:ext cx="9144001" cy="156865"/>
          </a:xfrm>
          <a:prstGeom prst="rect">
            <a:avLst/>
          </a:prstGeom>
          <a:ln w="12700">
            <a:miter lim="400000"/>
          </a:ln>
        </p:spPr>
        <p:txBody>
          <a:bodyPr lIns="0" tIns="0" rIns="0" bIns="0" anchor="ctr">
            <a:spAutoFit/>
          </a:bodyPr>
          <a:lstStyle>
            <a:lvl1pPr>
              <a:defRPr sz="1400" b="1" spc="200">
                <a:solidFill>
                  <a:srgbClr val="D97706"/>
                </a:solidFill>
                <a:latin typeface="+mn-lt"/>
                <a:ea typeface="+mn-ea"/>
                <a:cs typeface="+mn-cs"/>
                <a:sym typeface="Calibri"/>
              </a:defRPr>
            </a:lvl1pPr>
          </a:lstStyle>
          <a:p>
            <a:r>
              <a:t>FROM FORECAST TO CLASSIFICATION</a:t>
            </a:r>
          </a:p>
        </p:txBody>
      </p:sp>
      <p:sp>
        <p:nvSpPr>
          <p:cNvPr id="221" name="Title"/>
          <p:cNvSpPr txBox="1"/>
          <p:nvPr/>
        </p:nvSpPr>
        <p:spPr>
          <a:xfrm>
            <a:off x="640080" y="786382"/>
            <a:ext cx="10881360" cy="430887"/>
          </a:xfrm>
          <a:prstGeom prst="rect">
            <a:avLst/>
          </a:prstGeom>
          <a:ln w="12700">
            <a:miter lim="400000"/>
          </a:ln>
        </p:spPr>
        <p:txBody>
          <a:bodyPr lIns="0" tIns="0" rIns="0" bIns="0">
            <a:spAutoFit/>
          </a:bodyPr>
          <a:lstStyle>
            <a:lvl1pPr>
              <a:defRPr sz="2900">
                <a:solidFill>
                  <a:srgbClr val="1E2761"/>
                </a:solidFill>
                <a:latin typeface="Cambria"/>
                <a:ea typeface="Cambria"/>
                <a:cs typeface="Cambria"/>
                <a:sym typeface="Cambria"/>
              </a:defRPr>
            </a:lvl1pPr>
          </a:lstStyle>
          <a:p>
            <a:r>
              <a:t>How we turned this into a yes/no question</a:t>
            </a:r>
          </a:p>
        </p:txBody>
      </p:sp>
      <p:sp>
        <p:nvSpPr>
          <p:cNvPr id="222" name="ExampleBox"/>
          <p:cNvSpPr/>
          <p:nvPr/>
        </p:nvSpPr>
        <p:spPr>
          <a:xfrm>
            <a:off x="640080" y="1737360"/>
            <a:ext cx="5486400" cy="4297680"/>
          </a:xfrm>
          <a:prstGeom prst="roundRect">
            <a:avLst>
              <a:gd name="adj" fmla="val 2540"/>
            </a:avLst>
          </a:prstGeom>
          <a:solidFill>
            <a:srgbClr val="F7F8FB"/>
          </a:solidFill>
          <a:ln w="12700">
            <a:solidFill>
              <a:srgbClr val="E2E4EC"/>
            </a:solidFill>
          </a:ln>
        </p:spPr>
        <p:txBody>
          <a:bodyPr lIns="45718" tIns="45718" rIns="45718" bIns="45718"/>
          <a:lstStyle/>
          <a:p>
            <a:endParaRPr/>
          </a:p>
        </p:txBody>
      </p:sp>
      <p:sp>
        <p:nvSpPr>
          <p:cNvPr id="223" name="ExampleTitle"/>
          <p:cNvSpPr txBox="1"/>
          <p:nvPr/>
        </p:nvSpPr>
        <p:spPr>
          <a:xfrm>
            <a:off x="914400" y="1965960"/>
            <a:ext cx="4937760" cy="393701"/>
          </a:xfrm>
          <a:prstGeom prst="rect">
            <a:avLst/>
          </a:prstGeom>
          <a:ln w="12700">
            <a:miter lim="400000"/>
          </a:ln>
        </p:spPr>
        <p:txBody>
          <a:bodyPr lIns="0" tIns="0" rIns="0" bIns="0" anchor="ctr">
            <a:spAutoFit/>
          </a:bodyPr>
          <a:lstStyle>
            <a:lvl1pPr>
              <a:defRPr sz="1700" b="1">
                <a:solidFill>
                  <a:srgbClr val="1E2761"/>
                </a:solidFill>
                <a:latin typeface="+mn-lt"/>
                <a:ea typeface="+mn-ea"/>
                <a:cs typeface="+mn-cs"/>
                <a:sym typeface="Calibri"/>
              </a:defRPr>
            </a:lvl1pPr>
          </a:lstStyle>
          <a:p>
            <a:r>
              <a:t>What we start with vs. what we predict</a:t>
            </a:r>
          </a:p>
        </p:txBody>
      </p:sp>
      <p:sp>
        <p:nvSpPr>
          <p:cNvPr id="224" name="ExampleBullets"/>
          <p:cNvSpPr txBox="1"/>
          <p:nvPr/>
        </p:nvSpPr>
        <p:spPr>
          <a:xfrm>
            <a:off x="914400" y="2461233"/>
            <a:ext cx="4937760" cy="3400000"/>
          </a:xfrm>
          <a:prstGeom prst="rect">
            <a:avLst/>
          </a:prstGeom>
          <a:ln w="12700">
            <a:miter lim="400000"/>
          </a:ln>
        </p:spPr>
        <p:txBody>
          <a:bodyPr lIns="0" tIns="0" rIns="0" bIns="0">
            <a:spAutoFit/>
          </a:bodyPr>
          <a:lstStyle>
            <a:lvl1pPr>
              <a:lnSpc>
                <a:spcPct val="130000"/>
              </a:lnSpc>
              <a:defRPr sz="1500">
                <a:solidFill>
                  <a:srgbClr val="3A3F52"/>
                </a:solidFill>
                <a:latin typeface="+mn-lt"/>
                <a:ea typeface="+mn-ea"/>
                <a:cs typeface="+mn-cs"/>
                <a:sym typeface="Calibri"/>
              </a:defRPr>
            </a:lvl1pPr>
          </a:lstStyle>
          <a:p>
            <a:pPr marL="257175" indent="-257175">
              <a:spcBef>
                <a:spcPts val="600"/>
              </a:spcBef>
              <a:buChar char="•"/>
            </a:pPr>
            <a:r>
              <a:rPr b="1"/>
              <a:t>Raw data: </a:t>
            </a:r>
            <a:r>
              <a:t>hourly sensor readings per vehicle, grouped by usage profile (daily, heavy, moderate, rare)</a:t>
            </a:r>
          </a:p>
          <a:p>
            <a:pPr marL="257175" indent="-257175">
              <a:spcBef>
                <a:spcPts val="600"/>
              </a:spcBef>
              <a:buChar char="•"/>
            </a:pPr>
            <a:r>
              <a:rPr b="1"/>
              <a:t>Engineered target: </a:t>
            </a:r>
            <a:r>
              <a:t>for every hour, we look 6 hours ahead in that same vehicle's history and label it fault or no fault</a:t>
            </a:r>
          </a:p>
          <a:p>
            <a:pPr marL="257175" indent="-257175">
              <a:spcBef>
                <a:spcPts val="600"/>
              </a:spcBef>
              <a:buChar char="•"/>
            </a:pPr>
            <a:r>
              <a:rPr b="1"/>
              <a:t>Result: </a:t>
            </a:r>
            <a:r>
              <a:t>one classification decision per hour, yes or no, not a continuous forecast</a:t>
            </a:r>
          </a:p>
          <a:p>
            <a:pPr marL="0" indent="0">
              <a:spcBef>
                <a:spcPts val="1200"/>
              </a:spcBef>
              <a:buNone/>
            </a:pPr>
            <a:r>
              <a:t>Grouping by usage profile keeps one vehicle's history from leaking into another's label.</a:t>
            </a:r>
          </a:p>
        </p:txBody>
      </p:sp>
      <p:sp>
        <p:nvSpPr>
          <p:cNvPr id="225" name="AppCard"/>
          <p:cNvSpPr/>
          <p:nvPr/>
        </p:nvSpPr>
        <p:spPr>
          <a:xfrm>
            <a:off x="6400800" y="1737360"/>
            <a:ext cx="5150800" cy="1950000"/>
          </a:xfrm>
          <a:prstGeom prst="roundRect">
            <a:avLst>
              <a:gd name="adj" fmla="val 2540"/>
            </a:avLst>
          </a:prstGeom>
          <a:solidFill>
            <a:srgbClr val="1E2761"/>
          </a:solidFill>
          <a:ln w="12700">
            <a:miter lim="400000"/>
          </a:ln>
        </p:spPr>
        <p:txBody>
          <a:bodyPr lIns="45718" tIns="45718" rIns="45718" bIns="45718"/>
          <a:lstStyle/>
          <a:p>
            <a:endParaRPr/>
          </a:p>
        </p:txBody>
      </p:sp>
      <p:sp>
        <p:nvSpPr>
          <p:cNvPr id="226" name="AppCardTitle"/>
          <p:cNvSpPr txBox="1"/>
          <p:nvPr/>
        </p:nvSpPr>
        <p:spPr>
          <a:xfrm>
            <a:off x="6675080" y="1965960"/>
            <a:ext cx="4602240" cy="393701"/>
          </a:xfrm>
          <a:prstGeom prst="rect">
            <a:avLst/>
          </a:prstGeom>
          <a:ln w="12700">
            <a:miter lim="400000"/>
          </a:ln>
        </p:spPr>
        <p:txBody>
          <a:bodyPr lIns="0" tIns="0" rIns="0" bIns="0" anchor="ctr">
            <a:spAutoFit/>
          </a:bodyPr>
          <a:lstStyle>
            <a:lvl1pPr>
              <a:defRPr sz="1700" b="1">
                <a:solidFill>
                  <a:srgbClr val="F2A93B"/>
                </a:solidFill>
                <a:latin typeface="+mn-lt"/>
                <a:ea typeface="+mn-ea"/>
                <a:cs typeface="+mn-cs"/>
                <a:sym typeface="Calibri"/>
              </a:defRPr>
            </a:lvl1pPr>
          </a:lstStyle>
          <a:p>
            <a:r>
              <a:t>The assumption we're making</a:t>
            </a:r>
          </a:p>
        </p:txBody>
      </p:sp>
      <p:sp>
        <p:nvSpPr>
          <p:cNvPr id="227" name="AppCardBody"/>
          <p:cNvSpPr txBox="1"/>
          <p:nvPr/>
        </p:nvSpPr>
        <p:spPr>
          <a:xfrm>
            <a:off x="6675080" y="2461233"/>
            <a:ext cx="4602240" cy="1150000"/>
          </a:xfrm>
          <a:prstGeom prst="rect">
            <a:avLst/>
          </a:prstGeom>
          <a:ln w="12700">
            <a:miter lim="400000"/>
          </a:ln>
        </p:spPr>
        <p:txBody>
          <a:bodyPr lIns="0" tIns="0" rIns="0" bIns="0">
            <a:spAutoFit/>
          </a:bodyPr>
          <a:lstStyle>
            <a:lvl1pPr>
              <a:lnSpc>
                <a:spcPct val="125000"/>
              </a:lnSpc>
              <a:defRPr sz="1400">
                <a:solidFill>
                  <a:srgbClr val="F5F3EE"/>
                </a:solidFill>
                <a:latin typeface="+mn-lt"/>
                <a:ea typeface="+mn-ea"/>
                <a:cs typeface="+mn-cs"/>
                <a:sym typeface="Calibri"/>
              </a:defRPr>
            </a:lvl1pPr>
          </a:lstStyle>
          <a:p>
            <a:r>
              <a:t>We assume our 4 training usage profiles represent the fleet well enough to generalize. That's a modeling choice, not a fact about the world.</a:t>
            </a:r>
          </a:p>
        </p:txBody>
      </p:sp>
      <p:sp>
        <p:nvSpPr>
          <p:cNvPr id="228" name="LimitCard"/>
          <p:cNvSpPr/>
          <p:nvPr/>
        </p:nvSpPr>
        <p:spPr>
          <a:xfrm>
            <a:off x="6400800" y="3886200"/>
            <a:ext cx="5150800" cy="2148840"/>
          </a:xfrm>
          <a:prstGeom prst="roundRect">
            <a:avLst>
              <a:gd name="adj" fmla="val 2540"/>
            </a:avLst>
          </a:prstGeom>
          <a:solidFill>
            <a:srgbClr val="FDF3E0"/>
          </a:solidFill>
          <a:ln w="12700">
            <a:solidFill>
              <a:srgbClr val="F2A93B"/>
            </a:solidFill>
          </a:ln>
        </p:spPr>
        <p:txBody>
          <a:bodyPr lIns="45718" tIns="45718" rIns="45718" bIns="45718"/>
          <a:lstStyle/>
          <a:p>
            <a:endParaRPr/>
          </a:p>
        </p:txBody>
      </p:sp>
      <p:sp>
        <p:nvSpPr>
          <p:cNvPr id="229" name="LimitCardTitle"/>
          <p:cNvSpPr txBox="1"/>
          <p:nvPr/>
        </p:nvSpPr>
        <p:spPr>
          <a:xfrm>
            <a:off x="6675080" y="4114800"/>
            <a:ext cx="4602240" cy="393701"/>
          </a:xfrm>
          <a:prstGeom prst="rect">
            <a:avLst/>
          </a:prstGeom>
          <a:ln w="12700">
            <a:miter lim="400000"/>
          </a:ln>
        </p:spPr>
        <p:txBody>
          <a:bodyPr lIns="0" tIns="0" rIns="0" bIns="0" anchor="ctr">
            <a:spAutoFit/>
          </a:bodyPr>
          <a:lstStyle>
            <a:lvl1pPr>
              <a:defRPr sz="1700" b="1">
                <a:solidFill>
                  <a:srgbClr val="1E2761"/>
                </a:solidFill>
                <a:latin typeface="+mn-lt"/>
                <a:ea typeface="+mn-ea"/>
                <a:cs typeface="+mn-cs"/>
                <a:sym typeface="Calibri"/>
              </a:defRPr>
            </a:lvl1pPr>
          </a:lstStyle>
          <a:p>
            <a:r>
              <a:t>The limitation</a:t>
            </a:r>
          </a:p>
        </p:txBody>
      </p:sp>
      <p:sp>
        <p:nvSpPr>
          <p:cNvPr id="230" name="LimitCardBody"/>
          <p:cNvSpPr txBox="1"/>
          <p:nvPr/>
        </p:nvSpPr>
        <p:spPr>
          <a:xfrm>
            <a:off x="6675080" y="4610073"/>
            <a:ext cx="4602240" cy="1300000"/>
          </a:xfrm>
          <a:prstGeom prst="rect">
            <a:avLst/>
          </a:prstGeom>
          <a:ln w="12700">
            <a:miter lim="400000"/>
          </a:ln>
        </p:spPr>
        <p:txBody>
          <a:bodyPr lIns="0" tIns="0" rIns="0" bIns="0">
            <a:spAutoFit/>
          </a:bodyPr>
          <a:lstStyle>
            <a:lvl1pPr>
              <a:lnSpc>
                <a:spcPct val="125000"/>
              </a:lnSpc>
              <a:defRPr sz="1400">
                <a:solidFill>
                  <a:srgbClr val="3A3F52"/>
                </a:solidFill>
                <a:latin typeface="+mn-lt"/>
                <a:ea typeface="+mn-ea"/>
                <a:cs typeface="+mn-cs"/>
                <a:sym typeface="Calibri"/>
              </a:defRPr>
            </a:lvl1pPr>
          </a:lstStyle>
          <a:p>
            <a:r>
              <a:t>More vehicles and battery types in training would make us more confident the pattern holds outside these 4 profiles.</a:t>
            </a:r>
          </a:p>
        </p:txBody>
      </p:sp>
      <p:sp>
        <p:nvSpPr>
          <p:cNvPr id="231" name="PageNum"/>
          <p:cNvSpPr txBox="1"/>
          <p:nvPr/>
        </p:nvSpPr>
        <p:spPr>
          <a:xfrm>
            <a:off x="11277295" y="6423704"/>
            <a:ext cx="548642" cy="137071"/>
          </a:xfrm>
          <a:prstGeom prst="rect">
            <a:avLst/>
          </a:prstGeom>
          <a:ln w="12700">
            <a:miter lim="400000"/>
          </a:ln>
        </p:spPr>
        <p:txBody>
          <a:bodyPr lIns="0" tIns="0" rIns="0" bIns="0" anchor="ctr">
            <a:spAutoFit/>
          </a:bodyPr>
          <a:lstStyle>
            <a:lvl1pPr algn="r">
              <a:defRPr sz="1000">
                <a:solidFill>
                  <a:srgbClr val="B7BAC6"/>
                </a:solidFill>
                <a:latin typeface="+mn-lt"/>
                <a:ea typeface="+mn-ea"/>
                <a:cs typeface="+mn-cs"/>
                <a:sym typeface="Calibri"/>
              </a:defRPr>
            </a:lvl1pPr>
          </a:lstStyle>
          <a:p>
            <a:r>
              <a:t>07</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 0"/>
          <p:cNvSpPr txBox="1"/>
          <p:nvPr/>
        </p:nvSpPr>
        <p:spPr>
          <a:xfrm>
            <a:off x="640080" y="511171"/>
            <a:ext cx="9144001" cy="1846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400" b="1" spc="200">
                <a:solidFill>
                  <a:srgbClr val="D97706"/>
                </a:solidFill>
                <a:latin typeface="+mn-lt"/>
                <a:ea typeface="+mn-ea"/>
                <a:cs typeface="+mn-cs"/>
                <a:sym typeface="Calibri"/>
              </a:defRPr>
            </a:lvl1pPr>
          </a:lstStyle>
          <a:p>
            <a:r>
              <a:rPr lang="de-DE" dirty="0"/>
              <a:t>ML WORKFLOW</a:t>
            </a:r>
            <a:endParaRPr dirty="0"/>
          </a:p>
        </p:txBody>
      </p:sp>
      <p:sp>
        <p:nvSpPr>
          <p:cNvPr id="49" name="Text 1"/>
          <p:cNvSpPr txBox="1"/>
          <p:nvPr/>
        </p:nvSpPr>
        <p:spPr>
          <a:xfrm>
            <a:off x="640080" y="786383"/>
            <a:ext cx="10881360" cy="4154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900">
                <a:solidFill>
                  <a:srgbClr val="1E2761"/>
                </a:solidFill>
                <a:latin typeface="Cambria"/>
                <a:ea typeface="Cambria"/>
                <a:cs typeface="Cambria"/>
                <a:sym typeface="Cambria"/>
              </a:defRPr>
            </a:lvl1pPr>
          </a:lstStyle>
          <a:p>
            <a:r>
              <a:rPr lang="de-DE" dirty="0"/>
              <a:t>From raw sensors to a forecast</a:t>
            </a:r>
            <a:endParaRPr dirty="0"/>
          </a:p>
        </p:txBody>
      </p:sp>
      <p:sp>
        <p:nvSpPr>
          <p:cNvPr id="50" name="Shape 2"/>
          <p:cNvSpPr/>
          <p:nvPr/>
        </p:nvSpPr>
        <p:spPr>
          <a:xfrm>
            <a:off x="640080" y="1965960"/>
            <a:ext cx="2514601" cy="3063240"/>
          </a:xfrm>
          <a:prstGeom prst="roundRect">
            <a:avLst>
              <a:gd name="adj" fmla="val 2909"/>
            </a:avLst>
          </a:prstGeom>
          <a:solidFill>
            <a:srgbClr val="F7F8FB"/>
          </a:solidFill>
          <a:ln w="12700">
            <a:solidFill>
              <a:srgbClr val="E2E4EC"/>
            </a:solidFill>
          </a:ln>
        </p:spPr>
        <p:txBody>
          <a:bodyPr lIns="45718" tIns="45718" rIns="45718" bIns="45718"/>
          <a:lstStyle/>
          <a:p>
            <a:pPr>
              <a:defRPr>
                <a:latin typeface="+mn-lt"/>
                <a:ea typeface="+mn-ea"/>
                <a:cs typeface="+mn-cs"/>
                <a:sym typeface="Calibri"/>
              </a:defRPr>
            </a:pPr>
            <a:endParaRPr/>
          </a:p>
        </p:txBody>
      </p:sp>
      <p:sp>
        <p:nvSpPr>
          <p:cNvPr id="51" name="Text 3"/>
          <p:cNvSpPr txBox="1"/>
          <p:nvPr/>
        </p:nvSpPr>
        <p:spPr>
          <a:xfrm>
            <a:off x="841247" y="2244598"/>
            <a:ext cx="2148841" cy="393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800">
                <a:solidFill>
                  <a:srgbClr val="D97706"/>
                </a:solidFill>
                <a:latin typeface="Cambria"/>
                <a:ea typeface="Cambria"/>
                <a:cs typeface="Cambria"/>
                <a:sym typeface="Cambria"/>
              </a:defRPr>
            </a:lvl1pPr>
          </a:lstStyle>
          <a:p>
            <a:r>
              <a:t>01</a:t>
            </a:r>
          </a:p>
        </p:txBody>
      </p:sp>
      <p:sp>
        <p:nvSpPr>
          <p:cNvPr id="52" name="Text 4"/>
          <p:cNvSpPr txBox="1"/>
          <p:nvPr/>
        </p:nvSpPr>
        <p:spPr>
          <a:xfrm>
            <a:off x="841246" y="2879244"/>
            <a:ext cx="2112268" cy="2308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700" b="1">
                <a:solidFill>
                  <a:srgbClr val="1E2761"/>
                </a:solidFill>
                <a:latin typeface="+mn-lt"/>
                <a:ea typeface="+mn-ea"/>
                <a:cs typeface="+mn-cs"/>
                <a:sym typeface="Calibri"/>
              </a:defRPr>
            </a:lvl1pPr>
          </a:lstStyle>
          <a:p>
            <a:r>
              <a:rPr lang="de-DE" dirty="0"/>
              <a:t>EDA</a:t>
            </a:r>
            <a:endParaRPr dirty="0"/>
          </a:p>
        </p:txBody>
      </p:sp>
      <p:sp>
        <p:nvSpPr>
          <p:cNvPr id="53" name="Text 5"/>
          <p:cNvSpPr txBox="1"/>
          <p:nvPr/>
        </p:nvSpPr>
        <p:spPr>
          <a:xfrm>
            <a:off x="841246" y="3871087"/>
            <a:ext cx="2112268" cy="386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nSpc>
                <a:spcPct val="117999"/>
              </a:lnSpc>
              <a:defRPr sz="1300">
                <a:solidFill>
                  <a:srgbClr val="6B7280"/>
                </a:solidFill>
                <a:latin typeface="+mn-lt"/>
                <a:ea typeface="+mn-ea"/>
                <a:cs typeface="+mn-cs"/>
                <a:sym typeface="Calibri"/>
              </a:defRPr>
            </a:lvl1pPr>
          </a:lstStyle>
          <a:p>
            <a:r>
              <a:rPr lang="en-US" dirty="0"/>
              <a:t>Explore all 4 usage profiles</a:t>
            </a:r>
          </a:p>
          <a:p>
            <a:endParaRPr dirty="0"/>
          </a:p>
        </p:txBody>
      </p:sp>
      <p:sp>
        <p:nvSpPr>
          <p:cNvPr id="54" name="Text 6"/>
          <p:cNvSpPr txBox="1"/>
          <p:nvPr/>
        </p:nvSpPr>
        <p:spPr>
          <a:xfrm>
            <a:off x="3172966" y="3393002"/>
            <a:ext cx="182882" cy="2091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800">
                <a:solidFill>
                  <a:srgbClr val="6B7280"/>
                </a:solidFill>
                <a:latin typeface="+mn-lt"/>
                <a:ea typeface="+mn-ea"/>
                <a:cs typeface="+mn-cs"/>
                <a:sym typeface="Calibri"/>
              </a:defRPr>
            </a:lvl1pPr>
          </a:lstStyle>
          <a:p>
            <a:r>
              <a:t>→</a:t>
            </a:r>
          </a:p>
        </p:txBody>
      </p:sp>
      <p:sp>
        <p:nvSpPr>
          <p:cNvPr id="55" name="Shape 7"/>
          <p:cNvSpPr/>
          <p:nvPr/>
        </p:nvSpPr>
        <p:spPr>
          <a:xfrm>
            <a:off x="3374135" y="1965960"/>
            <a:ext cx="2514602" cy="3063240"/>
          </a:xfrm>
          <a:prstGeom prst="roundRect">
            <a:avLst>
              <a:gd name="adj" fmla="val 2909"/>
            </a:avLst>
          </a:prstGeom>
          <a:solidFill>
            <a:srgbClr val="F7F8FB"/>
          </a:solidFill>
          <a:ln w="12700">
            <a:solidFill>
              <a:srgbClr val="E2E4EC"/>
            </a:solidFill>
          </a:ln>
        </p:spPr>
        <p:txBody>
          <a:bodyPr lIns="45718" tIns="45718" rIns="45718" bIns="45718"/>
          <a:lstStyle/>
          <a:p>
            <a:pPr>
              <a:defRPr>
                <a:latin typeface="+mn-lt"/>
                <a:ea typeface="+mn-ea"/>
                <a:cs typeface="+mn-cs"/>
                <a:sym typeface="Calibri"/>
              </a:defRPr>
            </a:pPr>
            <a:endParaRPr/>
          </a:p>
        </p:txBody>
      </p:sp>
      <p:sp>
        <p:nvSpPr>
          <p:cNvPr id="56" name="Text 8"/>
          <p:cNvSpPr txBox="1"/>
          <p:nvPr/>
        </p:nvSpPr>
        <p:spPr>
          <a:xfrm>
            <a:off x="3575303" y="2244598"/>
            <a:ext cx="2148841" cy="393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800">
                <a:solidFill>
                  <a:srgbClr val="D97706"/>
                </a:solidFill>
                <a:latin typeface="Cambria"/>
                <a:ea typeface="Cambria"/>
                <a:cs typeface="Cambria"/>
                <a:sym typeface="Cambria"/>
              </a:defRPr>
            </a:lvl1pPr>
          </a:lstStyle>
          <a:p>
            <a:r>
              <a:t>02</a:t>
            </a:r>
          </a:p>
        </p:txBody>
      </p:sp>
      <p:sp>
        <p:nvSpPr>
          <p:cNvPr id="57" name="Text 9"/>
          <p:cNvSpPr txBox="1"/>
          <p:nvPr/>
        </p:nvSpPr>
        <p:spPr>
          <a:xfrm>
            <a:off x="3575303" y="2879244"/>
            <a:ext cx="2112266" cy="2308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700" b="1">
                <a:solidFill>
                  <a:srgbClr val="1E2761"/>
                </a:solidFill>
                <a:latin typeface="+mn-lt"/>
                <a:ea typeface="+mn-ea"/>
                <a:cs typeface="+mn-cs"/>
                <a:sym typeface="Calibri"/>
              </a:defRPr>
            </a:lvl1pPr>
          </a:lstStyle>
          <a:p>
            <a:r>
              <a:rPr lang="de-DE" dirty="0"/>
              <a:t>Feature </a:t>
            </a:r>
            <a:r>
              <a:rPr dirty="0"/>
              <a:t>Engineer</a:t>
            </a:r>
            <a:r>
              <a:rPr lang="de-DE" dirty="0"/>
              <a:t>ing</a:t>
            </a:r>
            <a:endParaRPr dirty="0"/>
          </a:p>
        </p:txBody>
      </p:sp>
      <p:sp>
        <p:nvSpPr>
          <p:cNvPr id="58" name="Text 10"/>
          <p:cNvSpPr txBox="1"/>
          <p:nvPr/>
        </p:nvSpPr>
        <p:spPr>
          <a:xfrm>
            <a:off x="3575303" y="3871088"/>
            <a:ext cx="2112266" cy="386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nSpc>
                <a:spcPct val="117999"/>
              </a:lnSpc>
              <a:defRPr sz="1300">
                <a:solidFill>
                  <a:srgbClr val="6B7280"/>
                </a:solidFill>
                <a:latin typeface="+mn-lt"/>
                <a:ea typeface="+mn-ea"/>
                <a:cs typeface="+mn-cs"/>
                <a:sym typeface="Calibri"/>
              </a:defRPr>
            </a:lvl1pPr>
          </a:lstStyle>
          <a:p>
            <a:r>
              <a:rPr lang="en-US" dirty="0"/>
              <a:t>Turn raw sensor history into useful signals</a:t>
            </a:r>
          </a:p>
          <a:p>
            <a:endParaRPr dirty="0"/>
          </a:p>
        </p:txBody>
      </p:sp>
      <p:sp>
        <p:nvSpPr>
          <p:cNvPr id="59" name="Text 11"/>
          <p:cNvSpPr txBox="1"/>
          <p:nvPr/>
        </p:nvSpPr>
        <p:spPr>
          <a:xfrm>
            <a:off x="5907023" y="3393002"/>
            <a:ext cx="182882" cy="2091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800">
                <a:solidFill>
                  <a:srgbClr val="6B7280"/>
                </a:solidFill>
                <a:latin typeface="+mn-lt"/>
                <a:ea typeface="+mn-ea"/>
                <a:cs typeface="+mn-cs"/>
                <a:sym typeface="Calibri"/>
              </a:defRPr>
            </a:lvl1pPr>
          </a:lstStyle>
          <a:p>
            <a:r>
              <a:t>→</a:t>
            </a:r>
          </a:p>
        </p:txBody>
      </p:sp>
      <p:sp>
        <p:nvSpPr>
          <p:cNvPr id="60" name="Shape 12"/>
          <p:cNvSpPr/>
          <p:nvPr/>
        </p:nvSpPr>
        <p:spPr>
          <a:xfrm>
            <a:off x="6108191" y="1965960"/>
            <a:ext cx="2514602" cy="3063240"/>
          </a:xfrm>
          <a:prstGeom prst="roundRect">
            <a:avLst>
              <a:gd name="adj" fmla="val 2909"/>
            </a:avLst>
          </a:prstGeom>
          <a:solidFill>
            <a:srgbClr val="F7F8FB"/>
          </a:solidFill>
          <a:ln w="12700">
            <a:solidFill>
              <a:srgbClr val="E2E4EC"/>
            </a:solidFill>
          </a:ln>
        </p:spPr>
        <p:txBody>
          <a:bodyPr lIns="45718" tIns="45718" rIns="45718" bIns="45718"/>
          <a:lstStyle/>
          <a:p>
            <a:pPr>
              <a:defRPr>
                <a:latin typeface="+mn-lt"/>
                <a:ea typeface="+mn-ea"/>
                <a:cs typeface="+mn-cs"/>
                <a:sym typeface="Calibri"/>
              </a:defRPr>
            </a:pPr>
            <a:endParaRPr/>
          </a:p>
        </p:txBody>
      </p:sp>
      <p:sp>
        <p:nvSpPr>
          <p:cNvPr id="61" name="Text 13"/>
          <p:cNvSpPr txBox="1"/>
          <p:nvPr/>
        </p:nvSpPr>
        <p:spPr>
          <a:xfrm>
            <a:off x="6309359" y="2244598"/>
            <a:ext cx="2148841" cy="393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800">
                <a:solidFill>
                  <a:srgbClr val="D97706"/>
                </a:solidFill>
                <a:latin typeface="Cambria"/>
                <a:ea typeface="Cambria"/>
                <a:cs typeface="Cambria"/>
                <a:sym typeface="Cambria"/>
              </a:defRPr>
            </a:lvl1pPr>
          </a:lstStyle>
          <a:p>
            <a:r>
              <a:t>03</a:t>
            </a:r>
          </a:p>
        </p:txBody>
      </p:sp>
      <p:sp>
        <p:nvSpPr>
          <p:cNvPr id="62" name="Text 14"/>
          <p:cNvSpPr txBox="1"/>
          <p:nvPr/>
        </p:nvSpPr>
        <p:spPr>
          <a:xfrm>
            <a:off x="6309359" y="2879244"/>
            <a:ext cx="2112266" cy="2308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700" b="1">
                <a:solidFill>
                  <a:srgbClr val="1E2761"/>
                </a:solidFill>
                <a:latin typeface="+mn-lt"/>
                <a:ea typeface="+mn-ea"/>
                <a:cs typeface="+mn-cs"/>
                <a:sym typeface="Calibri"/>
              </a:defRPr>
            </a:lvl1pPr>
          </a:lstStyle>
          <a:p>
            <a:r>
              <a:rPr lang="de-DE" dirty="0"/>
              <a:t>F</a:t>
            </a:r>
            <a:r>
              <a:rPr dirty="0" err="1"/>
              <a:t>eature</a:t>
            </a:r>
            <a:r>
              <a:rPr lang="de-DE" dirty="0"/>
              <a:t> Selection</a:t>
            </a:r>
            <a:endParaRPr dirty="0"/>
          </a:p>
        </p:txBody>
      </p:sp>
      <p:sp>
        <p:nvSpPr>
          <p:cNvPr id="63" name="Text 15"/>
          <p:cNvSpPr txBox="1"/>
          <p:nvPr/>
        </p:nvSpPr>
        <p:spPr>
          <a:xfrm>
            <a:off x="6309359" y="3471621"/>
            <a:ext cx="2112266" cy="11857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nSpc>
                <a:spcPct val="117999"/>
              </a:lnSpc>
              <a:defRPr sz="1300">
                <a:solidFill>
                  <a:srgbClr val="6B7280"/>
                </a:solidFill>
                <a:latin typeface="+mn-lt"/>
                <a:ea typeface="+mn-ea"/>
                <a:cs typeface="+mn-cs"/>
                <a:sym typeface="Calibri"/>
              </a:defRPr>
            </a:lvl1pPr>
          </a:lstStyle>
          <a:p>
            <a:r>
              <a:rPr lang="en-US" dirty="0"/>
              <a:t>Keep only the signals that actually predict a fault</a:t>
            </a:r>
          </a:p>
        </p:txBody>
      </p:sp>
      <p:sp>
        <p:nvSpPr>
          <p:cNvPr id="64" name="Text 16"/>
          <p:cNvSpPr txBox="1"/>
          <p:nvPr/>
        </p:nvSpPr>
        <p:spPr>
          <a:xfrm>
            <a:off x="8641080" y="3393002"/>
            <a:ext cx="182882" cy="2091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800">
                <a:solidFill>
                  <a:srgbClr val="6B7280"/>
                </a:solidFill>
                <a:latin typeface="+mn-lt"/>
                <a:ea typeface="+mn-ea"/>
                <a:cs typeface="+mn-cs"/>
                <a:sym typeface="Calibri"/>
              </a:defRPr>
            </a:lvl1pPr>
          </a:lstStyle>
          <a:p>
            <a:r>
              <a:t>→</a:t>
            </a:r>
          </a:p>
        </p:txBody>
      </p:sp>
      <p:sp>
        <p:nvSpPr>
          <p:cNvPr id="65" name="Shape 17"/>
          <p:cNvSpPr/>
          <p:nvPr/>
        </p:nvSpPr>
        <p:spPr>
          <a:xfrm>
            <a:off x="8842247" y="1965960"/>
            <a:ext cx="2514602" cy="3063240"/>
          </a:xfrm>
          <a:prstGeom prst="roundRect">
            <a:avLst>
              <a:gd name="adj" fmla="val 2909"/>
            </a:avLst>
          </a:prstGeom>
          <a:solidFill>
            <a:srgbClr val="1E2761"/>
          </a:solidFill>
          <a:ln w="12700">
            <a:miter lim="400000"/>
          </a:ln>
        </p:spPr>
        <p:txBody>
          <a:bodyPr lIns="45718" tIns="45718" rIns="45718" bIns="45718"/>
          <a:lstStyle/>
          <a:p>
            <a:pPr>
              <a:defRPr>
                <a:latin typeface="+mn-lt"/>
                <a:ea typeface="+mn-ea"/>
                <a:cs typeface="+mn-cs"/>
                <a:sym typeface="Calibri"/>
              </a:defRPr>
            </a:pPr>
            <a:endParaRPr/>
          </a:p>
        </p:txBody>
      </p:sp>
      <p:sp>
        <p:nvSpPr>
          <p:cNvPr id="66" name="Text 18"/>
          <p:cNvSpPr txBox="1"/>
          <p:nvPr/>
        </p:nvSpPr>
        <p:spPr>
          <a:xfrm>
            <a:off x="9043416" y="2244598"/>
            <a:ext cx="2148842" cy="393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800">
                <a:solidFill>
                  <a:srgbClr val="D97706"/>
                </a:solidFill>
                <a:latin typeface="Cambria"/>
                <a:ea typeface="Cambria"/>
                <a:cs typeface="Cambria"/>
                <a:sym typeface="Cambria"/>
              </a:defRPr>
            </a:lvl1pPr>
          </a:lstStyle>
          <a:p>
            <a:r>
              <a:t>04</a:t>
            </a:r>
          </a:p>
        </p:txBody>
      </p:sp>
      <p:sp>
        <p:nvSpPr>
          <p:cNvPr id="67" name="Text 19"/>
          <p:cNvSpPr txBox="1"/>
          <p:nvPr/>
        </p:nvSpPr>
        <p:spPr>
          <a:xfrm>
            <a:off x="9043416" y="2901381"/>
            <a:ext cx="2112266" cy="1865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700" b="1">
                <a:solidFill>
                  <a:srgbClr val="FFFFFF"/>
                </a:solidFill>
                <a:latin typeface="+mn-lt"/>
                <a:ea typeface="+mn-ea"/>
                <a:cs typeface="+mn-cs"/>
                <a:sym typeface="Calibri"/>
              </a:defRPr>
            </a:lvl1pPr>
          </a:lstStyle>
          <a:p>
            <a:r>
              <a:t>Model &amp; tune</a:t>
            </a:r>
          </a:p>
        </p:txBody>
      </p:sp>
      <p:sp>
        <p:nvSpPr>
          <p:cNvPr id="68" name="Text 20"/>
          <p:cNvSpPr txBox="1"/>
          <p:nvPr/>
        </p:nvSpPr>
        <p:spPr>
          <a:xfrm>
            <a:off x="9043416" y="3871088"/>
            <a:ext cx="2112266" cy="386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nSpc>
                <a:spcPct val="117999"/>
              </a:lnSpc>
              <a:defRPr sz="1300">
                <a:solidFill>
                  <a:srgbClr val="F5F3EE"/>
                </a:solidFill>
                <a:latin typeface="+mn-lt"/>
                <a:ea typeface="+mn-ea"/>
                <a:cs typeface="+mn-cs"/>
                <a:sym typeface="Calibri"/>
              </a:defRPr>
            </a:lvl1pPr>
          </a:lstStyle>
          <a:p>
            <a:pPr marL="171450" indent="-171450">
              <a:buFont typeface="Arial" panose="020B0604020202020204" pitchFamily="34" charset="0"/>
              <a:buChar char="•"/>
            </a:pPr>
            <a:r>
              <a:rPr dirty="0"/>
              <a:t>Logistic regression baseline </a:t>
            </a:r>
            <a:endParaRPr lang="de-DE" dirty="0"/>
          </a:p>
          <a:p>
            <a:pPr marL="171450" indent="-171450">
              <a:buFont typeface="Arial" panose="020B0604020202020204" pitchFamily="34" charset="0"/>
              <a:buChar char="•"/>
            </a:pPr>
            <a:r>
              <a:rPr dirty="0"/>
              <a:t>tuned Random Forest &amp; </a:t>
            </a:r>
            <a:r>
              <a:rPr dirty="0" err="1"/>
              <a:t>XGBoost</a:t>
            </a:r>
            <a:r>
              <a:rPr dirty="0"/>
              <a:t>, </a:t>
            </a:r>
          </a:p>
        </p:txBody>
      </p:sp>
      <p:sp>
        <p:nvSpPr>
          <p:cNvPr id="70" name="Text 22"/>
          <p:cNvSpPr txBox="1"/>
          <p:nvPr/>
        </p:nvSpPr>
        <p:spPr>
          <a:xfrm>
            <a:off x="11277295" y="6423704"/>
            <a:ext cx="548642" cy="1370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r">
              <a:defRPr sz="1000">
                <a:solidFill>
                  <a:srgbClr val="B7BAC6"/>
                </a:solidFill>
                <a:latin typeface="+mn-lt"/>
                <a:ea typeface="+mn-ea"/>
                <a:cs typeface="+mn-cs"/>
                <a:sym typeface="Calibri"/>
              </a:defRPr>
            </a:lvl1pPr>
          </a:lstStyle>
          <a:p>
            <a:r>
              <a:t>08</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Text 0"/>
          <p:cNvSpPr txBox="1"/>
          <p:nvPr/>
        </p:nvSpPr>
        <p:spPr>
          <a:xfrm>
            <a:off x="640080" y="525071"/>
            <a:ext cx="9144001" cy="1568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400" b="1" spc="200">
                <a:solidFill>
                  <a:srgbClr val="D97706"/>
                </a:solidFill>
                <a:latin typeface="+mn-lt"/>
                <a:ea typeface="+mn-ea"/>
                <a:cs typeface="+mn-cs"/>
                <a:sym typeface="Calibri"/>
              </a:defRPr>
            </a:lvl1pPr>
          </a:lstStyle>
          <a:p>
            <a:r>
              <a:t>EDA</a:t>
            </a:r>
          </a:p>
        </p:txBody>
      </p:sp>
      <p:sp>
        <p:nvSpPr>
          <p:cNvPr id="73" name="Text 1"/>
          <p:cNvSpPr txBox="1"/>
          <p:nvPr/>
        </p:nvSpPr>
        <p:spPr>
          <a:xfrm>
            <a:off x="640080" y="786382"/>
            <a:ext cx="10881360" cy="4308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700">
                <a:solidFill>
                  <a:srgbClr val="1E2761"/>
                </a:solidFill>
                <a:latin typeface="Cambria"/>
                <a:ea typeface="Cambria"/>
                <a:cs typeface="Cambria"/>
                <a:sym typeface="Cambria"/>
              </a:defRPr>
            </a:lvl1pPr>
          </a:lstStyle>
          <a:p>
            <a:r>
              <a:rPr lang="en-US" sz="3000" dirty="0">
                <a:latin typeface="Cambria" pitchFamily="34" charset="0"/>
                <a:ea typeface="Cambria" pitchFamily="34" charset="-122"/>
                <a:cs typeface="Cambria" pitchFamily="34" charset="-120"/>
              </a:rPr>
              <a:t>Fault rate already differs by usage profile</a:t>
            </a:r>
            <a:endParaRPr lang="en-US" sz="3000" dirty="0"/>
          </a:p>
        </p:txBody>
      </p:sp>
      <p:sp>
        <p:nvSpPr>
          <p:cNvPr id="74" name="Shape 2"/>
          <p:cNvSpPr/>
          <p:nvPr/>
        </p:nvSpPr>
        <p:spPr>
          <a:xfrm>
            <a:off x="8010142" y="1304897"/>
            <a:ext cx="3502154" cy="1371602"/>
          </a:xfrm>
          <a:prstGeom prst="roundRect">
            <a:avLst>
              <a:gd name="adj" fmla="val 5333"/>
            </a:avLst>
          </a:prstGeom>
          <a:solidFill>
            <a:srgbClr val="F7F8FB"/>
          </a:solidFill>
          <a:ln w="12700">
            <a:solidFill>
              <a:srgbClr val="E2E4EC"/>
            </a:solidFill>
          </a:ln>
        </p:spPr>
        <p:txBody>
          <a:bodyPr lIns="45718" tIns="45718" rIns="45718" bIns="45718"/>
          <a:lstStyle/>
          <a:p>
            <a:pPr>
              <a:defRPr>
                <a:latin typeface="+mn-lt"/>
                <a:ea typeface="+mn-ea"/>
                <a:cs typeface="+mn-cs"/>
                <a:sym typeface="Calibri"/>
              </a:defRPr>
            </a:pPr>
            <a:endParaRPr/>
          </a:p>
        </p:txBody>
      </p:sp>
      <p:sp>
        <p:nvSpPr>
          <p:cNvPr id="75" name="Text 3"/>
          <p:cNvSpPr txBox="1"/>
          <p:nvPr/>
        </p:nvSpPr>
        <p:spPr>
          <a:xfrm>
            <a:off x="8193023" y="1442057"/>
            <a:ext cx="3136395" cy="457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3200">
                <a:solidFill>
                  <a:srgbClr val="1E2761"/>
                </a:solidFill>
                <a:latin typeface="Cambria"/>
                <a:ea typeface="Cambria"/>
                <a:cs typeface="Cambria"/>
                <a:sym typeface="Cambria"/>
              </a:defRPr>
            </a:lvl1pPr>
          </a:lstStyle>
          <a:p>
            <a:r>
              <a:t>0</a:t>
            </a:r>
          </a:p>
        </p:txBody>
      </p:sp>
      <p:sp>
        <p:nvSpPr>
          <p:cNvPr id="76" name="Text 4"/>
          <p:cNvSpPr txBox="1"/>
          <p:nvPr/>
        </p:nvSpPr>
        <p:spPr>
          <a:xfrm>
            <a:off x="8193023" y="1963266"/>
            <a:ext cx="3136395" cy="3154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12000"/>
              </a:lnSpc>
              <a:defRPr sz="1300">
                <a:solidFill>
                  <a:srgbClr val="6B7280"/>
                </a:solidFill>
                <a:latin typeface="+mn-lt"/>
                <a:ea typeface="+mn-ea"/>
                <a:cs typeface="+mn-cs"/>
                <a:sym typeface="Calibri"/>
              </a:defRPr>
            </a:lvl1pPr>
          </a:lstStyle>
          <a:p>
            <a:r>
              <a:t>missing values across all 175,176 rows and 4 vehicle timelines</a:t>
            </a:r>
          </a:p>
        </p:txBody>
      </p:sp>
      <p:sp>
        <p:nvSpPr>
          <p:cNvPr id="77" name="Shape 5"/>
          <p:cNvSpPr/>
          <p:nvPr/>
        </p:nvSpPr>
        <p:spPr>
          <a:xfrm>
            <a:off x="8010142" y="2923761"/>
            <a:ext cx="3502154" cy="1371602"/>
          </a:xfrm>
          <a:prstGeom prst="roundRect">
            <a:avLst>
              <a:gd name="adj" fmla="val 5333"/>
            </a:avLst>
          </a:prstGeom>
          <a:solidFill>
            <a:srgbClr val="F7F8FB"/>
          </a:solidFill>
          <a:ln w="12700">
            <a:solidFill>
              <a:srgbClr val="E2E4EC"/>
            </a:solidFill>
          </a:ln>
        </p:spPr>
        <p:txBody>
          <a:bodyPr lIns="45718" tIns="45718" rIns="45718" bIns="45718"/>
          <a:lstStyle/>
          <a:p>
            <a:pPr>
              <a:defRPr>
                <a:latin typeface="+mn-lt"/>
                <a:ea typeface="+mn-ea"/>
                <a:cs typeface="+mn-cs"/>
                <a:sym typeface="Calibri"/>
              </a:defRPr>
            </a:pPr>
            <a:endParaRPr/>
          </a:p>
        </p:txBody>
      </p:sp>
      <p:sp>
        <p:nvSpPr>
          <p:cNvPr id="78" name="Text 6"/>
          <p:cNvSpPr txBox="1"/>
          <p:nvPr/>
        </p:nvSpPr>
        <p:spPr>
          <a:xfrm>
            <a:off x="8193023" y="3060920"/>
            <a:ext cx="3136394" cy="457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3200">
                <a:solidFill>
                  <a:srgbClr val="1E2761"/>
                </a:solidFill>
                <a:latin typeface="Cambria"/>
                <a:ea typeface="Cambria"/>
                <a:cs typeface="Cambria"/>
                <a:sym typeface="Cambria"/>
              </a:defRPr>
            </a:lvl1pPr>
          </a:lstStyle>
          <a:p>
            <a:r>
              <a:t>2.6×</a:t>
            </a:r>
          </a:p>
        </p:txBody>
      </p:sp>
      <p:sp>
        <p:nvSpPr>
          <p:cNvPr id="79" name="Text 7"/>
          <p:cNvSpPr txBox="1"/>
          <p:nvPr/>
        </p:nvSpPr>
        <p:spPr>
          <a:xfrm>
            <a:off x="8193023" y="3582129"/>
            <a:ext cx="3136394" cy="3154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12000"/>
              </a:lnSpc>
              <a:defRPr sz="1300">
                <a:solidFill>
                  <a:srgbClr val="6B7280"/>
                </a:solidFill>
                <a:latin typeface="+mn-lt"/>
                <a:ea typeface="+mn-ea"/>
                <a:cs typeface="+mn-cs"/>
                <a:sym typeface="Calibri"/>
              </a:defRPr>
            </a:lvl1pPr>
          </a:lstStyle>
          <a:p>
            <a:r>
              <a:t>fault-rate spread: heavy (2.57%) vs. rare (0.99%) usage profile</a:t>
            </a:r>
          </a:p>
        </p:txBody>
      </p:sp>
      <p:sp>
        <p:nvSpPr>
          <p:cNvPr id="80" name="Shape 8"/>
          <p:cNvSpPr/>
          <p:nvPr/>
        </p:nvSpPr>
        <p:spPr>
          <a:xfrm>
            <a:off x="8010142" y="4546600"/>
            <a:ext cx="3502154" cy="1371600"/>
          </a:xfrm>
          <a:prstGeom prst="roundRect">
            <a:avLst>
              <a:gd name="adj" fmla="val 5333"/>
            </a:avLst>
          </a:prstGeom>
          <a:solidFill>
            <a:srgbClr val="F7F8FB"/>
          </a:solidFill>
          <a:ln w="12700">
            <a:solidFill>
              <a:srgbClr val="E2E4EC"/>
            </a:solidFill>
          </a:ln>
        </p:spPr>
        <p:txBody>
          <a:bodyPr lIns="45718" tIns="45718" rIns="45718" bIns="45718"/>
          <a:lstStyle/>
          <a:p>
            <a:pPr>
              <a:defRPr>
                <a:latin typeface="+mn-lt"/>
                <a:ea typeface="+mn-ea"/>
                <a:cs typeface="+mn-cs"/>
                <a:sym typeface="Calibri"/>
              </a:defRPr>
            </a:pPr>
            <a:endParaRPr/>
          </a:p>
        </p:txBody>
      </p:sp>
      <p:sp>
        <p:nvSpPr>
          <p:cNvPr id="81" name="Text 9"/>
          <p:cNvSpPr txBox="1"/>
          <p:nvPr/>
        </p:nvSpPr>
        <p:spPr>
          <a:xfrm>
            <a:off x="8193023" y="4683759"/>
            <a:ext cx="3136395" cy="457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3200">
                <a:solidFill>
                  <a:srgbClr val="1E2761"/>
                </a:solidFill>
                <a:latin typeface="Cambria"/>
                <a:ea typeface="Cambria"/>
                <a:cs typeface="Cambria"/>
                <a:sym typeface="Cambria"/>
              </a:defRPr>
            </a:lvl1pPr>
          </a:lstStyle>
          <a:p>
            <a:r>
              <a:t>9.05%</a:t>
            </a:r>
          </a:p>
        </p:txBody>
      </p:sp>
      <p:sp>
        <p:nvSpPr>
          <p:cNvPr id="82" name="Text 10"/>
          <p:cNvSpPr txBox="1"/>
          <p:nvPr/>
        </p:nvSpPr>
        <p:spPr>
          <a:xfrm>
            <a:off x="8193023" y="5204967"/>
            <a:ext cx="3136395" cy="3690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12000"/>
              </a:lnSpc>
              <a:defRPr sz="1300">
                <a:solidFill>
                  <a:srgbClr val="6B7280"/>
                </a:solidFill>
                <a:latin typeface="+mn-lt"/>
                <a:ea typeface="+mn-ea"/>
                <a:cs typeface="+mn-cs"/>
                <a:sym typeface="Calibri"/>
              </a:defRPr>
            </a:lvl1pPr>
          </a:lstStyle>
          <a:p>
            <a:r>
              <a:rPr dirty="0"/>
              <a:t>of rows are positive for Fault_Within_6h</a:t>
            </a:r>
            <a:r>
              <a:rPr lang="de-DE" dirty="0"/>
              <a:t>,</a:t>
            </a:r>
            <a:r>
              <a:rPr dirty="0"/>
              <a:t> the modeling target</a:t>
            </a:r>
          </a:p>
        </p:txBody>
      </p:sp>
      <p:sp>
        <p:nvSpPr>
          <p:cNvPr id="83" name="Text 12"/>
          <p:cNvSpPr txBox="1"/>
          <p:nvPr/>
        </p:nvSpPr>
        <p:spPr>
          <a:xfrm>
            <a:off x="11277295" y="6423704"/>
            <a:ext cx="548642" cy="1370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r">
              <a:defRPr sz="1000">
                <a:solidFill>
                  <a:srgbClr val="B7BAC6"/>
                </a:solidFill>
                <a:latin typeface="+mn-lt"/>
                <a:ea typeface="+mn-ea"/>
                <a:cs typeface="+mn-cs"/>
                <a:sym typeface="Calibri"/>
              </a:defRPr>
            </a:lvl1pPr>
          </a:lstStyle>
          <a:p>
            <a:r>
              <a:t>09</a:t>
            </a:r>
          </a:p>
        </p:txBody>
      </p:sp>
      <p:pic>
        <p:nvPicPr>
          <p:cNvPr id="84" name="pasted-movie.png" descr="pasted-movie.png"/>
          <p:cNvPicPr>
            <a:picLocks noChangeAspect="1"/>
          </p:cNvPicPr>
          <p:nvPr/>
        </p:nvPicPr>
        <p:blipFill>
          <a:blip r:embed="rId3"/>
          <a:stretch>
            <a:fillRect/>
          </a:stretch>
        </p:blipFill>
        <p:spPr>
          <a:xfrm>
            <a:off x="450121" y="1351798"/>
            <a:ext cx="6270053" cy="4515527"/>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rtlCol="0" anchor="ctr"/>
          <a:lstStyle/>
          <a:p>
            <a:pPr marL="0" indent="0">
              <a:buNone/>
            </a:pPr>
            <a:r>
              <a:rPr lang="en-US" sz="1400" b="1" spc="200" dirty="0">
                <a:solidFill>
                  <a:srgbClr val="D97706"/>
                </a:solidFill>
                <a:latin typeface="+mn-lt"/>
                <a:ea typeface="+mn-ea"/>
                <a:cs typeface="+mn-cs"/>
                <a:sym typeface="Calibri"/>
              </a:rPr>
              <a:t>BASELINE</a:t>
            </a:r>
            <a:r>
              <a:rPr lang="en-US" sz="1300" b="1" kern="0" spc="200" dirty="0">
                <a:solidFill>
                  <a:srgbClr val="F2A93B"/>
                </a:solidFill>
                <a:latin typeface="Calibri" pitchFamily="34" charset="0"/>
                <a:ea typeface="Calibri" pitchFamily="34" charset="-122"/>
                <a:cs typeface="Calibri" pitchFamily="34" charset="-120"/>
              </a:rPr>
              <a:t> </a:t>
            </a:r>
            <a:r>
              <a:rPr lang="en-US" sz="1400" b="1" spc="200" dirty="0">
                <a:solidFill>
                  <a:srgbClr val="D97706"/>
                </a:solidFill>
                <a:latin typeface="+mn-lt"/>
                <a:ea typeface="+mn-ea"/>
                <a:cs typeface="+mn-cs"/>
              </a:rPr>
              <a:t>MODEL</a:t>
            </a:r>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400" dirty="0">
                <a:solidFill>
                  <a:srgbClr val="1E2761"/>
                </a:solidFill>
                <a:latin typeface="Cambria" pitchFamily="34" charset="0"/>
                <a:ea typeface="Cambria" pitchFamily="34" charset="-122"/>
                <a:cs typeface="Cambria" pitchFamily="34" charset="-120"/>
              </a:rPr>
              <a:t>Logistic Regression, all 4 vehicles</a:t>
            </a:r>
            <a:endParaRPr lang="en-US" sz="3400" dirty="0"/>
          </a:p>
        </p:txBody>
      </p:sp>
      <p:sp>
        <p:nvSpPr>
          <p:cNvPr id="4" name="Text 2"/>
          <p:cNvSpPr/>
          <p:nvPr/>
        </p:nvSpPr>
        <p:spPr>
          <a:xfrm>
            <a:off x="548640" y="1691640"/>
            <a:ext cx="11064240" cy="960120"/>
          </a:xfrm>
          <a:prstGeom prst="rect">
            <a:avLst/>
          </a:prstGeom>
          <a:noFill/>
          <a:ln/>
        </p:spPr>
        <p:txBody>
          <a:bodyPr wrap="square" rtlCol="0" anchor="ctr"/>
          <a:lstStyle/>
          <a:p>
            <a:pPr marL="342900" indent="-342900">
              <a:lnSpc>
                <a:spcPct val="125000"/>
              </a:lnSpc>
              <a:spcAft>
                <a:spcPts val="400"/>
              </a:spcAft>
              <a:buSzPct val="100000"/>
              <a:buChar char="•"/>
            </a:pPr>
            <a:r>
              <a:rPr lang="en-US" sz="1700" dirty="0">
                <a:solidFill>
                  <a:srgbClr val="1E2761"/>
                </a:solidFill>
                <a:latin typeface="Calibri" pitchFamily="34" charset="0"/>
                <a:ea typeface="Calibri" pitchFamily="34" charset="-122"/>
                <a:cs typeface="Calibri" pitchFamily="34" charset="-120"/>
              </a:rPr>
              <a:t>A simple first model, trained on all 10 raw sensors across all 4 vehicles</a:t>
            </a:r>
            <a:endParaRPr lang="en-US" sz="1700" dirty="0"/>
          </a:p>
          <a:p>
            <a:pPr marL="342900" indent="-342900">
              <a:lnSpc>
                <a:spcPct val="125000"/>
              </a:lnSpc>
              <a:spcAft>
                <a:spcPts val="400"/>
              </a:spcAft>
              <a:buSzPct val="100000"/>
              <a:buChar char="•"/>
            </a:pPr>
            <a:r>
              <a:rPr lang="en-US" sz="1700" dirty="0">
                <a:solidFill>
                  <a:srgbClr val="1E2761"/>
                </a:solidFill>
                <a:latin typeface="Calibri" pitchFamily="34" charset="0"/>
                <a:ea typeface="Calibri" pitchFamily="34" charset="-122"/>
                <a:cs typeface="Calibri" pitchFamily="34" charset="-120"/>
              </a:rPr>
              <a:t>Predicts whether a fault will happen in the next 6 hours</a:t>
            </a:r>
            <a:endParaRPr lang="en-US" sz="1700" dirty="0"/>
          </a:p>
          <a:p>
            <a:pPr marL="342900" indent="-342900">
              <a:lnSpc>
                <a:spcPct val="125000"/>
              </a:lnSpc>
              <a:spcAft>
                <a:spcPts val="400"/>
              </a:spcAft>
              <a:buSzPct val="100000"/>
              <a:buChar char="•"/>
            </a:pPr>
            <a:r>
              <a:rPr lang="en-US" sz="1700" dirty="0">
                <a:solidFill>
                  <a:srgbClr val="1E2761"/>
                </a:solidFill>
                <a:latin typeface="Calibri" pitchFamily="34" charset="0"/>
                <a:ea typeface="Calibri" pitchFamily="34" charset="-122"/>
                <a:cs typeface="Calibri" pitchFamily="34" charset="-120"/>
              </a:rPr>
              <a:t>Forecasts ahead, rather than just detecting a fault that's already happening</a:t>
            </a:r>
            <a:endParaRPr lang="en-US" sz="1700" dirty="0"/>
          </a:p>
        </p:txBody>
      </p:sp>
      <p:sp>
        <p:nvSpPr>
          <p:cNvPr id="5" name="Shape 3"/>
          <p:cNvSpPr/>
          <p:nvPr/>
        </p:nvSpPr>
        <p:spPr>
          <a:xfrm>
            <a:off x="548640" y="2743200"/>
            <a:ext cx="2606040" cy="1828800"/>
          </a:xfrm>
          <a:prstGeom prst="roundRect">
            <a:avLst>
              <a:gd name="adj" fmla="val 5000"/>
            </a:avLst>
          </a:prstGeom>
          <a:solidFill>
            <a:srgbClr val="EEF3FD"/>
          </a:solidFill>
          <a:ln/>
        </p:spPr>
      </p:sp>
      <p:sp>
        <p:nvSpPr>
          <p:cNvPr id="6" name="Text 4"/>
          <p:cNvSpPr/>
          <p:nvPr/>
        </p:nvSpPr>
        <p:spPr>
          <a:xfrm>
            <a:off x="548640" y="2880360"/>
            <a:ext cx="2606040" cy="777240"/>
          </a:xfrm>
          <a:prstGeom prst="rect">
            <a:avLst/>
          </a:prstGeom>
          <a:noFill/>
          <a:ln/>
        </p:spPr>
        <p:txBody>
          <a:bodyPr wrap="square" rtlCol="0" anchor="ctr"/>
          <a:lstStyle/>
          <a:p>
            <a:pPr marL="0" indent="0" algn="ctr">
              <a:buNone/>
            </a:pPr>
            <a:r>
              <a:rPr lang="en-US" sz="3200" b="1" dirty="0">
                <a:solidFill>
                  <a:srgbClr val="1E2761"/>
                </a:solidFill>
                <a:latin typeface="Cambria" pitchFamily="34" charset="0"/>
                <a:ea typeface="Cambria" pitchFamily="34" charset="-122"/>
                <a:cs typeface="Cambria" pitchFamily="34" charset="-120"/>
              </a:rPr>
              <a:t>65.0%</a:t>
            </a:r>
            <a:endParaRPr lang="en-US" sz="3200" dirty="0"/>
          </a:p>
        </p:txBody>
      </p:sp>
      <p:sp>
        <p:nvSpPr>
          <p:cNvPr id="7" name="Text 5"/>
          <p:cNvSpPr/>
          <p:nvPr/>
        </p:nvSpPr>
        <p:spPr>
          <a:xfrm>
            <a:off x="640080" y="3657600"/>
            <a:ext cx="2423160" cy="777240"/>
          </a:xfrm>
          <a:prstGeom prst="rect">
            <a:avLst/>
          </a:prstGeom>
          <a:noFill/>
          <a:ln/>
        </p:spPr>
        <p:txBody>
          <a:bodyPr wrap="square" rtlCol="0" anchor="t"/>
          <a:lstStyle/>
          <a:p>
            <a:pPr marL="0" indent="0" algn="ctr">
              <a:buNone/>
            </a:pPr>
            <a:r>
              <a:rPr lang="en-US" sz="1350" dirty="0">
                <a:solidFill>
                  <a:srgbClr val="5B6478"/>
                </a:solidFill>
                <a:latin typeface="Calibri" pitchFamily="34" charset="0"/>
                <a:ea typeface="Calibri" pitchFamily="34" charset="-122"/>
                <a:cs typeface="Calibri" pitchFamily="34" charset="-120"/>
              </a:rPr>
              <a:t>Overall accuracy</a:t>
            </a:r>
            <a:endParaRPr lang="en-US" sz="1350" dirty="0"/>
          </a:p>
        </p:txBody>
      </p:sp>
      <p:sp>
        <p:nvSpPr>
          <p:cNvPr id="8" name="Shape 6"/>
          <p:cNvSpPr/>
          <p:nvPr/>
        </p:nvSpPr>
        <p:spPr>
          <a:xfrm>
            <a:off x="3383280" y="2743200"/>
            <a:ext cx="2606040" cy="1828800"/>
          </a:xfrm>
          <a:prstGeom prst="roundRect">
            <a:avLst>
              <a:gd name="adj" fmla="val 5000"/>
            </a:avLst>
          </a:prstGeom>
          <a:solidFill>
            <a:srgbClr val="EEF3FD"/>
          </a:solidFill>
          <a:ln/>
        </p:spPr>
      </p:sp>
      <p:sp>
        <p:nvSpPr>
          <p:cNvPr id="9" name="Text 7"/>
          <p:cNvSpPr/>
          <p:nvPr/>
        </p:nvSpPr>
        <p:spPr>
          <a:xfrm>
            <a:off x="3383280" y="2880360"/>
            <a:ext cx="2606040" cy="777240"/>
          </a:xfrm>
          <a:prstGeom prst="rect">
            <a:avLst/>
          </a:prstGeom>
          <a:noFill/>
          <a:ln/>
        </p:spPr>
        <p:txBody>
          <a:bodyPr wrap="square" rtlCol="0" anchor="ctr"/>
          <a:lstStyle/>
          <a:p>
            <a:pPr marL="0" indent="0" algn="ctr">
              <a:buNone/>
            </a:pPr>
            <a:r>
              <a:rPr lang="en-US" sz="3200" b="1" dirty="0">
                <a:solidFill>
                  <a:srgbClr val="1E2761"/>
                </a:solidFill>
                <a:latin typeface="Cambria" pitchFamily="34" charset="0"/>
                <a:ea typeface="Cambria" pitchFamily="34" charset="-122"/>
                <a:cs typeface="Cambria" pitchFamily="34" charset="-120"/>
              </a:rPr>
              <a:t>52.0%</a:t>
            </a:r>
            <a:endParaRPr lang="en-US" sz="3200" dirty="0"/>
          </a:p>
        </p:txBody>
      </p:sp>
      <p:sp>
        <p:nvSpPr>
          <p:cNvPr id="10" name="Text 8"/>
          <p:cNvSpPr/>
          <p:nvPr/>
        </p:nvSpPr>
        <p:spPr>
          <a:xfrm>
            <a:off x="3474720" y="3657600"/>
            <a:ext cx="2423160" cy="777240"/>
          </a:xfrm>
          <a:prstGeom prst="rect">
            <a:avLst/>
          </a:prstGeom>
          <a:noFill/>
          <a:ln/>
        </p:spPr>
        <p:txBody>
          <a:bodyPr wrap="square" rtlCol="0" anchor="t"/>
          <a:lstStyle/>
          <a:p>
            <a:pPr marL="0" indent="0" algn="ctr">
              <a:buNone/>
            </a:pPr>
            <a:r>
              <a:rPr lang="en-US" sz="1350" dirty="0">
                <a:solidFill>
                  <a:srgbClr val="5B6478"/>
                </a:solidFill>
                <a:latin typeface="Calibri" pitchFamily="34" charset="0"/>
                <a:ea typeface="Calibri" pitchFamily="34" charset="-122"/>
                <a:cs typeface="Calibri" pitchFamily="34" charset="-120"/>
              </a:rPr>
              <a:t>% of real faults caught</a:t>
            </a:r>
            <a:endParaRPr lang="en-US" sz="1350" dirty="0"/>
          </a:p>
        </p:txBody>
      </p:sp>
      <p:sp>
        <p:nvSpPr>
          <p:cNvPr id="11" name="Shape 9"/>
          <p:cNvSpPr/>
          <p:nvPr/>
        </p:nvSpPr>
        <p:spPr>
          <a:xfrm>
            <a:off x="6217920" y="2743200"/>
            <a:ext cx="2606040" cy="1828800"/>
          </a:xfrm>
          <a:prstGeom prst="roundRect">
            <a:avLst>
              <a:gd name="adj" fmla="val 5000"/>
            </a:avLst>
          </a:prstGeom>
          <a:solidFill>
            <a:srgbClr val="EEF3FD"/>
          </a:solidFill>
          <a:ln/>
        </p:spPr>
      </p:sp>
      <p:sp>
        <p:nvSpPr>
          <p:cNvPr id="12" name="Text 10"/>
          <p:cNvSpPr/>
          <p:nvPr/>
        </p:nvSpPr>
        <p:spPr>
          <a:xfrm>
            <a:off x="6217920" y="2880360"/>
            <a:ext cx="2606040" cy="777240"/>
          </a:xfrm>
          <a:prstGeom prst="rect">
            <a:avLst/>
          </a:prstGeom>
          <a:noFill/>
          <a:ln/>
        </p:spPr>
        <p:txBody>
          <a:bodyPr wrap="square" rtlCol="0" anchor="ctr"/>
          <a:lstStyle/>
          <a:p>
            <a:pPr marL="0" indent="0" algn="ctr">
              <a:buNone/>
            </a:pPr>
            <a:r>
              <a:rPr lang="en-US" sz="3200" b="1" dirty="0">
                <a:solidFill>
                  <a:srgbClr val="1E2761"/>
                </a:solidFill>
                <a:latin typeface="Cambria" pitchFamily="34" charset="0"/>
                <a:ea typeface="Cambria" pitchFamily="34" charset="-122"/>
                <a:cs typeface="Cambria" pitchFamily="34" charset="-120"/>
              </a:rPr>
              <a:t>13.3%</a:t>
            </a:r>
            <a:endParaRPr lang="en-US" sz="3200" dirty="0"/>
          </a:p>
        </p:txBody>
      </p:sp>
      <p:sp>
        <p:nvSpPr>
          <p:cNvPr id="13" name="Text 11"/>
          <p:cNvSpPr/>
          <p:nvPr/>
        </p:nvSpPr>
        <p:spPr>
          <a:xfrm>
            <a:off x="6309360" y="3657600"/>
            <a:ext cx="2423160" cy="777240"/>
          </a:xfrm>
          <a:prstGeom prst="rect">
            <a:avLst/>
          </a:prstGeom>
          <a:noFill/>
          <a:ln/>
        </p:spPr>
        <p:txBody>
          <a:bodyPr wrap="square" rtlCol="0" anchor="t"/>
          <a:lstStyle/>
          <a:p>
            <a:pPr marL="0" indent="0" algn="ctr">
              <a:buNone/>
            </a:pPr>
            <a:r>
              <a:rPr lang="en-US" sz="1350" dirty="0">
                <a:solidFill>
                  <a:srgbClr val="5B6478"/>
                </a:solidFill>
                <a:latin typeface="Calibri" pitchFamily="34" charset="0"/>
                <a:ea typeface="Calibri" pitchFamily="34" charset="-122"/>
                <a:cs typeface="Calibri" pitchFamily="34" charset="-120"/>
              </a:rPr>
              <a:t>% of fault alerts that were real</a:t>
            </a:r>
            <a:endParaRPr lang="en-US" sz="1350" dirty="0"/>
          </a:p>
        </p:txBody>
      </p:sp>
      <p:sp>
        <p:nvSpPr>
          <p:cNvPr id="14" name="Shape 12"/>
          <p:cNvSpPr/>
          <p:nvPr/>
        </p:nvSpPr>
        <p:spPr>
          <a:xfrm>
            <a:off x="9052560" y="2743200"/>
            <a:ext cx="2606040" cy="1828800"/>
          </a:xfrm>
          <a:prstGeom prst="roundRect">
            <a:avLst>
              <a:gd name="adj" fmla="val 5000"/>
            </a:avLst>
          </a:prstGeom>
          <a:solidFill>
            <a:srgbClr val="1E2761"/>
          </a:solidFill>
          <a:ln/>
        </p:spPr>
      </p:sp>
      <p:sp>
        <p:nvSpPr>
          <p:cNvPr id="15" name="Text 13"/>
          <p:cNvSpPr/>
          <p:nvPr/>
        </p:nvSpPr>
        <p:spPr>
          <a:xfrm>
            <a:off x="9052560" y="2880360"/>
            <a:ext cx="2606040" cy="777240"/>
          </a:xfrm>
          <a:prstGeom prst="rect">
            <a:avLst/>
          </a:prstGeom>
          <a:noFill/>
          <a:ln/>
        </p:spPr>
        <p:txBody>
          <a:bodyPr wrap="square" rtlCol="0" anchor="ctr"/>
          <a:lstStyle/>
          <a:p>
            <a:pPr marL="0" indent="0" algn="ctr">
              <a:buNone/>
            </a:pPr>
            <a:r>
              <a:rPr lang="en-US" sz="3200" b="1" dirty="0">
                <a:solidFill>
                  <a:srgbClr val="F2A93B"/>
                </a:solidFill>
                <a:latin typeface="Cambria" pitchFamily="34" charset="0"/>
                <a:ea typeface="Cambria" pitchFamily="34" charset="-122"/>
                <a:cs typeface="Cambria" pitchFamily="34" charset="-120"/>
              </a:rPr>
              <a:t>0.328</a:t>
            </a:r>
            <a:endParaRPr lang="en-US" sz="3200" dirty="0"/>
          </a:p>
        </p:txBody>
      </p:sp>
      <p:sp>
        <p:nvSpPr>
          <p:cNvPr id="16" name="Text 14"/>
          <p:cNvSpPr/>
          <p:nvPr/>
        </p:nvSpPr>
        <p:spPr>
          <a:xfrm>
            <a:off x="9144000" y="3657600"/>
            <a:ext cx="2423160" cy="777240"/>
          </a:xfrm>
          <a:prstGeom prst="rect">
            <a:avLst/>
          </a:prstGeom>
          <a:noFill/>
          <a:ln/>
        </p:spPr>
        <p:txBody>
          <a:bodyPr wrap="square" rtlCol="0" anchor="t"/>
          <a:lstStyle/>
          <a:p>
            <a:pPr marL="0" indent="0" algn="ctr">
              <a:buNone/>
            </a:pPr>
            <a:r>
              <a:rPr lang="en-US" sz="1350" dirty="0">
                <a:solidFill>
                  <a:srgbClr val="EEF3FD"/>
                </a:solidFill>
                <a:latin typeface="Calibri" pitchFamily="34" charset="0"/>
                <a:ea typeface="Calibri" pitchFamily="34" charset="-122"/>
                <a:cs typeface="Calibri" pitchFamily="34" charset="-120"/>
              </a:rPr>
              <a:t>Our metric (F2)</a:t>
            </a:r>
            <a:endParaRPr lang="en-US" sz="1350" dirty="0"/>
          </a:p>
        </p:txBody>
      </p:sp>
      <p:sp>
        <p:nvSpPr>
          <p:cNvPr id="17" name="Text 15"/>
          <p:cNvSpPr/>
          <p:nvPr/>
        </p:nvSpPr>
        <p:spPr>
          <a:xfrm>
            <a:off x="548640" y="4937760"/>
            <a:ext cx="11064240" cy="457200"/>
          </a:xfrm>
          <a:prstGeom prst="rect">
            <a:avLst/>
          </a:prstGeom>
          <a:noFill/>
          <a:ln/>
        </p:spPr>
        <p:txBody>
          <a:bodyPr wrap="square" rtlCol="0" anchor="ctr"/>
          <a:lstStyle/>
          <a:p>
            <a:pPr marL="0" indent="0">
              <a:buNone/>
            </a:pPr>
            <a:r>
              <a:rPr lang="en-US" sz="1450" i="1" dirty="0">
                <a:solidFill>
                  <a:srgbClr val="5B6478"/>
                </a:solidFill>
                <a:latin typeface="Calibri" pitchFamily="34" charset="0"/>
                <a:ea typeface="Calibri" pitchFamily="34" charset="-122"/>
                <a:cs typeface="Calibri" pitchFamily="34" charset="-120"/>
              </a:rPr>
              <a:t>Held-out test data the model never saw during training. This is the reference every later model has to beat.</a:t>
            </a:r>
            <a:endParaRPr lang="en-US" sz="1450" dirty="0"/>
          </a:p>
        </p:txBody>
      </p:sp>
      <p:sp>
        <p:nvSpPr>
          <p:cNvPr id="18" name="Text 16"/>
          <p:cNvSpPr/>
          <p:nvPr/>
        </p:nvSpPr>
        <p:spPr>
          <a:xfrm>
            <a:off x="11612880" y="6446520"/>
            <a:ext cx="365760" cy="274320"/>
          </a:xfrm>
          <a:prstGeom prst="rect">
            <a:avLst/>
          </a:prstGeom>
          <a:noFill/>
          <a:ln/>
        </p:spPr>
        <p:txBody>
          <a:bodyPr wrap="square" rtlCol="0" anchor="ctr"/>
          <a:lstStyle/>
          <a:p>
            <a:pPr marL="0" indent="0" algn="r">
              <a:buNone/>
            </a:pPr>
            <a:r>
              <a:rPr lang="en-US" sz="1000" dirty="0">
                <a:solidFill>
                  <a:srgbClr val="9AA3B5"/>
                </a:solidFill>
                <a:latin typeface="Calibri" pitchFamily="34" charset="0"/>
                <a:ea typeface="Calibri" pitchFamily="34" charset="-122"/>
                <a:cs typeface="Calibri" pitchFamily="34" charset="-120"/>
              </a:rPr>
              <a:t>10</a:t>
            </a:r>
            <a:endParaRPr lang="en-US" sz="1200" dirty="0"/>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Text 0"/>
          <p:cNvSpPr txBox="1"/>
          <p:nvPr/>
        </p:nvSpPr>
        <p:spPr>
          <a:xfrm>
            <a:off x="640080" y="525071"/>
            <a:ext cx="9144001" cy="1568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400" b="1" spc="200">
                <a:solidFill>
                  <a:srgbClr val="D97706"/>
                </a:solidFill>
                <a:latin typeface="+mn-lt"/>
                <a:ea typeface="+mn-ea"/>
                <a:cs typeface="+mn-cs"/>
                <a:sym typeface="Calibri"/>
              </a:defRPr>
            </a:lvl1pPr>
          </a:lstStyle>
          <a:p>
            <a:r>
              <a:t>Advanced MODEL</a:t>
            </a:r>
          </a:p>
        </p:txBody>
      </p:sp>
      <p:sp>
        <p:nvSpPr>
          <p:cNvPr id="104" name="Text 1"/>
          <p:cNvSpPr txBox="1"/>
          <p:nvPr/>
        </p:nvSpPr>
        <p:spPr>
          <a:xfrm>
            <a:off x="640080" y="786382"/>
            <a:ext cx="10881360" cy="4308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700">
                <a:solidFill>
                  <a:srgbClr val="1E2761"/>
                </a:solidFill>
                <a:latin typeface="Cambria"/>
                <a:ea typeface="Cambria"/>
                <a:cs typeface="Cambria"/>
                <a:sym typeface="Cambria"/>
              </a:defRPr>
            </a:lvl1pPr>
          </a:lstStyle>
          <a:p>
            <a:r>
              <a:rPr lang="en-US" sz="3000" dirty="0">
                <a:latin typeface="Cambria" pitchFamily="34" charset="0"/>
                <a:ea typeface="Cambria" pitchFamily="34" charset="-122"/>
                <a:cs typeface="Cambria" pitchFamily="34" charset="-120"/>
              </a:rPr>
              <a:t>More powerful models catch far more faults</a:t>
            </a:r>
            <a:endParaRPr lang="en-US" sz="3000" dirty="0"/>
          </a:p>
        </p:txBody>
      </p:sp>
      <p:sp>
        <p:nvSpPr>
          <p:cNvPr id="107" name="Text 5"/>
          <p:cNvSpPr txBox="1"/>
          <p:nvPr/>
        </p:nvSpPr>
        <p:spPr>
          <a:xfrm>
            <a:off x="11277295" y="6423704"/>
            <a:ext cx="548642" cy="1370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r">
              <a:defRPr sz="1000">
                <a:solidFill>
                  <a:srgbClr val="B7BAC6"/>
                </a:solidFill>
                <a:latin typeface="+mn-lt"/>
                <a:ea typeface="+mn-ea"/>
                <a:cs typeface="+mn-cs"/>
                <a:sym typeface="Calibri"/>
              </a:defRPr>
            </a:lvl1pPr>
          </a:lstStyle>
          <a:p>
            <a:r>
              <a:t>11</a:t>
            </a:r>
          </a:p>
        </p:txBody>
      </p:sp>
      <p:graphicFrame>
        <p:nvGraphicFramePr>
          <p:cNvPr id="3" name="Chart 0">
            <a:extLst>
              <a:ext uri="{FF2B5EF4-FFF2-40B4-BE49-F238E27FC236}">
                <a16:creationId xmlns:a16="http://schemas.microsoft.com/office/drawing/2014/main" id="{A23EEFBF-FB85-82B7-CC0E-BF8F34A77F2D}"/>
              </a:ext>
            </a:extLst>
          </p:cNvPr>
          <p:cNvGraphicFramePr/>
          <p:nvPr/>
        </p:nvGraphicFramePr>
        <p:xfrm>
          <a:off x="548640" y="1691640"/>
          <a:ext cx="731520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2">
            <a:extLst>
              <a:ext uri="{FF2B5EF4-FFF2-40B4-BE49-F238E27FC236}">
                <a16:creationId xmlns:a16="http://schemas.microsoft.com/office/drawing/2014/main" id="{3D02E029-ECC8-DB44-F64C-F8E78ABDF16F}"/>
              </a:ext>
            </a:extLst>
          </p:cNvPr>
          <p:cNvSpPr/>
          <p:nvPr/>
        </p:nvSpPr>
        <p:spPr>
          <a:xfrm>
            <a:off x="8138160" y="1783080"/>
            <a:ext cx="3566160" cy="4206240"/>
          </a:xfrm>
          <a:prstGeom prst="rect">
            <a:avLst/>
          </a:prstGeom>
          <a:noFill/>
          <a:ln/>
        </p:spPr>
        <p:txBody>
          <a:bodyPr wrap="square" rtlCol="0" anchor="t"/>
          <a:lstStyle/>
          <a:p>
            <a:pPr marL="342900" indent="-342900">
              <a:lnSpc>
                <a:spcPct val="120000"/>
              </a:lnSpc>
              <a:spcAft>
                <a:spcPts val="1000"/>
              </a:spcAft>
              <a:buSzPct val="100000"/>
              <a:buChar char="•"/>
            </a:pPr>
            <a:r>
              <a:rPr lang="en-US" sz="1600" b="1" dirty="0">
                <a:solidFill>
                  <a:srgbClr val="1E2761"/>
                </a:solidFill>
                <a:latin typeface="Calibri" pitchFamily="34" charset="0"/>
                <a:ea typeface="Calibri" pitchFamily="34" charset="-122"/>
                <a:cs typeface="Calibri" pitchFamily="34" charset="-120"/>
              </a:rPr>
              <a:t>XGBoost: </a:t>
            </a:r>
            <a:endParaRPr lang="en-US" sz="1600" dirty="0"/>
          </a:p>
          <a:p>
            <a:pPr marL="0" indent="0">
              <a:lnSpc>
                <a:spcPct val="120000"/>
              </a:lnSpc>
              <a:spcAft>
                <a:spcPts val="1000"/>
              </a:spcAft>
              <a:buNone/>
            </a:pPr>
            <a:r>
              <a:rPr lang="en-US" sz="1500" dirty="0">
                <a:solidFill>
                  <a:srgbClr val="5B6478"/>
                </a:solidFill>
                <a:latin typeface="Calibri" pitchFamily="34" charset="0"/>
                <a:ea typeface="Calibri" pitchFamily="34" charset="-122"/>
                <a:cs typeface="Calibri" pitchFamily="34" charset="-120"/>
              </a:rPr>
              <a:t>catches 85.4% of real faults, best of the three</a:t>
            </a:r>
            <a:endParaRPr lang="en-US" sz="1600" dirty="0"/>
          </a:p>
          <a:p>
            <a:pPr marL="342900" indent="-342900">
              <a:lnSpc>
                <a:spcPct val="120000"/>
              </a:lnSpc>
              <a:spcAft>
                <a:spcPts val="1000"/>
              </a:spcAft>
              <a:buSzPct val="100000"/>
              <a:buChar char="•"/>
            </a:pPr>
            <a:r>
              <a:rPr lang="en-US" sz="1600" b="1" dirty="0">
                <a:solidFill>
                  <a:srgbClr val="1E2761"/>
                </a:solidFill>
                <a:latin typeface="Calibri" pitchFamily="34" charset="0"/>
                <a:ea typeface="Calibri" pitchFamily="34" charset="-122"/>
                <a:cs typeface="Calibri" pitchFamily="34" charset="-120"/>
              </a:rPr>
              <a:t>Feature selection: </a:t>
            </a:r>
            <a:endParaRPr lang="en-US" sz="1600" dirty="0"/>
          </a:p>
          <a:p>
            <a:pPr marL="0" indent="0">
              <a:lnSpc>
                <a:spcPct val="120000"/>
              </a:lnSpc>
              <a:spcAft>
                <a:spcPts val="1000"/>
              </a:spcAft>
              <a:buNone/>
            </a:pPr>
            <a:r>
              <a:rPr lang="en-US" sz="1500" dirty="0">
                <a:solidFill>
                  <a:srgbClr val="5B6478"/>
                </a:solidFill>
                <a:latin typeface="Calibri" pitchFamily="34" charset="0"/>
                <a:ea typeface="Calibri" pitchFamily="34" charset="-122"/>
                <a:cs typeface="Calibri" pitchFamily="34" charset="-120"/>
              </a:rPr>
              <a:t>Started with 54 candidate signals, kept 53 that predict faults better than random noise or the reference model — searched on the full training set, no subsampling</a:t>
            </a:r>
            <a:endParaRPr lang="en-US" sz="1600" dirty="0"/>
          </a:p>
          <a:p>
            <a:pPr marL="342900" indent="-342900">
              <a:lnSpc>
                <a:spcPct val="120000"/>
              </a:lnSpc>
              <a:spcAft>
                <a:spcPts val="1000"/>
              </a:spcAft>
              <a:buSzPct val="100000"/>
              <a:buChar char="•"/>
            </a:pPr>
            <a:r>
              <a:rPr lang="en-US" sz="1600" b="1" dirty="0">
                <a:solidFill>
                  <a:srgbClr val="1E2761"/>
                </a:solidFill>
                <a:latin typeface="Calibri" pitchFamily="34" charset="0"/>
                <a:ea typeface="Calibri" pitchFamily="34" charset="-122"/>
                <a:cs typeface="Calibri" pitchFamily="34" charset="-120"/>
              </a:rPr>
              <a:t>Tuning: </a:t>
            </a:r>
            <a:endParaRPr lang="en-US" sz="1600" dirty="0"/>
          </a:p>
          <a:p>
            <a:pPr marL="0" indent="0">
              <a:lnSpc>
                <a:spcPct val="120000"/>
              </a:lnSpc>
              <a:spcAft>
                <a:spcPts val="1000"/>
              </a:spcAft>
              <a:buNone/>
            </a:pPr>
            <a:r>
              <a:rPr lang="en-US" sz="1500" dirty="0">
                <a:solidFill>
                  <a:srgbClr val="5B6478"/>
                </a:solidFill>
                <a:latin typeface="Calibri" pitchFamily="34" charset="0"/>
                <a:ea typeface="Calibri" pitchFamily="34" charset="-122"/>
                <a:cs typeface="Calibri" pitchFamily="34" charset="-120"/>
              </a:rPr>
              <a:t>Model settings were tuned specifically to catch more faults, not just to look accurate overall</a:t>
            </a:r>
            <a:endParaRPr lang="en-US" sz="1600" dirty="0"/>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Eyebrow"/>
          <p:cNvSpPr txBox="1"/>
          <p:nvPr/>
        </p:nvSpPr>
        <p:spPr>
          <a:xfrm>
            <a:off x="640080" y="525071"/>
            <a:ext cx="9144001" cy="156865"/>
          </a:xfrm>
          <a:prstGeom prst="rect">
            <a:avLst/>
          </a:prstGeom>
          <a:ln w="12700">
            <a:miter lim="400000"/>
          </a:ln>
        </p:spPr>
        <p:txBody>
          <a:bodyPr lIns="0" tIns="0" rIns="0" bIns="0" anchor="ctr">
            <a:spAutoFit/>
          </a:bodyPr>
          <a:lstStyle>
            <a:lvl1pPr>
              <a:defRPr sz="1400" b="1" spc="200">
                <a:solidFill>
                  <a:srgbClr val="D97706"/>
                </a:solidFill>
                <a:latin typeface="+mn-lt"/>
                <a:ea typeface="+mn-ea"/>
                <a:cs typeface="+mn-cs"/>
                <a:sym typeface="Calibri"/>
              </a:defRPr>
            </a:lvl1pPr>
          </a:lstStyle>
          <a:p>
            <a:r>
              <a:t>ADVANCED MODEL</a:t>
            </a:r>
          </a:p>
        </p:txBody>
      </p:sp>
      <p:sp>
        <p:nvSpPr>
          <p:cNvPr id="201" name="Title"/>
          <p:cNvSpPr txBox="1"/>
          <p:nvPr/>
        </p:nvSpPr>
        <p:spPr>
          <a:xfrm>
            <a:off x="640080" y="786382"/>
            <a:ext cx="10881360" cy="430887"/>
          </a:xfrm>
          <a:prstGeom prst="rect">
            <a:avLst/>
          </a:prstGeom>
          <a:ln w="12700">
            <a:miter lim="400000"/>
          </a:ln>
        </p:spPr>
        <p:txBody>
          <a:bodyPr lIns="0" tIns="0" rIns="0" bIns="0">
            <a:spAutoFit/>
          </a:bodyPr>
          <a:lstStyle>
            <a:lvl1pPr>
              <a:defRPr sz="2900">
                <a:solidFill>
                  <a:srgbClr val="1E2761"/>
                </a:solidFill>
                <a:latin typeface="Cambria"/>
                <a:ea typeface="Cambria"/>
                <a:cs typeface="Cambria"/>
                <a:sym typeface="Cambria"/>
              </a:defRPr>
            </a:lvl1pPr>
          </a:lstStyle>
          <a:p>
            <a:r>
              <a:t>What “rolling” and “lag” actually mean</a:t>
            </a:r>
          </a:p>
        </p:txBody>
      </p:sp>
      <p:sp>
        <p:nvSpPr>
          <p:cNvPr id="202" name="ExampleBox"/>
          <p:cNvSpPr/>
          <p:nvPr/>
        </p:nvSpPr>
        <p:spPr>
          <a:xfrm>
            <a:off x="640080" y="1737360"/>
            <a:ext cx="5486400" cy="4297680"/>
          </a:xfrm>
          <a:prstGeom prst="roundRect">
            <a:avLst>
              <a:gd name="adj" fmla="val 2540"/>
            </a:avLst>
          </a:prstGeom>
          <a:solidFill>
            <a:srgbClr val="F7F8FB"/>
          </a:solidFill>
          <a:ln w="12700">
            <a:solidFill>
              <a:srgbClr val="E2E4EC"/>
            </a:solidFill>
          </a:ln>
        </p:spPr>
        <p:txBody>
          <a:bodyPr lIns="45718" tIns="45718" rIns="45718" bIns="45718"/>
          <a:lstStyle/>
          <a:p>
            <a:endParaRPr/>
          </a:p>
        </p:txBody>
      </p:sp>
      <p:sp>
        <p:nvSpPr>
          <p:cNvPr id="203" name="ExampleTitle"/>
          <p:cNvSpPr txBox="1"/>
          <p:nvPr/>
        </p:nvSpPr>
        <p:spPr>
          <a:xfrm>
            <a:off x="914400" y="1965960"/>
            <a:ext cx="4937760" cy="393701"/>
          </a:xfrm>
          <a:prstGeom prst="rect">
            <a:avLst/>
          </a:prstGeom>
          <a:ln w="12700">
            <a:miter lim="400000"/>
          </a:ln>
        </p:spPr>
        <p:txBody>
          <a:bodyPr lIns="0" tIns="0" rIns="0" bIns="0" anchor="ctr">
            <a:spAutoFit/>
          </a:bodyPr>
          <a:lstStyle>
            <a:lvl1pPr>
              <a:defRPr sz="1700" b="1">
                <a:solidFill>
                  <a:srgbClr val="1E2761"/>
                </a:solidFill>
                <a:latin typeface="+mn-lt"/>
                <a:ea typeface="+mn-ea"/>
                <a:cs typeface="+mn-cs"/>
                <a:sym typeface="Calibri"/>
              </a:defRPr>
            </a:lvl1pPr>
          </a:lstStyle>
          <a:p>
            <a:r>
              <a:t>Example: it's 2pm on the dashboard</a:t>
            </a:r>
          </a:p>
        </p:txBody>
      </p:sp>
      <p:sp>
        <p:nvSpPr>
          <p:cNvPr id="204" name="ExampleBullets"/>
          <p:cNvSpPr txBox="1"/>
          <p:nvPr/>
        </p:nvSpPr>
        <p:spPr>
          <a:xfrm>
            <a:off x="914400" y="2461233"/>
            <a:ext cx="4937760" cy="3400000"/>
          </a:xfrm>
          <a:prstGeom prst="rect">
            <a:avLst/>
          </a:prstGeom>
          <a:ln w="12700">
            <a:miter lim="400000"/>
          </a:ln>
        </p:spPr>
        <p:txBody>
          <a:bodyPr lIns="0" tIns="0" rIns="0" bIns="0">
            <a:spAutoFit/>
          </a:bodyPr>
          <a:lstStyle>
            <a:lvl1pPr>
              <a:lnSpc>
                <a:spcPct val="130000"/>
              </a:lnSpc>
              <a:defRPr sz="1500">
                <a:solidFill>
                  <a:srgbClr val="3A3F52"/>
                </a:solidFill>
                <a:latin typeface="+mn-lt"/>
                <a:ea typeface="+mn-ea"/>
                <a:cs typeface="+mn-cs"/>
                <a:sym typeface="Calibri"/>
              </a:defRPr>
            </a:lvl1pPr>
          </a:lstStyle>
          <a:p>
            <a:pPr marL="257175" indent="-257175">
              <a:spcBef>
                <a:spcPts val="600"/>
              </a:spcBef>
              <a:buChar char="•"/>
            </a:pPr>
            <a:r>
              <a:rPr b="1"/>
              <a:t>Motor_Temp_lag_3h</a:t>
            </a:r>
            <a:r>
              <a:t> is the Motor_Temp reading from 11am, 3 hours ago</a:t>
            </a:r>
          </a:p>
          <a:p>
            <a:pPr marL="257175" indent="-257175">
              <a:spcBef>
                <a:spcPts val="600"/>
              </a:spcBef>
              <a:buChar char="•"/>
            </a:pPr>
            <a:r>
              <a:rPr b="1"/>
              <a:t>Motor_RPM_roll_mean_24h</a:t>
            </a:r>
            <a:r>
              <a:t> is the average Motor_RPM over the last 24 hours</a:t>
            </a:r>
          </a:p>
          <a:p>
            <a:pPr marL="257175" indent="-257175">
              <a:spcBef>
                <a:spcPts val="600"/>
              </a:spcBef>
              <a:buChar char="•"/>
            </a:pPr>
            <a:r>
              <a:rPr b="1"/>
              <a:t>hour_of_day, day_of_week</a:t>
            </a:r>
            <a:r>
              <a:t> are calendar signals, not sensor readings</a:t>
            </a:r>
          </a:p>
          <a:p>
            <a:pPr marL="0" indent="0">
              <a:spcBef>
                <a:spcPts val="1200"/>
              </a:spcBef>
              <a:buNone/>
            </a:pPr>
            <a:r>
              <a:t>All of it comes from each vehicle's own historical readings, grouped by usage profile so one vehicle's history never leaks into another's.</a:t>
            </a:r>
          </a:p>
        </p:txBody>
      </p:sp>
      <p:sp>
        <p:nvSpPr>
          <p:cNvPr id="205" name="AppCard"/>
          <p:cNvSpPr/>
          <p:nvPr/>
        </p:nvSpPr>
        <p:spPr>
          <a:xfrm>
            <a:off x="6400800" y="1737360"/>
            <a:ext cx="5150800" cy="1950000"/>
          </a:xfrm>
          <a:prstGeom prst="roundRect">
            <a:avLst>
              <a:gd name="adj" fmla="val 2540"/>
            </a:avLst>
          </a:prstGeom>
          <a:solidFill>
            <a:srgbClr val="1E2761"/>
          </a:solidFill>
          <a:ln w="12700">
            <a:miter lim="400000"/>
          </a:ln>
        </p:spPr>
        <p:txBody>
          <a:bodyPr lIns="45718" tIns="45718" rIns="45718" bIns="45718"/>
          <a:lstStyle/>
          <a:p>
            <a:endParaRPr/>
          </a:p>
        </p:txBody>
      </p:sp>
      <p:sp>
        <p:nvSpPr>
          <p:cNvPr id="206" name="AppCardTitle"/>
          <p:cNvSpPr txBox="1"/>
          <p:nvPr/>
        </p:nvSpPr>
        <p:spPr>
          <a:xfrm>
            <a:off x="6675080" y="1965960"/>
            <a:ext cx="4602240" cy="393701"/>
          </a:xfrm>
          <a:prstGeom prst="rect">
            <a:avLst/>
          </a:prstGeom>
          <a:ln w="12700">
            <a:miter lim="400000"/>
          </a:ln>
        </p:spPr>
        <p:txBody>
          <a:bodyPr lIns="0" tIns="0" rIns="0" bIns="0" anchor="ctr">
            <a:spAutoFit/>
          </a:bodyPr>
          <a:lstStyle>
            <a:lvl1pPr>
              <a:defRPr sz="1700" b="1">
                <a:solidFill>
                  <a:srgbClr val="F2A93B"/>
                </a:solidFill>
                <a:latin typeface="+mn-lt"/>
                <a:ea typeface="+mn-ea"/>
                <a:cs typeface="+mn-cs"/>
                <a:sym typeface="Calibri"/>
              </a:defRPr>
            </a:lvl1pPr>
          </a:lstStyle>
          <a:p>
            <a:r>
              <a:t>What this means for the app</a:t>
            </a:r>
          </a:p>
        </p:txBody>
      </p:sp>
      <p:sp>
        <p:nvSpPr>
          <p:cNvPr id="207" name="AppCardBody"/>
          <p:cNvSpPr txBox="1"/>
          <p:nvPr/>
        </p:nvSpPr>
        <p:spPr>
          <a:xfrm>
            <a:off x="6675080" y="2461233"/>
            <a:ext cx="4602240" cy="1150000"/>
          </a:xfrm>
          <a:prstGeom prst="rect">
            <a:avLst/>
          </a:prstGeom>
          <a:ln w="12700">
            <a:miter lim="400000"/>
          </a:ln>
        </p:spPr>
        <p:txBody>
          <a:bodyPr lIns="0" tIns="0" rIns="0" bIns="0">
            <a:spAutoFit/>
          </a:bodyPr>
          <a:lstStyle>
            <a:lvl1pPr>
              <a:lnSpc>
                <a:spcPct val="125000"/>
              </a:lnSpc>
              <a:defRPr sz="1400">
                <a:solidFill>
                  <a:srgbClr val="F5F3EE"/>
                </a:solidFill>
                <a:latin typeface="+mn-lt"/>
                <a:ea typeface="+mn-ea"/>
                <a:cs typeface="+mn-cs"/>
                <a:sym typeface="Calibri"/>
              </a:defRPr>
            </a:lvl1pPr>
          </a:lstStyle>
          <a:p>
            <a:r>
              <a:t>The baseline model only needs the vehicle's current readings. The tuned models use recent history, so they need the last 6 to 24 hours of readings before they can forecast.</a:t>
            </a:r>
          </a:p>
        </p:txBody>
      </p:sp>
      <p:sp>
        <p:nvSpPr>
          <p:cNvPr id="208" name="LimitCard"/>
          <p:cNvSpPr/>
          <p:nvPr/>
        </p:nvSpPr>
        <p:spPr>
          <a:xfrm>
            <a:off x="6400800" y="3886200"/>
            <a:ext cx="5150800" cy="2148840"/>
          </a:xfrm>
          <a:prstGeom prst="roundRect">
            <a:avLst>
              <a:gd name="adj" fmla="val 2540"/>
            </a:avLst>
          </a:prstGeom>
          <a:solidFill>
            <a:srgbClr val="FDF3E0"/>
          </a:solidFill>
          <a:ln w="12700">
            <a:solidFill>
              <a:srgbClr val="F2A93B"/>
            </a:solidFill>
          </a:ln>
        </p:spPr>
        <p:txBody>
          <a:bodyPr lIns="45718" tIns="45718" rIns="45718" bIns="45718"/>
          <a:lstStyle/>
          <a:p>
            <a:endParaRPr/>
          </a:p>
        </p:txBody>
      </p:sp>
      <p:sp>
        <p:nvSpPr>
          <p:cNvPr id="209" name="LimitCardTitle"/>
          <p:cNvSpPr txBox="1"/>
          <p:nvPr/>
        </p:nvSpPr>
        <p:spPr>
          <a:xfrm>
            <a:off x="6675080" y="4114800"/>
            <a:ext cx="4602240" cy="393701"/>
          </a:xfrm>
          <a:prstGeom prst="rect">
            <a:avLst/>
          </a:prstGeom>
          <a:ln w="12700">
            <a:miter lim="400000"/>
          </a:ln>
        </p:spPr>
        <p:txBody>
          <a:bodyPr lIns="0" tIns="0" rIns="0" bIns="0" anchor="ctr">
            <a:spAutoFit/>
          </a:bodyPr>
          <a:lstStyle>
            <a:lvl1pPr>
              <a:defRPr sz="1700" b="1">
                <a:solidFill>
                  <a:srgbClr val="1E2761"/>
                </a:solidFill>
                <a:latin typeface="+mn-lt"/>
                <a:ea typeface="+mn-ea"/>
                <a:cs typeface="+mn-cs"/>
                <a:sym typeface="Calibri"/>
              </a:defRPr>
            </a:lvl1pPr>
          </a:lstStyle>
          <a:p>
            <a:r>
              <a:t>Known limitation</a:t>
            </a:r>
          </a:p>
        </p:txBody>
      </p:sp>
      <p:sp>
        <p:nvSpPr>
          <p:cNvPr id="210" name="LimitCardBody"/>
          <p:cNvSpPr txBox="1"/>
          <p:nvPr/>
        </p:nvSpPr>
        <p:spPr>
          <a:xfrm>
            <a:off x="6675080" y="4610073"/>
            <a:ext cx="4602240" cy="1300000"/>
          </a:xfrm>
          <a:prstGeom prst="rect">
            <a:avLst/>
          </a:prstGeom>
          <a:ln w="12700">
            <a:miter lim="400000"/>
          </a:ln>
        </p:spPr>
        <p:txBody>
          <a:bodyPr lIns="0" tIns="0" rIns="0" bIns="0">
            <a:spAutoFit/>
          </a:bodyPr>
          <a:lstStyle>
            <a:lvl1pPr>
              <a:lnSpc>
                <a:spcPct val="125000"/>
              </a:lnSpc>
              <a:defRPr sz="1400">
                <a:solidFill>
                  <a:srgbClr val="3A3F52"/>
                </a:solidFill>
                <a:latin typeface="+mn-lt"/>
                <a:ea typeface="+mn-ea"/>
                <a:cs typeface="+mn-cs"/>
                <a:sym typeface="Calibri"/>
              </a:defRPr>
            </a:lvl1pPr>
          </a:lstStyle>
          <a:p>
            <a:r>
              <a:t>This assumes our 4 training usage profiles generalize to other vehicles. More vehicles and battery types in training would make the forecast more reliable.</a:t>
            </a:r>
          </a:p>
        </p:txBody>
      </p:sp>
      <p:sp>
        <p:nvSpPr>
          <p:cNvPr id="211" name="PageNum"/>
          <p:cNvSpPr txBox="1"/>
          <p:nvPr/>
        </p:nvSpPr>
        <p:spPr>
          <a:xfrm>
            <a:off x="11277295" y="6423704"/>
            <a:ext cx="548642" cy="137071"/>
          </a:xfrm>
          <a:prstGeom prst="rect">
            <a:avLst/>
          </a:prstGeom>
          <a:ln w="12700">
            <a:miter lim="400000"/>
          </a:ln>
        </p:spPr>
        <p:txBody>
          <a:bodyPr lIns="0" tIns="0" rIns="0" bIns="0" anchor="ctr">
            <a:spAutoFit/>
          </a:bodyPr>
          <a:lstStyle>
            <a:lvl1pPr algn="r">
              <a:defRPr sz="1000">
                <a:solidFill>
                  <a:srgbClr val="B7BAC6"/>
                </a:solidFill>
                <a:latin typeface="+mn-lt"/>
                <a:ea typeface="+mn-ea"/>
                <a:cs typeface="+mn-cs"/>
                <a:sym typeface="Calibri"/>
              </a:defRPr>
            </a:lvl1pPr>
          </a:lstStyle>
          <a:p>
            <a:r>
              <a:t>12</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ext 0"/>
          <p:cNvSpPr txBox="1"/>
          <p:nvPr/>
        </p:nvSpPr>
        <p:spPr>
          <a:xfrm>
            <a:off x="640080" y="525071"/>
            <a:ext cx="9144001" cy="1568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400" b="1" spc="200">
                <a:solidFill>
                  <a:srgbClr val="D97706"/>
                </a:solidFill>
                <a:latin typeface="+mn-lt"/>
                <a:ea typeface="+mn-ea"/>
                <a:cs typeface="+mn-cs"/>
                <a:sym typeface="Calibri"/>
              </a:defRPr>
            </a:lvl1pPr>
          </a:lstStyle>
          <a:p>
            <a:r>
              <a:t>TECH STACK</a:t>
            </a:r>
          </a:p>
        </p:txBody>
      </p:sp>
      <p:sp>
        <p:nvSpPr>
          <p:cNvPr id="111" name="Text 42"/>
          <p:cNvSpPr txBox="1"/>
          <p:nvPr/>
        </p:nvSpPr>
        <p:spPr>
          <a:xfrm>
            <a:off x="11277295" y="6423704"/>
            <a:ext cx="548642" cy="1370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r">
              <a:defRPr sz="1000">
                <a:solidFill>
                  <a:srgbClr val="B7BAC6"/>
                </a:solidFill>
                <a:latin typeface="+mn-lt"/>
                <a:ea typeface="+mn-ea"/>
                <a:cs typeface="+mn-cs"/>
                <a:sym typeface="Calibri"/>
              </a:defRPr>
            </a:lvl1pPr>
          </a:lstStyle>
          <a:p>
            <a:r>
              <a:t>13</a:t>
            </a:r>
          </a:p>
        </p:txBody>
      </p:sp>
      <p:sp>
        <p:nvSpPr>
          <p:cNvPr id="112" name="Shape 4"/>
          <p:cNvSpPr/>
          <p:nvPr/>
        </p:nvSpPr>
        <p:spPr>
          <a:xfrm>
            <a:off x="911352" y="2756938"/>
            <a:ext cx="932689" cy="932689"/>
          </a:xfrm>
          <a:prstGeom prst="ellipse">
            <a:avLst/>
          </a:prstGeom>
          <a:solidFill>
            <a:srgbClr val="EEF3FD"/>
          </a:solidFill>
          <a:ln w="12700">
            <a:miter lim="400000"/>
          </a:ln>
        </p:spPr>
        <p:txBody>
          <a:bodyPr lIns="45719" rIns="45719"/>
          <a:lstStyle/>
          <a:p>
            <a:pPr>
              <a:defRPr>
                <a:latin typeface="+mn-lt"/>
                <a:ea typeface="+mn-ea"/>
                <a:cs typeface="+mn-cs"/>
                <a:sym typeface="Calibri"/>
              </a:defRPr>
            </a:pPr>
            <a:endParaRPr/>
          </a:p>
        </p:txBody>
      </p:sp>
      <p:pic>
        <p:nvPicPr>
          <p:cNvPr id="113" name="Image 0" descr="Image 0"/>
          <p:cNvPicPr>
            <a:picLocks noChangeAspect="1"/>
          </p:cNvPicPr>
          <p:nvPr/>
        </p:nvPicPr>
        <p:blipFill>
          <a:blip r:embed="rId3"/>
          <a:stretch>
            <a:fillRect/>
          </a:stretch>
        </p:blipFill>
        <p:spPr>
          <a:xfrm>
            <a:off x="1094232" y="2939818"/>
            <a:ext cx="566929" cy="566929"/>
          </a:xfrm>
          <a:prstGeom prst="rect">
            <a:avLst/>
          </a:prstGeom>
          <a:ln w="12700">
            <a:miter lim="400000"/>
          </a:ln>
        </p:spPr>
      </p:pic>
      <p:sp>
        <p:nvSpPr>
          <p:cNvPr id="114" name="Text 5"/>
          <p:cNvSpPr txBox="1"/>
          <p:nvPr/>
        </p:nvSpPr>
        <p:spPr>
          <a:xfrm>
            <a:off x="637032" y="3872550"/>
            <a:ext cx="1481329" cy="2285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1E2761"/>
                </a:solidFill>
                <a:latin typeface="+mn-lt"/>
                <a:ea typeface="+mn-ea"/>
                <a:cs typeface="+mn-cs"/>
                <a:sym typeface="Calibri"/>
              </a:defRPr>
            </a:lvl1pPr>
          </a:lstStyle>
          <a:p>
            <a:r>
              <a:t>Python</a:t>
            </a:r>
          </a:p>
        </p:txBody>
      </p:sp>
      <p:sp>
        <p:nvSpPr>
          <p:cNvPr id="115" name="Shape 6"/>
          <p:cNvSpPr/>
          <p:nvPr/>
        </p:nvSpPr>
        <p:spPr>
          <a:xfrm>
            <a:off x="2484120" y="2756938"/>
            <a:ext cx="932689" cy="932689"/>
          </a:xfrm>
          <a:prstGeom prst="ellipse">
            <a:avLst/>
          </a:prstGeom>
          <a:solidFill>
            <a:srgbClr val="EEF3FD"/>
          </a:solidFill>
          <a:ln w="12700">
            <a:miter lim="400000"/>
          </a:ln>
        </p:spPr>
        <p:txBody>
          <a:bodyPr lIns="45719" rIns="45719"/>
          <a:lstStyle/>
          <a:p>
            <a:pPr>
              <a:defRPr>
                <a:latin typeface="+mn-lt"/>
                <a:ea typeface="+mn-ea"/>
                <a:cs typeface="+mn-cs"/>
                <a:sym typeface="Calibri"/>
              </a:defRPr>
            </a:pPr>
            <a:endParaRPr/>
          </a:p>
        </p:txBody>
      </p:sp>
      <p:pic>
        <p:nvPicPr>
          <p:cNvPr id="116" name="Image 1" descr="Image 1"/>
          <p:cNvPicPr>
            <a:picLocks noChangeAspect="1"/>
          </p:cNvPicPr>
          <p:nvPr/>
        </p:nvPicPr>
        <p:blipFill>
          <a:blip r:embed="rId4"/>
          <a:stretch>
            <a:fillRect/>
          </a:stretch>
        </p:blipFill>
        <p:spPr>
          <a:xfrm>
            <a:off x="2667000" y="2939818"/>
            <a:ext cx="566929" cy="566929"/>
          </a:xfrm>
          <a:prstGeom prst="rect">
            <a:avLst/>
          </a:prstGeom>
          <a:ln w="12700">
            <a:miter lim="400000"/>
          </a:ln>
        </p:spPr>
      </p:pic>
      <p:sp>
        <p:nvSpPr>
          <p:cNvPr id="117" name="Text 7"/>
          <p:cNvSpPr txBox="1"/>
          <p:nvPr/>
        </p:nvSpPr>
        <p:spPr>
          <a:xfrm>
            <a:off x="2209800" y="3872550"/>
            <a:ext cx="1481329" cy="2285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1E2761"/>
                </a:solidFill>
                <a:latin typeface="+mn-lt"/>
                <a:ea typeface="+mn-ea"/>
                <a:cs typeface="+mn-cs"/>
                <a:sym typeface="Calibri"/>
              </a:defRPr>
            </a:lvl1pPr>
          </a:lstStyle>
          <a:p>
            <a:r>
              <a:t>pandas</a:t>
            </a:r>
          </a:p>
        </p:txBody>
      </p:sp>
      <p:sp>
        <p:nvSpPr>
          <p:cNvPr id="118" name="Shape 8"/>
          <p:cNvSpPr/>
          <p:nvPr/>
        </p:nvSpPr>
        <p:spPr>
          <a:xfrm>
            <a:off x="4056888" y="2756938"/>
            <a:ext cx="932689" cy="932689"/>
          </a:xfrm>
          <a:prstGeom prst="ellipse">
            <a:avLst/>
          </a:prstGeom>
          <a:solidFill>
            <a:srgbClr val="EEF3FD"/>
          </a:solidFill>
          <a:ln w="12700">
            <a:miter lim="400000"/>
          </a:ln>
        </p:spPr>
        <p:txBody>
          <a:bodyPr lIns="45719" rIns="45719"/>
          <a:lstStyle/>
          <a:p>
            <a:pPr>
              <a:defRPr>
                <a:latin typeface="+mn-lt"/>
                <a:ea typeface="+mn-ea"/>
                <a:cs typeface="+mn-cs"/>
                <a:sym typeface="Calibri"/>
              </a:defRPr>
            </a:pPr>
            <a:endParaRPr/>
          </a:p>
        </p:txBody>
      </p:sp>
      <p:pic>
        <p:nvPicPr>
          <p:cNvPr id="119" name="Image 2" descr="Image 2"/>
          <p:cNvPicPr>
            <a:picLocks noChangeAspect="1"/>
          </p:cNvPicPr>
          <p:nvPr/>
        </p:nvPicPr>
        <p:blipFill>
          <a:blip r:embed="rId5"/>
          <a:stretch>
            <a:fillRect/>
          </a:stretch>
        </p:blipFill>
        <p:spPr>
          <a:xfrm>
            <a:off x="4239768" y="2939818"/>
            <a:ext cx="566929" cy="566929"/>
          </a:xfrm>
          <a:prstGeom prst="rect">
            <a:avLst/>
          </a:prstGeom>
          <a:ln w="12700">
            <a:miter lim="400000"/>
          </a:ln>
        </p:spPr>
      </p:pic>
      <p:sp>
        <p:nvSpPr>
          <p:cNvPr id="120" name="Text 9"/>
          <p:cNvSpPr txBox="1"/>
          <p:nvPr/>
        </p:nvSpPr>
        <p:spPr>
          <a:xfrm>
            <a:off x="3782568" y="3872550"/>
            <a:ext cx="1481329" cy="2285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1E2761"/>
                </a:solidFill>
                <a:latin typeface="+mn-lt"/>
                <a:ea typeface="+mn-ea"/>
                <a:cs typeface="+mn-cs"/>
                <a:sym typeface="Calibri"/>
              </a:defRPr>
            </a:lvl1pPr>
          </a:lstStyle>
          <a:p>
            <a:r>
              <a:t>NumPy</a:t>
            </a:r>
          </a:p>
        </p:txBody>
      </p:sp>
      <p:sp>
        <p:nvSpPr>
          <p:cNvPr id="121" name="Shape 10"/>
          <p:cNvSpPr/>
          <p:nvPr/>
        </p:nvSpPr>
        <p:spPr>
          <a:xfrm>
            <a:off x="5629656" y="2756938"/>
            <a:ext cx="932689" cy="932689"/>
          </a:xfrm>
          <a:prstGeom prst="ellipse">
            <a:avLst/>
          </a:prstGeom>
          <a:solidFill>
            <a:srgbClr val="EEF3FD"/>
          </a:solidFill>
          <a:ln w="12700">
            <a:miter lim="400000"/>
          </a:ln>
        </p:spPr>
        <p:txBody>
          <a:bodyPr lIns="45719" rIns="45719"/>
          <a:lstStyle/>
          <a:p>
            <a:pPr>
              <a:defRPr>
                <a:latin typeface="+mn-lt"/>
                <a:ea typeface="+mn-ea"/>
                <a:cs typeface="+mn-cs"/>
                <a:sym typeface="Calibri"/>
              </a:defRPr>
            </a:pPr>
            <a:endParaRPr/>
          </a:p>
        </p:txBody>
      </p:sp>
      <p:pic>
        <p:nvPicPr>
          <p:cNvPr id="122" name="Image 3" descr="Image 3"/>
          <p:cNvPicPr>
            <a:picLocks noChangeAspect="1"/>
          </p:cNvPicPr>
          <p:nvPr/>
        </p:nvPicPr>
        <p:blipFill>
          <a:blip r:embed="rId6"/>
          <a:stretch>
            <a:fillRect/>
          </a:stretch>
        </p:blipFill>
        <p:spPr>
          <a:xfrm>
            <a:off x="5812536" y="2939818"/>
            <a:ext cx="566929" cy="566929"/>
          </a:xfrm>
          <a:prstGeom prst="rect">
            <a:avLst/>
          </a:prstGeom>
          <a:ln w="12700">
            <a:miter lim="400000"/>
          </a:ln>
        </p:spPr>
      </p:pic>
      <p:sp>
        <p:nvSpPr>
          <p:cNvPr id="123" name="Text 11"/>
          <p:cNvSpPr txBox="1"/>
          <p:nvPr/>
        </p:nvSpPr>
        <p:spPr>
          <a:xfrm>
            <a:off x="5355336" y="3872550"/>
            <a:ext cx="1481329" cy="2285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1E2761"/>
                </a:solidFill>
                <a:latin typeface="+mn-lt"/>
                <a:ea typeface="+mn-ea"/>
                <a:cs typeface="+mn-cs"/>
                <a:sym typeface="Calibri"/>
              </a:defRPr>
            </a:lvl1pPr>
          </a:lstStyle>
          <a:p>
            <a:r>
              <a:t>scikit-learn</a:t>
            </a:r>
          </a:p>
        </p:txBody>
      </p:sp>
      <p:sp>
        <p:nvSpPr>
          <p:cNvPr id="124" name="Shape 12"/>
          <p:cNvSpPr/>
          <p:nvPr/>
        </p:nvSpPr>
        <p:spPr>
          <a:xfrm>
            <a:off x="7202424" y="2756938"/>
            <a:ext cx="932689" cy="932689"/>
          </a:xfrm>
          <a:prstGeom prst="ellipse">
            <a:avLst/>
          </a:prstGeom>
          <a:solidFill>
            <a:srgbClr val="EEF3FD"/>
          </a:solidFill>
          <a:ln w="12700">
            <a:miter lim="400000"/>
          </a:ln>
        </p:spPr>
        <p:txBody>
          <a:bodyPr lIns="45719" rIns="45719"/>
          <a:lstStyle/>
          <a:p>
            <a:pPr>
              <a:defRPr>
                <a:latin typeface="+mn-lt"/>
                <a:ea typeface="+mn-ea"/>
                <a:cs typeface="+mn-cs"/>
                <a:sym typeface="Calibri"/>
              </a:defRPr>
            </a:pPr>
            <a:endParaRPr/>
          </a:p>
        </p:txBody>
      </p:sp>
      <p:pic>
        <p:nvPicPr>
          <p:cNvPr id="125" name="Image 4" descr="Image 4"/>
          <p:cNvPicPr>
            <a:picLocks noChangeAspect="1"/>
          </p:cNvPicPr>
          <p:nvPr/>
        </p:nvPicPr>
        <p:blipFill>
          <a:blip r:embed="rId7"/>
          <a:stretch>
            <a:fillRect/>
          </a:stretch>
        </p:blipFill>
        <p:spPr>
          <a:xfrm>
            <a:off x="7385304" y="2939818"/>
            <a:ext cx="566929" cy="566929"/>
          </a:xfrm>
          <a:prstGeom prst="rect">
            <a:avLst/>
          </a:prstGeom>
          <a:ln w="12700">
            <a:miter lim="400000"/>
          </a:ln>
        </p:spPr>
      </p:pic>
      <p:sp>
        <p:nvSpPr>
          <p:cNvPr id="126" name="Text 13"/>
          <p:cNvSpPr txBox="1"/>
          <p:nvPr/>
        </p:nvSpPr>
        <p:spPr>
          <a:xfrm>
            <a:off x="6928103" y="3872550"/>
            <a:ext cx="1481329" cy="2285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1E2761"/>
                </a:solidFill>
                <a:latin typeface="+mn-lt"/>
                <a:ea typeface="+mn-ea"/>
                <a:cs typeface="+mn-cs"/>
                <a:sym typeface="Calibri"/>
              </a:defRPr>
            </a:lvl1pPr>
          </a:lstStyle>
          <a:p>
            <a:r>
              <a:t>XGBoost</a:t>
            </a:r>
          </a:p>
        </p:txBody>
      </p:sp>
      <p:sp>
        <p:nvSpPr>
          <p:cNvPr id="127" name="Shape 14"/>
          <p:cNvSpPr/>
          <p:nvPr/>
        </p:nvSpPr>
        <p:spPr>
          <a:xfrm>
            <a:off x="8775192" y="2756938"/>
            <a:ext cx="932689" cy="932689"/>
          </a:xfrm>
          <a:prstGeom prst="ellipse">
            <a:avLst/>
          </a:prstGeom>
          <a:solidFill>
            <a:srgbClr val="EEF3FD"/>
          </a:solidFill>
          <a:ln w="12700">
            <a:miter lim="400000"/>
          </a:ln>
        </p:spPr>
        <p:txBody>
          <a:bodyPr lIns="45719" rIns="45719"/>
          <a:lstStyle/>
          <a:p>
            <a:pPr>
              <a:defRPr>
                <a:latin typeface="+mn-lt"/>
                <a:ea typeface="+mn-ea"/>
                <a:cs typeface="+mn-cs"/>
                <a:sym typeface="Calibri"/>
              </a:defRPr>
            </a:pPr>
            <a:endParaRPr/>
          </a:p>
        </p:txBody>
      </p:sp>
      <p:pic>
        <p:nvPicPr>
          <p:cNvPr id="128" name="Image 5" descr="Image 5"/>
          <p:cNvPicPr>
            <a:picLocks noChangeAspect="1"/>
          </p:cNvPicPr>
          <p:nvPr/>
        </p:nvPicPr>
        <p:blipFill>
          <a:blip r:embed="rId8"/>
          <a:stretch>
            <a:fillRect/>
          </a:stretch>
        </p:blipFill>
        <p:spPr>
          <a:xfrm>
            <a:off x="8958072" y="2939818"/>
            <a:ext cx="566929" cy="566929"/>
          </a:xfrm>
          <a:prstGeom prst="rect">
            <a:avLst/>
          </a:prstGeom>
          <a:ln w="12700">
            <a:miter lim="400000"/>
          </a:ln>
        </p:spPr>
      </p:pic>
      <p:sp>
        <p:nvSpPr>
          <p:cNvPr id="129" name="Text 15"/>
          <p:cNvSpPr txBox="1"/>
          <p:nvPr/>
        </p:nvSpPr>
        <p:spPr>
          <a:xfrm>
            <a:off x="8500872" y="3872550"/>
            <a:ext cx="1481329" cy="2285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1E2761"/>
                </a:solidFill>
                <a:latin typeface="+mn-lt"/>
                <a:ea typeface="+mn-ea"/>
                <a:cs typeface="+mn-cs"/>
                <a:sym typeface="Calibri"/>
              </a:defRPr>
            </a:lvl1pPr>
          </a:lstStyle>
          <a:p>
            <a:r>
              <a:t>Jupyter</a:t>
            </a:r>
          </a:p>
        </p:txBody>
      </p:sp>
      <p:sp>
        <p:nvSpPr>
          <p:cNvPr id="130" name="Shape 16"/>
          <p:cNvSpPr/>
          <p:nvPr/>
        </p:nvSpPr>
        <p:spPr>
          <a:xfrm>
            <a:off x="10347960" y="2756938"/>
            <a:ext cx="932689" cy="932689"/>
          </a:xfrm>
          <a:prstGeom prst="ellipse">
            <a:avLst/>
          </a:prstGeom>
          <a:solidFill>
            <a:srgbClr val="EEF3FD"/>
          </a:solidFill>
          <a:ln w="12700">
            <a:miter lim="400000"/>
          </a:ln>
        </p:spPr>
        <p:txBody>
          <a:bodyPr lIns="45719" rIns="45719"/>
          <a:lstStyle/>
          <a:p>
            <a:pPr>
              <a:defRPr>
                <a:latin typeface="+mn-lt"/>
                <a:ea typeface="+mn-ea"/>
                <a:cs typeface="+mn-cs"/>
                <a:sym typeface="Calibri"/>
              </a:defRPr>
            </a:pPr>
            <a:endParaRPr/>
          </a:p>
        </p:txBody>
      </p:sp>
      <p:pic>
        <p:nvPicPr>
          <p:cNvPr id="131" name="Image 6" descr="Image 6"/>
          <p:cNvPicPr>
            <a:picLocks noChangeAspect="1"/>
          </p:cNvPicPr>
          <p:nvPr/>
        </p:nvPicPr>
        <p:blipFill>
          <a:blip r:embed="rId9"/>
          <a:stretch>
            <a:fillRect/>
          </a:stretch>
        </p:blipFill>
        <p:spPr>
          <a:xfrm>
            <a:off x="10530840" y="2939818"/>
            <a:ext cx="566929" cy="566929"/>
          </a:xfrm>
          <a:prstGeom prst="rect">
            <a:avLst/>
          </a:prstGeom>
          <a:ln w="12700">
            <a:miter lim="400000"/>
          </a:ln>
        </p:spPr>
      </p:pic>
      <p:sp>
        <p:nvSpPr>
          <p:cNvPr id="132" name="Text 17"/>
          <p:cNvSpPr txBox="1"/>
          <p:nvPr/>
        </p:nvSpPr>
        <p:spPr>
          <a:xfrm>
            <a:off x="10073639" y="3872550"/>
            <a:ext cx="1481329" cy="2285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1E2761"/>
                </a:solidFill>
                <a:latin typeface="+mn-lt"/>
                <a:ea typeface="+mn-ea"/>
                <a:cs typeface="+mn-cs"/>
                <a:sym typeface="Calibri"/>
              </a:defRPr>
            </a:lvl1pPr>
          </a:lstStyle>
          <a:p>
            <a:r>
              <a:t>GitHub</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Text 0"/>
          <p:cNvSpPr txBox="1"/>
          <p:nvPr/>
        </p:nvSpPr>
        <p:spPr>
          <a:xfrm>
            <a:off x="640080" y="525071"/>
            <a:ext cx="9144001" cy="1568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400" b="1" spc="200">
                <a:solidFill>
                  <a:srgbClr val="D97706"/>
                </a:solidFill>
                <a:latin typeface="+mn-lt"/>
                <a:ea typeface="+mn-ea"/>
                <a:cs typeface="+mn-cs"/>
                <a:sym typeface="Calibri"/>
              </a:defRPr>
            </a:lvl1pPr>
          </a:lstStyle>
          <a:p>
            <a:r>
              <a:t>RAG TRACK · STATUS</a:t>
            </a:r>
          </a:p>
        </p:txBody>
      </p:sp>
      <p:sp>
        <p:nvSpPr>
          <p:cNvPr id="135" name="Text 1"/>
          <p:cNvSpPr txBox="1"/>
          <p:nvPr/>
        </p:nvSpPr>
        <p:spPr>
          <a:xfrm>
            <a:off x="640080" y="786383"/>
            <a:ext cx="10881360" cy="355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600">
                <a:solidFill>
                  <a:srgbClr val="1E2761"/>
                </a:solidFill>
                <a:latin typeface="Cambria"/>
                <a:ea typeface="Cambria"/>
                <a:cs typeface="Cambria"/>
                <a:sym typeface="Cambria"/>
              </a:defRPr>
            </a:lvl1pPr>
          </a:lstStyle>
          <a:p>
            <a:r>
              <a:t>Turning a fault forecast into a cited repair recommendation</a:t>
            </a:r>
          </a:p>
        </p:txBody>
      </p:sp>
      <p:sp>
        <p:nvSpPr>
          <p:cNvPr id="136" name="Text 2"/>
          <p:cNvSpPr txBox="1"/>
          <p:nvPr/>
        </p:nvSpPr>
        <p:spPr>
          <a:xfrm>
            <a:off x="640080" y="1672265"/>
            <a:ext cx="10881360" cy="1667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defRPr sz="1500">
                <a:solidFill>
                  <a:srgbClr val="3A3F52"/>
                </a:solidFill>
                <a:latin typeface="+mn-lt"/>
                <a:ea typeface="+mn-ea"/>
                <a:cs typeface="+mn-cs"/>
                <a:sym typeface="Calibri"/>
              </a:defRPr>
            </a:pPr>
            <a:r>
              <a:t>The classifier tells the fleet manager </a:t>
            </a:r>
            <a:r>
              <a:rPr b="1" i="1"/>
              <a:t>that</a:t>
            </a:r>
            <a:r>
              <a:t> a fault is coming. The RAG layer tells them </a:t>
            </a:r>
            <a:r>
              <a:rPr b="1" i="1"/>
              <a:t>what to do about it</a:t>
            </a:r>
            <a:r>
              <a:t> — built end-to-end, corpus to cited ticket.</a:t>
            </a:r>
          </a:p>
        </p:txBody>
      </p:sp>
      <p:graphicFrame>
        <p:nvGraphicFramePr>
          <p:cNvPr id="137" name="Table 0"/>
          <p:cNvGraphicFramePr/>
          <p:nvPr/>
        </p:nvGraphicFramePr>
        <p:xfrm>
          <a:off x="640080" y="2103120"/>
          <a:ext cx="10927080" cy="3493004"/>
        </p:xfrm>
        <a:graphic>
          <a:graphicData uri="http://schemas.openxmlformats.org/drawingml/2006/table">
            <a:tbl>
              <a:tblPr>
                <a:tableStyleId>{4C3C2611-4C71-4FC5-86AE-919BDF0F9419}</a:tableStyleId>
              </a:tblPr>
              <a:tblGrid>
                <a:gridCol w="5000000">
                  <a:extLst>
                    <a:ext uri="{9D8B030D-6E8A-4147-A177-3AD203B41FA5}">
                      <a16:colId xmlns:a16="http://schemas.microsoft.com/office/drawing/2014/main" val="20000"/>
                    </a:ext>
                  </a:extLst>
                </a:gridCol>
                <a:gridCol w="5927080">
                  <a:extLst>
                    <a:ext uri="{9D8B030D-6E8A-4147-A177-3AD203B41FA5}">
                      <a16:colId xmlns:a16="http://schemas.microsoft.com/office/drawing/2014/main" val="20001"/>
                    </a:ext>
                  </a:extLst>
                </a:gridCol>
              </a:tblGrid>
              <a:tr h="384048">
                <a:tc>
                  <a:txBody>
                    <a:bodyPr/>
                    <a:lstStyle/>
                    <a:p>
                      <a:pPr algn="l">
                        <a:defRPr sz="2000"/>
                      </a:pPr>
                      <a:r>
                        <a:rPr sz="1400" b="1">
                          <a:solidFill>
                            <a:srgbClr val="FFFFFF"/>
                          </a:solidFill>
                        </a:rPr>
                        <a:t>Workstream</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1E2761"/>
                    </a:solidFill>
                  </a:tcPr>
                </a:tc>
                <a:tc>
                  <a:txBody>
                    <a:bodyPr/>
                    <a:lstStyle/>
                    <a:p>
                      <a:pPr algn="l">
                        <a:defRPr sz="2000"/>
                      </a:pPr>
                      <a:r>
                        <a:rPr sz="1400" b="1">
                          <a:solidFill>
                            <a:srgbClr val="FFFFFF"/>
                          </a:solidFill>
                        </a:rPr>
                        <a:t>Status</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1E2761"/>
                    </a:solidFill>
                  </a:tcPr>
                </a:tc>
                <a:extLst>
                  <a:ext uri="{0D108BD9-81ED-4DB2-BD59-A6C34878D82A}">
                    <a16:rowId xmlns:a16="http://schemas.microsoft.com/office/drawing/2014/main" val="10000"/>
                  </a:ext>
                </a:extLst>
              </a:tr>
              <a:tr h="502919">
                <a:tc>
                  <a:txBody>
                    <a:bodyPr/>
                    <a:lstStyle/>
                    <a:p>
                      <a:pPr algn="l">
                        <a:defRPr sz="2000"/>
                      </a:pPr>
                      <a:r>
                        <a:rPr sz="1400" b="1">
                          <a:solidFill>
                            <a:srgbClr val="1E2761"/>
                          </a:solidFill>
                        </a:rPr>
                        <a:t>NHTSA RAG corpus</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FFFFF"/>
                    </a:solidFill>
                  </a:tcPr>
                </a:tc>
                <a:tc>
                  <a:txBody>
                    <a:bodyPr/>
                    <a:lstStyle/>
                    <a:p>
                      <a:pPr algn="l">
                        <a:defRPr b="1">
                          <a:solidFill>
                            <a:srgbClr val="3F7D5C"/>
                          </a:solidFill>
                        </a:defRPr>
                      </a:pPr>
                      <a:r>
                        <a:t>●  </a:t>
                      </a:r>
                      <a:r>
                        <a:rPr b="0">
                          <a:solidFill>
                            <a:srgbClr val="3A3F52"/>
                          </a:solidFill>
                        </a:rPr>
                        <a:t>Done</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FFFFF"/>
                    </a:solidFill>
                  </a:tcPr>
                </a:tc>
                <a:extLst>
                  <a:ext uri="{0D108BD9-81ED-4DB2-BD59-A6C34878D82A}">
                    <a16:rowId xmlns:a16="http://schemas.microsoft.com/office/drawing/2014/main" val="10001"/>
                  </a:ext>
                </a:extLst>
              </a:tr>
              <a:tr h="502919">
                <a:tc>
                  <a:txBody>
                    <a:bodyPr/>
                    <a:lstStyle/>
                    <a:p>
                      <a:pPr algn="l">
                        <a:defRPr sz="2000"/>
                      </a:pPr>
                      <a:r>
                        <a:rPr sz="1400" b="1">
                          <a:solidFill>
                            <a:srgbClr val="1E2761"/>
                          </a:solidFill>
                        </a:rPr>
                        <a:t>Corpus indexing (TF-IDF)</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7F8FB"/>
                    </a:solidFill>
                  </a:tcPr>
                </a:tc>
                <a:tc>
                  <a:txBody>
                    <a:bodyPr/>
                    <a:lstStyle/>
                    <a:p>
                      <a:pPr algn="l">
                        <a:defRPr b="1">
                          <a:solidFill>
                            <a:srgbClr val="3F7D5C"/>
                          </a:solidFill>
                        </a:defRPr>
                      </a:pPr>
                      <a:r>
                        <a:t>●  </a:t>
                      </a:r>
                      <a:r>
                        <a:rPr b="0">
                          <a:solidFill>
                            <a:srgbClr val="3A3F52"/>
                          </a:solidFill>
                        </a:rPr>
                        <a:t>Done</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7F8FB"/>
                    </a:solidFill>
                  </a:tcPr>
                </a:tc>
                <a:extLst>
                  <a:ext uri="{0D108BD9-81ED-4DB2-BD59-A6C34878D82A}">
                    <a16:rowId xmlns:a16="http://schemas.microsoft.com/office/drawing/2014/main" val="10002"/>
                  </a:ext>
                </a:extLst>
              </a:tr>
              <a:tr h="548640">
                <a:tc>
                  <a:txBody>
                    <a:bodyPr/>
                    <a:lstStyle/>
                    <a:p>
                      <a:pPr algn="l">
                        <a:defRPr sz="2000"/>
                      </a:pPr>
                      <a:r>
                        <a:rPr sz="1400" b="1">
                          <a:solidFill>
                            <a:srgbClr val="1E2761"/>
                          </a:solidFill>
                        </a:rPr>
                        <a:t>Retrieval quality gate</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FFFFF"/>
                    </a:solidFill>
                  </a:tcPr>
                </a:tc>
                <a:tc>
                  <a:txBody>
                    <a:bodyPr/>
                    <a:lstStyle/>
                    <a:p>
                      <a:pPr algn="l">
                        <a:defRPr b="1">
                          <a:solidFill>
                            <a:srgbClr val="3F7D5C"/>
                          </a:solidFill>
                        </a:defRPr>
                      </a:pPr>
                      <a:r>
                        <a:t>●  </a:t>
                      </a:r>
                      <a:r>
                        <a:rPr b="0">
                          <a:solidFill>
                            <a:srgbClr val="3A3F52"/>
                          </a:solidFill>
                        </a:rPr>
                        <a:t>Done</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FFFFF"/>
                    </a:solidFill>
                  </a:tcPr>
                </a:tc>
                <a:extLst>
                  <a:ext uri="{0D108BD9-81ED-4DB2-BD59-A6C34878D82A}">
                    <a16:rowId xmlns:a16="http://schemas.microsoft.com/office/drawing/2014/main" val="10003"/>
                  </a:ext>
                </a:extLst>
              </a:tr>
              <a:tr h="548640">
                <a:tc>
                  <a:txBody>
                    <a:bodyPr/>
                    <a:lstStyle/>
                    <a:p>
                      <a:pPr algn="l">
                        <a:defRPr sz="2000"/>
                      </a:pPr>
                      <a:r>
                        <a:rPr sz="1400" b="1">
                          <a:solidFill>
                            <a:srgbClr val="1E2761"/>
                          </a:solidFill>
                        </a:rPr>
                        <a:t>Repair ticket generation</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7F8FB"/>
                    </a:solidFill>
                  </a:tcPr>
                </a:tc>
                <a:tc>
                  <a:txBody>
                    <a:bodyPr/>
                    <a:lstStyle/>
                    <a:p>
                      <a:pPr algn="l">
                        <a:defRPr b="1">
                          <a:solidFill>
                            <a:srgbClr val="3F7D5C"/>
                          </a:solidFill>
                        </a:defRPr>
                      </a:pPr>
                      <a:r>
                        <a:t>●  </a:t>
                      </a:r>
                      <a:r>
                        <a:rPr b="0">
                          <a:solidFill>
                            <a:srgbClr val="3A3F52"/>
                          </a:solidFill>
                        </a:rPr>
                        <a:t>Done</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7F8FB"/>
                    </a:solidFill>
                  </a:tcPr>
                </a:tc>
                <a:extLst>
                  <a:ext uri="{0D108BD9-81ED-4DB2-BD59-A6C34878D82A}">
                    <a16:rowId xmlns:a16="http://schemas.microsoft.com/office/drawing/2014/main" val="10004"/>
                  </a:ext>
                </a:extLst>
              </a:tr>
              <a:tr h="502919">
                <a:tc>
                  <a:txBody>
                    <a:bodyPr/>
                    <a:lstStyle/>
                    <a:p>
                      <a:pPr algn="l">
                        <a:defRPr sz="2000"/>
                      </a:pPr>
                      <a:r>
                        <a:rPr sz="1400" b="1">
                          <a:solidFill>
                            <a:srgbClr val="1E2761"/>
                          </a:solidFill>
                        </a:rPr>
                        <a:t>Fleet-manager dashboard</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FFFFF"/>
                    </a:solidFill>
                  </a:tcPr>
                </a:tc>
                <a:tc>
                  <a:txBody>
                    <a:bodyPr/>
                    <a:lstStyle/>
                    <a:p>
                      <a:pPr algn="l">
                        <a:defRPr b="1">
                          <a:solidFill>
                            <a:srgbClr val="9CA3AF"/>
                          </a:solidFill>
                        </a:defRPr>
                      </a:pPr>
                      <a:r>
                        <a:t>●  </a:t>
                      </a:r>
                      <a:r>
                        <a:rPr b="0">
                          <a:solidFill>
                            <a:srgbClr val="3A3F52"/>
                          </a:solidFill>
                        </a:rPr>
                        <a:t>Not started</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FFFFF"/>
                    </a:solidFill>
                  </a:tcPr>
                </a:tc>
                <a:extLst>
                  <a:ext uri="{0D108BD9-81ED-4DB2-BD59-A6C34878D82A}">
                    <a16:rowId xmlns:a16="http://schemas.microsoft.com/office/drawing/2014/main" val="10005"/>
                  </a:ext>
                </a:extLst>
              </a:tr>
              <a:tr h="502919">
                <a:tc>
                  <a:txBody>
                    <a:bodyPr/>
                    <a:lstStyle/>
                    <a:p>
                      <a:pPr algn="l">
                        <a:defRPr sz="2000"/>
                      </a:pPr>
                      <a:r>
                        <a:rPr sz="1400" b="1">
                          <a:solidFill>
                            <a:srgbClr val="1E2761"/>
                          </a:solidFill>
                        </a:rPr>
                        <a:t>Deployment &amp; evaluation</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7F8FB"/>
                    </a:solidFill>
                  </a:tcPr>
                </a:tc>
                <a:tc>
                  <a:txBody>
                    <a:bodyPr/>
                    <a:lstStyle/>
                    <a:p>
                      <a:pPr algn="l">
                        <a:defRPr b="1">
                          <a:solidFill>
                            <a:srgbClr val="9CA3AF"/>
                          </a:solidFill>
                        </a:defRPr>
                      </a:pPr>
                      <a:r>
                        <a:t>●  </a:t>
                      </a:r>
                      <a:r>
                        <a:rPr b="0">
                          <a:solidFill>
                            <a:srgbClr val="3A3F52"/>
                          </a:solidFill>
                        </a:rPr>
                        <a:t>Not started</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7F8FB"/>
                    </a:solidFill>
                  </a:tcPr>
                </a:tc>
                <a:extLst>
                  <a:ext uri="{0D108BD9-81ED-4DB2-BD59-A6C34878D82A}">
                    <a16:rowId xmlns:a16="http://schemas.microsoft.com/office/drawing/2014/main" val="10006"/>
                  </a:ext>
                </a:extLst>
              </a:tr>
            </a:tbl>
          </a:graphicData>
        </a:graphic>
      </p:graphicFrame>
      <p:sp>
        <p:nvSpPr>
          <p:cNvPr id="138" name="Shape 3"/>
          <p:cNvSpPr/>
          <p:nvPr/>
        </p:nvSpPr>
        <p:spPr>
          <a:xfrm>
            <a:off x="640080" y="5623559"/>
            <a:ext cx="10927082" cy="868682"/>
          </a:xfrm>
          <a:prstGeom prst="roundRect">
            <a:avLst>
              <a:gd name="adj" fmla="val 8421"/>
            </a:avLst>
          </a:prstGeom>
          <a:solidFill>
            <a:srgbClr val="1E2761"/>
          </a:solidFill>
          <a:ln w="12700">
            <a:miter lim="400000"/>
          </a:ln>
        </p:spPr>
        <p:txBody>
          <a:bodyPr lIns="45718" tIns="45718" rIns="45718" bIns="45718"/>
          <a:lstStyle/>
          <a:p>
            <a:pPr>
              <a:defRPr>
                <a:latin typeface="+mn-lt"/>
                <a:ea typeface="+mn-ea"/>
                <a:cs typeface="+mn-cs"/>
                <a:sym typeface="Calibri"/>
              </a:defRPr>
            </a:pPr>
            <a:endParaRPr/>
          </a:p>
        </p:txBody>
      </p:sp>
      <p:sp>
        <p:nvSpPr>
          <p:cNvPr id="139" name="Text 4"/>
          <p:cNvSpPr txBox="1"/>
          <p:nvPr/>
        </p:nvSpPr>
        <p:spPr>
          <a:xfrm>
            <a:off x="914398" y="5872451"/>
            <a:ext cx="10378444" cy="3708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lnSpc>
                <a:spcPct val="115000"/>
              </a:lnSpc>
              <a:defRPr sz="1400" b="1" i="1">
                <a:solidFill>
                  <a:srgbClr val="D97706"/>
                </a:solidFill>
                <a:latin typeface="+mn-lt"/>
                <a:ea typeface="+mn-ea"/>
                <a:cs typeface="+mn-cs"/>
                <a:sym typeface="Calibri"/>
              </a:defRPr>
            </a:pPr>
            <a:r>
              <a:t>Gate passed:  </a:t>
            </a:r>
            <a:r>
              <a:rPr b="0">
                <a:solidFill>
                  <a:srgbClr val="F5F3EE"/>
                </a:solidFill>
              </a:rPr>
              <a:t>retrieval correctly surfaces the right NHTSA record 90% of the time at rank 1, 97% of the time in the top 5 — full numbers on the results slide ahead.</a:t>
            </a:r>
          </a:p>
        </p:txBody>
      </p:sp>
      <p:sp>
        <p:nvSpPr>
          <p:cNvPr id="140" name="Text 5"/>
          <p:cNvSpPr txBox="1"/>
          <p:nvPr/>
        </p:nvSpPr>
        <p:spPr>
          <a:xfrm>
            <a:off x="11277295" y="6423704"/>
            <a:ext cx="548642" cy="1370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r">
              <a:defRPr sz="1000">
                <a:solidFill>
                  <a:srgbClr val="B7BAC6"/>
                </a:solidFill>
                <a:latin typeface="+mn-lt"/>
                <a:ea typeface="+mn-ea"/>
                <a:cs typeface="+mn-cs"/>
                <a:sym typeface="Calibri"/>
              </a:defRPr>
            </a:lvl1pPr>
          </a:lstStyle>
          <a:p>
            <a:r>
              <a:t>14</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Text 0"/>
          <p:cNvSpPr txBox="1"/>
          <p:nvPr/>
        </p:nvSpPr>
        <p:spPr>
          <a:xfrm>
            <a:off x="640080" y="525071"/>
            <a:ext cx="9144001" cy="1568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400" b="1" spc="200">
                <a:solidFill>
                  <a:srgbClr val="D97706"/>
                </a:solidFill>
                <a:latin typeface="+mn-lt"/>
                <a:ea typeface="+mn-ea"/>
                <a:cs typeface="+mn-cs"/>
                <a:sym typeface="Calibri"/>
              </a:defRPr>
            </a:lvl1pPr>
          </a:lstStyle>
          <a:p>
            <a:r>
              <a:t>RAG TRACK · CORPUS &amp; METHOD</a:t>
            </a:r>
          </a:p>
        </p:txBody>
      </p:sp>
      <p:sp>
        <p:nvSpPr>
          <p:cNvPr id="135" name="Text 1"/>
          <p:cNvSpPr txBox="1"/>
          <p:nvPr/>
        </p:nvSpPr>
        <p:spPr>
          <a:xfrm>
            <a:off x="640080" y="786383"/>
            <a:ext cx="10881360" cy="355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600">
                <a:solidFill>
                  <a:srgbClr val="1E2761"/>
                </a:solidFill>
                <a:latin typeface="Cambria"/>
                <a:ea typeface="Cambria"/>
                <a:cs typeface="Cambria"/>
                <a:sym typeface="Cambria"/>
              </a:defRPr>
            </a:lvl1pPr>
          </a:lstStyle>
          <a:p>
            <a:r>
              <a:t>What’s actually in the corpus, and how retrieval works</a:t>
            </a:r>
          </a:p>
        </p:txBody>
      </p:sp>
      <p:sp>
        <p:nvSpPr>
          <p:cNvPr id="136" name="Text 2"/>
          <p:cNvSpPr txBox="1"/>
          <p:nvPr/>
        </p:nvSpPr>
        <p:spPr>
          <a:xfrm>
            <a:off x="640080" y="1672265"/>
            <a:ext cx="10881360" cy="1667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defRPr sz="1500">
                <a:solidFill>
                  <a:srgbClr val="3A3F52"/>
                </a:solidFill>
                <a:latin typeface="+mn-lt"/>
                <a:ea typeface="+mn-ea"/>
                <a:cs typeface="+mn-cs"/>
                <a:sym typeface="Calibri"/>
              </a:defRPr>
            </a:pPr>
            <a:r>
              <a:t>Two real NHTSA sources, one row per document, and a lexical search method chosen for a real constraint </a:t>
            </a:r>
            <a:r>
              <a:rPr b="1" i="1"/>
              <a:t>-- not a shortcut taken quietly.</a:t>
            </a:r>
          </a:p>
        </p:txBody>
      </p:sp>
      <p:graphicFrame>
        <p:nvGraphicFramePr>
          <p:cNvPr id="137" name="Table 0"/>
          <p:cNvGraphicFramePr/>
          <p:nvPr/>
        </p:nvGraphicFramePr>
        <p:xfrm>
          <a:off x="640080" y="2103120"/>
          <a:ext cx="10927080" cy="3493004"/>
        </p:xfrm>
        <a:graphic>
          <a:graphicData uri="http://schemas.openxmlformats.org/drawingml/2006/table">
            <a:tbl>
              <a:tblPr>
                <a:tableStyleId>{4C3C2611-4C71-4FC5-86AE-919BDF0F9419}</a:tableStyleId>
              </a:tblPr>
              <a:tblGrid>
                <a:gridCol w="5000000">
                  <a:extLst>
                    <a:ext uri="{9D8B030D-6E8A-4147-A177-3AD203B41FA5}">
                      <a16:colId xmlns:a16="http://schemas.microsoft.com/office/drawing/2014/main" val="20000"/>
                    </a:ext>
                  </a:extLst>
                </a:gridCol>
                <a:gridCol w="5927080">
                  <a:extLst>
                    <a:ext uri="{9D8B030D-6E8A-4147-A177-3AD203B41FA5}">
                      <a16:colId xmlns:a16="http://schemas.microsoft.com/office/drawing/2014/main" val="20001"/>
                    </a:ext>
                  </a:extLst>
                </a:gridCol>
              </a:tblGrid>
              <a:tr h="384048">
                <a:tc>
                  <a:txBody>
                    <a:bodyPr/>
                    <a:lstStyle/>
                    <a:p>
                      <a:pPr algn="l">
                        <a:defRPr sz="2000"/>
                      </a:pPr>
                      <a:r>
                        <a:rPr sz="1400" b="1">
                          <a:solidFill>
                            <a:srgbClr val="FFFFFF"/>
                          </a:solidFill>
                        </a:rPr>
                        <a:t>Fact</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1E2761"/>
                    </a:solidFill>
                  </a:tcPr>
                </a:tc>
                <a:tc>
                  <a:txBody>
                    <a:bodyPr/>
                    <a:lstStyle/>
                    <a:p>
                      <a:pPr algn="l">
                        <a:defRPr sz="2000"/>
                      </a:pPr>
                      <a:r>
                        <a:rPr sz="1400" b="1">
                          <a:solidFill>
                            <a:srgbClr val="FFFFFF"/>
                          </a:solidFill>
                        </a:rPr>
                        <a:t>Detail</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1E2761"/>
                    </a:solidFill>
                  </a:tcPr>
                </a:tc>
                <a:extLst>
                  <a:ext uri="{0D108BD9-81ED-4DB2-BD59-A6C34878D82A}">
                    <a16:rowId xmlns:a16="http://schemas.microsoft.com/office/drawing/2014/main" val="10000"/>
                  </a:ext>
                </a:extLst>
              </a:tr>
              <a:tr h="502919">
                <a:tc>
                  <a:txBody>
                    <a:bodyPr/>
                    <a:lstStyle/>
                    <a:p>
                      <a:pPr algn="l">
                        <a:defRPr sz="2000"/>
                      </a:pPr>
                      <a:r>
                        <a:rPr sz="1400" b="1">
                          <a:solidFill>
                            <a:srgbClr val="1E2761"/>
                          </a:solidFill>
                        </a:rPr>
                        <a:t>Recall records</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FFFFF"/>
                    </a:solidFill>
                  </a:tcPr>
                </a:tc>
                <a:tc>
                  <a:txBody>
                    <a:bodyPr/>
                    <a:lstStyle/>
                    <a:p>
                      <a:pPr algn="l">
                        <a:defRPr sz="1400">
                          <a:solidFill>
                            <a:srgbClr val="3A3F52"/>
                          </a:solidFill>
                        </a:defRPr>
                      </a:pPr>
                      <a:r>
                        <a:t>202 NHTSA recall notices, filtered to TRACTION BATTERY / ELECTRICAL SYSTEM</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FFFFF"/>
                    </a:solidFill>
                  </a:tcPr>
                </a:tc>
                <a:extLst>
                  <a:ext uri="{0D108BD9-81ED-4DB2-BD59-A6C34878D82A}">
                    <a16:rowId xmlns:a16="http://schemas.microsoft.com/office/drawing/2014/main" val="10001"/>
                  </a:ext>
                </a:extLst>
              </a:tr>
              <a:tr h="502919">
                <a:tc>
                  <a:txBody>
                    <a:bodyPr/>
                    <a:lstStyle/>
                    <a:p>
                      <a:pPr algn="l">
                        <a:defRPr sz="2000"/>
                      </a:pPr>
                      <a:r>
                        <a:rPr sz="1400" b="1">
                          <a:solidFill>
                            <a:srgbClr val="1E2761"/>
                          </a:solidFill>
                        </a:rPr>
                        <a:t>Complaint records</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7F8FB"/>
                    </a:solidFill>
                  </a:tcPr>
                </a:tc>
                <a:tc>
                  <a:txBody>
                    <a:bodyPr/>
                    <a:lstStyle/>
                    <a:p>
                      <a:pPr algn="l">
                        <a:defRPr sz="1400">
                          <a:solidFill>
                            <a:srgbClr val="3A3F52"/>
                          </a:solidFill>
                        </a:defRPr>
                      </a:pPr>
                      <a:r>
                        <a:t>3,329 real owner complaint narratives, same subsystem filter</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7F8FB"/>
                    </a:solidFill>
                  </a:tcPr>
                </a:tc>
                <a:extLst>
                  <a:ext uri="{0D108BD9-81ED-4DB2-BD59-A6C34878D82A}">
                    <a16:rowId xmlns:a16="http://schemas.microsoft.com/office/drawing/2014/main" val="10002"/>
                  </a:ext>
                </a:extLst>
              </a:tr>
              <a:tr h="548640">
                <a:tc>
                  <a:txBody>
                    <a:bodyPr/>
                    <a:lstStyle/>
                    <a:p>
                      <a:pPr algn="l">
                        <a:defRPr sz="2000"/>
                      </a:pPr>
                      <a:r>
                        <a:rPr sz="1400" b="1">
                          <a:solidFill>
                            <a:srgbClr val="1E2761"/>
                          </a:solidFill>
                        </a:rPr>
                        <a:t>Chunking</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FFFFF"/>
                    </a:solidFill>
                  </a:tcPr>
                </a:tc>
                <a:tc>
                  <a:txBody>
                    <a:bodyPr/>
                    <a:lstStyle/>
                    <a:p>
                      <a:pPr algn="l">
                        <a:defRPr sz="1400">
                          <a:solidFill>
                            <a:srgbClr val="3A3F52"/>
                          </a:solidFill>
                        </a:defRPr>
                      </a:pPr>
                      <a:r>
                        <a:t>One row = one document -- each record is already a short paragraph, nothing to split</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FFFFF"/>
                    </a:solidFill>
                  </a:tcPr>
                </a:tc>
                <a:extLst>
                  <a:ext uri="{0D108BD9-81ED-4DB2-BD59-A6C34878D82A}">
                    <a16:rowId xmlns:a16="http://schemas.microsoft.com/office/drawing/2014/main" val="10003"/>
                  </a:ext>
                </a:extLst>
              </a:tr>
              <a:tr h="548640">
                <a:tc>
                  <a:txBody>
                    <a:bodyPr/>
                    <a:lstStyle/>
                    <a:p>
                      <a:pPr algn="l">
                        <a:defRPr sz="2000"/>
                      </a:pPr>
                      <a:r>
                        <a:rPr sz="1400" b="1">
                          <a:solidFill>
                            <a:srgbClr val="1E2761"/>
                          </a:solidFill>
                        </a:rPr>
                        <a:t>Indexing method</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7F8FB"/>
                    </a:solidFill>
                  </a:tcPr>
                </a:tc>
                <a:tc>
                  <a:txBody>
                    <a:bodyPr/>
                    <a:lstStyle/>
                    <a:p>
                      <a:pPr algn="l">
                        <a:defRPr sz="1400">
                          <a:solidFill>
                            <a:srgbClr val="3A3F52"/>
                          </a:solidFill>
                        </a:defRPr>
                      </a:pPr>
                      <a:r>
                        <a:t>TF-IDF + cosine similarity (scikit-learn), not neural embeddings</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7F8FB"/>
                    </a:solidFill>
                  </a:tcPr>
                </a:tc>
                <a:extLst>
                  <a:ext uri="{0D108BD9-81ED-4DB2-BD59-A6C34878D82A}">
                    <a16:rowId xmlns:a16="http://schemas.microsoft.com/office/drawing/2014/main" val="10004"/>
                  </a:ext>
                </a:extLst>
              </a:tr>
              <a:tr h="502919">
                <a:tc>
                  <a:txBody>
                    <a:bodyPr/>
                    <a:lstStyle/>
                    <a:p>
                      <a:pPr algn="l">
                        <a:defRPr sz="2000"/>
                      </a:pPr>
                      <a:r>
                        <a:rPr sz="1400" b="1">
                          <a:solidFill>
                            <a:srgbClr val="1E2761"/>
                          </a:solidFill>
                        </a:rPr>
                        <a:t>Why not embeddings</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FFFFF"/>
                    </a:solidFill>
                  </a:tcPr>
                </a:tc>
                <a:tc>
                  <a:txBody>
                    <a:bodyPr/>
                    <a:lstStyle/>
                    <a:p>
                      <a:pPr algn="l">
                        <a:defRPr sz="1400">
                          <a:solidFill>
                            <a:srgbClr val="3A3F52"/>
                          </a:solidFill>
                        </a:defRPr>
                      </a:pPr>
                      <a:r>
                        <a:t>sentence-transformers needs torch; install failed on disk space in the dev sandbox</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FFFFF"/>
                    </a:solidFill>
                  </a:tcPr>
                </a:tc>
                <a:extLst>
                  <a:ext uri="{0D108BD9-81ED-4DB2-BD59-A6C34878D82A}">
                    <a16:rowId xmlns:a16="http://schemas.microsoft.com/office/drawing/2014/main" val="10005"/>
                  </a:ext>
                </a:extLst>
              </a:tr>
              <a:tr h="502919">
                <a:tc>
                  <a:txBody>
                    <a:bodyPr/>
                    <a:lstStyle/>
                    <a:p>
                      <a:pPr algn="l">
                        <a:defRPr sz="2000"/>
                      </a:pPr>
                      <a:r>
                        <a:rPr sz="1400" b="1">
                          <a:solidFill>
                            <a:srgbClr val="1E2761"/>
                          </a:solidFill>
                        </a:rPr>
                        <a:t>Is TF-IDF legitimate?</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7F8FB"/>
                    </a:solidFill>
                  </a:tcPr>
                </a:tc>
                <a:tc>
                  <a:txBody>
                    <a:bodyPr/>
                    <a:lstStyle/>
                    <a:p>
                      <a:pPr algn="l">
                        <a:defRPr sz="1400">
                          <a:solidFill>
                            <a:srgbClr val="3A3F52"/>
                          </a:solidFill>
                        </a:defRPr>
                      </a:pPr>
                      <a:r>
                        <a:t>Yes -- the same lexical-matching idea BM25 search is built on; strong on short structured text</a:t>
                      </a:r>
                    </a:p>
                  </a:txBody>
                  <a:tcPr marL="45720" marR="45720" anchor="ctr" horzOverflow="overflow">
                    <a:lnL>
                      <a:solidFill>
                        <a:srgbClr val="E2E4EC"/>
                      </a:solidFill>
                    </a:lnL>
                    <a:lnR>
                      <a:solidFill>
                        <a:srgbClr val="E2E4EC"/>
                      </a:solidFill>
                    </a:lnR>
                    <a:lnT>
                      <a:solidFill>
                        <a:srgbClr val="E2E4EC"/>
                      </a:solidFill>
                    </a:lnT>
                    <a:lnB>
                      <a:solidFill>
                        <a:srgbClr val="E2E4EC"/>
                      </a:solidFill>
                    </a:lnB>
                    <a:solidFill>
                      <a:srgbClr val="F7F8FB"/>
                    </a:solidFill>
                  </a:tcPr>
                </a:tc>
                <a:extLst>
                  <a:ext uri="{0D108BD9-81ED-4DB2-BD59-A6C34878D82A}">
                    <a16:rowId xmlns:a16="http://schemas.microsoft.com/office/drawing/2014/main" val="10006"/>
                  </a:ext>
                </a:extLst>
              </a:tr>
            </a:tbl>
          </a:graphicData>
        </a:graphic>
      </p:graphicFrame>
      <p:sp>
        <p:nvSpPr>
          <p:cNvPr id="138" name="Shape 3"/>
          <p:cNvSpPr/>
          <p:nvPr/>
        </p:nvSpPr>
        <p:spPr>
          <a:xfrm>
            <a:off x="640080" y="5623559"/>
            <a:ext cx="10927082" cy="868682"/>
          </a:xfrm>
          <a:prstGeom prst="roundRect">
            <a:avLst>
              <a:gd name="adj" fmla="val 8421"/>
            </a:avLst>
          </a:prstGeom>
          <a:solidFill>
            <a:srgbClr val="1E2761"/>
          </a:solidFill>
          <a:ln w="12700">
            <a:miter lim="400000"/>
          </a:ln>
        </p:spPr>
        <p:txBody>
          <a:bodyPr lIns="45718" tIns="45718" rIns="45718" bIns="45718"/>
          <a:lstStyle/>
          <a:p>
            <a:pPr>
              <a:defRPr>
                <a:latin typeface="+mn-lt"/>
                <a:ea typeface="+mn-ea"/>
                <a:cs typeface="+mn-cs"/>
                <a:sym typeface="Calibri"/>
              </a:defRPr>
            </a:pPr>
            <a:endParaRPr/>
          </a:p>
        </p:txBody>
      </p:sp>
      <p:sp>
        <p:nvSpPr>
          <p:cNvPr id="139" name="Text 4"/>
          <p:cNvSpPr txBox="1"/>
          <p:nvPr/>
        </p:nvSpPr>
        <p:spPr>
          <a:xfrm>
            <a:off x="914398" y="5872451"/>
            <a:ext cx="10378444" cy="3708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lnSpc>
                <a:spcPct val="115000"/>
              </a:lnSpc>
              <a:defRPr sz="1400" b="1" i="1">
                <a:solidFill>
                  <a:srgbClr val="D97706"/>
                </a:solidFill>
                <a:latin typeface="+mn-lt"/>
                <a:ea typeface="+mn-ea"/>
                <a:cs typeface="+mn-cs"/>
                <a:sym typeface="Calibri"/>
              </a:defRPr>
            </a:pPr>
            <a:r>
              <a:t>Swappable later:  </a:t>
            </a:r>
            <a:r>
              <a:rPr b="0">
                <a:solidFill>
                  <a:srgbClr val="F5F3EE"/>
                </a:solidFill>
              </a:rPr>
              <a:t>search_recalls_tsbs() is the only function that would need to change to move to dense embeddings later -- corpus loading and the evaluation gate are unaffected.</a:t>
            </a:r>
          </a:p>
        </p:txBody>
      </p:sp>
      <p:sp>
        <p:nvSpPr>
          <p:cNvPr id="140" name="Text 5"/>
          <p:cNvSpPr txBox="1"/>
          <p:nvPr/>
        </p:nvSpPr>
        <p:spPr>
          <a:xfrm>
            <a:off x="11277295" y="6423704"/>
            <a:ext cx="548642" cy="1370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r">
              <a:defRPr sz="1000">
                <a:solidFill>
                  <a:srgbClr val="B7BAC6"/>
                </a:solidFill>
                <a:latin typeface="+mn-lt"/>
                <a:ea typeface="+mn-ea"/>
                <a:cs typeface="+mn-cs"/>
                <a:sym typeface="Calibri"/>
              </a:defRPr>
            </a:lvl1pPr>
          </a:lstStyle>
          <a:p>
            <a:r>
              <a:t>15</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 0"/>
          <p:cNvSpPr txBox="1"/>
          <p:nvPr/>
        </p:nvSpPr>
        <p:spPr>
          <a:xfrm>
            <a:off x="640080" y="511171"/>
            <a:ext cx="9144001" cy="1846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400" b="1" spc="200">
                <a:solidFill>
                  <a:srgbClr val="D97706"/>
                </a:solidFill>
                <a:latin typeface="+mn-lt"/>
                <a:ea typeface="+mn-ea"/>
                <a:cs typeface="+mn-cs"/>
                <a:sym typeface="Calibri"/>
              </a:defRPr>
            </a:lvl1pPr>
          </a:lstStyle>
          <a:p>
            <a:r>
              <a:rPr lang="de-DE" dirty="0"/>
              <a:t>RAG TRACK · END-TO-END FLOW</a:t>
            </a:r>
            <a:endParaRPr dirty="0"/>
          </a:p>
        </p:txBody>
      </p:sp>
      <p:sp>
        <p:nvSpPr>
          <p:cNvPr id="49" name="Text 1"/>
          <p:cNvSpPr txBox="1"/>
          <p:nvPr/>
        </p:nvSpPr>
        <p:spPr>
          <a:xfrm>
            <a:off x="640080" y="786383"/>
            <a:ext cx="10881360" cy="4154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900">
                <a:solidFill>
                  <a:srgbClr val="1E2761"/>
                </a:solidFill>
                <a:latin typeface="Cambria"/>
                <a:ea typeface="Cambria"/>
                <a:cs typeface="Cambria"/>
                <a:sym typeface="Cambria"/>
              </a:defRPr>
            </a:lvl1pPr>
          </a:lstStyle>
          <a:p>
            <a:r>
              <a:rPr lang="de-DE" dirty="0"/>
              <a:t>From fault forecast to a cited repair ticket</a:t>
            </a:r>
            <a:endParaRPr dirty="0"/>
          </a:p>
        </p:txBody>
      </p:sp>
      <p:sp>
        <p:nvSpPr>
          <p:cNvPr id="50" name="Shape 2"/>
          <p:cNvSpPr/>
          <p:nvPr/>
        </p:nvSpPr>
        <p:spPr>
          <a:xfrm>
            <a:off x="640080" y="1965960"/>
            <a:ext cx="2514601" cy="3063240"/>
          </a:xfrm>
          <a:prstGeom prst="roundRect">
            <a:avLst>
              <a:gd name="adj" fmla="val 2909"/>
            </a:avLst>
          </a:prstGeom>
          <a:solidFill>
            <a:srgbClr val="F7F8FB"/>
          </a:solidFill>
          <a:ln w="12700">
            <a:solidFill>
              <a:srgbClr val="E2E4EC"/>
            </a:solidFill>
          </a:ln>
        </p:spPr>
        <p:txBody>
          <a:bodyPr lIns="45718" tIns="45718" rIns="45718" bIns="45718"/>
          <a:lstStyle/>
          <a:p>
            <a:pPr>
              <a:defRPr>
                <a:latin typeface="+mn-lt"/>
                <a:ea typeface="+mn-ea"/>
                <a:cs typeface="+mn-cs"/>
                <a:sym typeface="Calibri"/>
              </a:defRPr>
            </a:pPr>
            <a:endParaRPr/>
          </a:p>
        </p:txBody>
      </p:sp>
      <p:sp>
        <p:nvSpPr>
          <p:cNvPr id="51" name="Text 3"/>
          <p:cNvSpPr txBox="1"/>
          <p:nvPr/>
        </p:nvSpPr>
        <p:spPr>
          <a:xfrm>
            <a:off x="841247" y="2244598"/>
            <a:ext cx="2148841" cy="393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800">
                <a:solidFill>
                  <a:srgbClr val="D97706"/>
                </a:solidFill>
                <a:latin typeface="Cambria"/>
                <a:ea typeface="Cambria"/>
                <a:cs typeface="Cambria"/>
                <a:sym typeface="Cambria"/>
              </a:defRPr>
            </a:lvl1pPr>
          </a:lstStyle>
          <a:p>
            <a:r>
              <a:t>01</a:t>
            </a:r>
          </a:p>
        </p:txBody>
      </p:sp>
      <p:sp>
        <p:nvSpPr>
          <p:cNvPr id="52" name="Text 4"/>
          <p:cNvSpPr txBox="1"/>
          <p:nvPr/>
        </p:nvSpPr>
        <p:spPr>
          <a:xfrm>
            <a:off x="841246" y="2879244"/>
            <a:ext cx="2112268" cy="2308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700" b="1">
                <a:solidFill>
                  <a:srgbClr val="1E2761"/>
                </a:solidFill>
                <a:latin typeface="+mn-lt"/>
                <a:ea typeface="+mn-ea"/>
                <a:cs typeface="+mn-cs"/>
                <a:sym typeface="Calibri"/>
              </a:defRPr>
            </a:lvl1pPr>
          </a:lstStyle>
          <a:p>
            <a:r>
              <a:rPr lang="de-DE" dirty="0"/>
              <a:t>Classify &amp; Explain</a:t>
            </a:r>
            <a:endParaRPr dirty="0"/>
          </a:p>
        </p:txBody>
      </p:sp>
      <p:sp>
        <p:nvSpPr>
          <p:cNvPr id="53" name="Text 5"/>
          <p:cNvSpPr txBox="1"/>
          <p:nvPr/>
        </p:nvSpPr>
        <p:spPr>
          <a:xfrm>
            <a:off x="841246" y="3871087"/>
            <a:ext cx="2112268" cy="386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nSpc>
                <a:spcPct val="117999"/>
              </a:lnSpc>
              <a:defRPr sz="1300">
                <a:solidFill>
                  <a:srgbClr val="6B7280"/>
                </a:solidFill>
                <a:latin typeface="+mn-lt"/>
                <a:ea typeface="+mn-ea"/>
                <a:cs typeface="+mn-cs"/>
                <a:sym typeface="Calibri"/>
              </a:defRPr>
            </a:lvl1pPr>
          </a:lstStyle>
          <a:p>
            <a:r>
              <a:rPr lang="en-US" dirty="0"/>
              <a:t>classify_fault() gives risk + probability; explain_prediction() names the top driving sensors</a:t>
            </a:r>
          </a:p>
          <a:p>
            <a:endParaRPr dirty="0"/>
          </a:p>
        </p:txBody>
      </p:sp>
      <p:sp>
        <p:nvSpPr>
          <p:cNvPr id="54" name="Text 6"/>
          <p:cNvSpPr txBox="1"/>
          <p:nvPr/>
        </p:nvSpPr>
        <p:spPr>
          <a:xfrm>
            <a:off x="3172966" y="3393002"/>
            <a:ext cx="182882" cy="2091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800">
                <a:solidFill>
                  <a:srgbClr val="6B7280"/>
                </a:solidFill>
                <a:latin typeface="+mn-lt"/>
                <a:ea typeface="+mn-ea"/>
                <a:cs typeface="+mn-cs"/>
                <a:sym typeface="Calibri"/>
              </a:defRPr>
            </a:lvl1pPr>
          </a:lstStyle>
          <a:p>
            <a:r>
              <a:t>→</a:t>
            </a:r>
          </a:p>
        </p:txBody>
      </p:sp>
      <p:sp>
        <p:nvSpPr>
          <p:cNvPr id="55" name="Shape 7"/>
          <p:cNvSpPr/>
          <p:nvPr/>
        </p:nvSpPr>
        <p:spPr>
          <a:xfrm>
            <a:off x="3374135" y="1965960"/>
            <a:ext cx="2514602" cy="3063240"/>
          </a:xfrm>
          <a:prstGeom prst="roundRect">
            <a:avLst>
              <a:gd name="adj" fmla="val 2909"/>
            </a:avLst>
          </a:prstGeom>
          <a:solidFill>
            <a:srgbClr val="F7F8FB"/>
          </a:solidFill>
          <a:ln w="12700">
            <a:solidFill>
              <a:srgbClr val="E2E4EC"/>
            </a:solidFill>
          </a:ln>
        </p:spPr>
        <p:txBody>
          <a:bodyPr lIns="45718" tIns="45718" rIns="45718" bIns="45718"/>
          <a:lstStyle/>
          <a:p>
            <a:pPr>
              <a:defRPr>
                <a:latin typeface="+mn-lt"/>
                <a:ea typeface="+mn-ea"/>
                <a:cs typeface="+mn-cs"/>
                <a:sym typeface="Calibri"/>
              </a:defRPr>
            </a:pPr>
            <a:endParaRPr/>
          </a:p>
        </p:txBody>
      </p:sp>
      <p:sp>
        <p:nvSpPr>
          <p:cNvPr id="56" name="Text 8"/>
          <p:cNvSpPr txBox="1"/>
          <p:nvPr/>
        </p:nvSpPr>
        <p:spPr>
          <a:xfrm>
            <a:off x="3575303" y="2244598"/>
            <a:ext cx="2148841" cy="393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800">
                <a:solidFill>
                  <a:srgbClr val="D97706"/>
                </a:solidFill>
                <a:latin typeface="Cambria"/>
                <a:ea typeface="Cambria"/>
                <a:cs typeface="Cambria"/>
                <a:sym typeface="Cambria"/>
              </a:defRPr>
            </a:lvl1pPr>
          </a:lstStyle>
          <a:p>
            <a:r>
              <a:t>02</a:t>
            </a:r>
          </a:p>
        </p:txBody>
      </p:sp>
      <p:sp>
        <p:nvSpPr>
          <p:cNvPr id="57" name="Text 9"/>
          <p:cNvSpPr txBox="1"/>
          <p:nvPr/>
        </p:nvSpPr>
        <p:spPr>
          <a:xfrm>
            <a:off x="3575303" y="2879244"/>
            <a:ext cx="2112266" cy="2308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700" b="1">
                <a:solidFill>
                  <a:srgbClr val="1E2761"/>
                </a:solidFill>
                <a:latin typeface="+mn-lt"/>
                <a:ea typeface="+mn-ea"/>
                <a:cs typeface="+mn-cs"/>
                <a:sym typeface="Calibri"/>
              </a:defRPr>
            </a:lvl1pPr>
          </a:lstStyle>
          <a:p>
            <a:r>
              <a:t>Build Query</a:t>
            </a:r>
            <a:endParaRPr dirty="0"/>
          </a:p>
        </p:txBody>
      </p:sp>
      <p:sp>
        <p:nvSpPr>
          <p:cNvPr id="58" name="Text 10"/>
          <p:cNvSpPr txBox="1"/>
          <p:nvPr/>
        </p:nvSpPr>
        <p:spPr>
          <a:xfrm>
            <a:off x="3575303" y="3871088"/>
            <a:ext cx="2112266" cy="386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nSpc>
                <a:spcPct val="117999"/>
              </a:lnSpc>
              <a:defRPr sz="1300">
                <a:solidFill>
                  <a:srgbClr val="6B7280"/>
                </a:solidFill>
                <a:latin typeface="+mn-lt"/>
                <a:ea typeface="+mn-ea"/>
                <a:cs typeface="+mn-cs"/>
                <a:sym typeface="Calibri"/>
              </a:defRPr>
            </a:lvl1pPr>
          </a:lstStyle>
          <a:p>
            <a:r>
              <a:rPr lang="en-US" dirty="0"/>
              <a:t>_build_query() turns the top driving sensors into a plain-English search string</a:t>
            </a:r>
          </a:p>
          <a:p>
            <a:endParaRPr dirty="0"/>
          </a:p>
        </p:txBody>
      </p:sp>
      <p:sp>
        <p:nvSpPr>
          <p:cNvPr id="59" name="Text 11"/>
          <p:cNvSpPr txBox="1"/>
          <p:nvPr/>
        </p:nvSpPr>
        <p:spPr>
          <a:xfrm>
            <a:off x="5907023" y="3393002"/>
            <a:ext cx="182882" cy="2091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800">
                <a:solidFill>
                  <a:srgbClr val="6B7280"/>
                </a:solidFill>
                <a:latin typeface="+mn-lt"/>
                <a:ea typeface="+mn-ea"/>
                <a:cs typeface="+mn-cs"/>
                <a:sym typeface="Calibri"/>
              </a:defRPr>
            </a:lvl1pPr>
          </a:lstStyle>
          <a:p>
            <a:r>
              <a:t>→</a:t>
            </a:r>
          </a:p>
        </p:txBody>
      </p:sp>
      <p:sp>
        <p:nvSpPr>
          <p:cNvPr id="60" name="Shape 12"/>
          <p:cNvSpPr/>
          <p:nvPr/>
        </p:nvSpPr>
        <p:spPr>
          <a:xfrm>
            <a:off x="6108191" y="1965960"/>
            <a:ext cx="2514602" cy="3063240"/>
          </a:xfrm>
          <a:prstGeom prst="roundRect">
            <a:avLst>
              <a:gd name="adj" fmla="val 2909"/>
            </a:avLst>
          </a:prstGeom>
          <a:solidFill>
            <a:srgbClr val="F7F8FB"/>
          </a:solidFill>
          <a:ln w="12700">
            <a:solidFill>
              <a:srgbClr val="E2E4EC"/>
            </a:solidFill>
          </a:ln>
        </p:spPr>
        <p:txBody>
          <a:bodyPr lIns="45718" tIns="45718" rIns="45718" bIns="45718"/>
          <a:lstStyle/>
          <a:p>
            <a:pPr>
              <a:defRPr>
                <a:latin typeface="+mn-lt"/>
                <a:ea typeface="+mn-ea"/>
                <a:cs typeface="+mn-cs"/>
                <a:sym typeface="Calibri"/>
              </a:defRPr>
            </a:pPr>
            <a:endParaRPr/>
          </a:p>
        </p:txBody>
      </p:sp>
      <p:sp>
        <p:nvSpPr>
          <p:cNvPr id="61" name="Text 13"/>
          <p:cNvSpPr txBox="1"/>
          <p:nvPr/>
        </p:nvSpPr>
        <p:spPr>
          <a:xfrm>
            <a:off x="6309359" y="2244598"/>
            <a:ext cx="2148841" cy="393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800">
                <a:solidFill>
                  <a:srgbClr val="D97706"/>
                </a:solidFill>
                <a:latin typeface="Cambria"/>
                <a:ea typeface="Cambria"/>
                <a:cs typeface="Cambria"/>
                <a:sym typeface="Cambria"/>
              </a:defRPr>
            </a:lvl1pPr>
          </a:lstStyle>
          <a:p>
            <a:r>
              <a:t>03</a:t>
            </a:r>
          </a:p>
        </p:txBody>
      </p:sp>
      <p:sp>
        <p:nvSpPr>
          <p:cNvPr id="62" name="Text 14"/>
          <p:cNvSpPr txBox="1"/>
          <p:nvPr/>
        </p:nvSpPr>
        <p:spPr>
          <a:xfrm>
            <a:off x="6309359" y="2879244"/>
            <a:ext cx="2112266" cy="2308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700" b="1">
                <a:solidFill>
                  <a:srgbClr val="1E2761"/>
                </a:solidFill>
                <a:latin typeface="+mn-lt"/>
                <a:ea typeface="+mn-ea"/>
                <a:cs typeface="+mn-cs"/>
                <a:sym typeface="Calibri"/>
              </a:defRPr>
            </a:lvl1pPr>
          </a:lstStyle>
          <a:p>
            <a:r>
              <a:t>Retrieve</a:t>
            </a:r>
            <a:endParaRPr dirty="0"/>
          </a:p>
        </p:txBody>
      </p:sp>
      <p:sp>
        <p:nvSpPr>
          <p:cNvPr id="63" name="Text 15"/>
          <p:cNvSpPr txBox="1"/>
          <p:nvPr/>
        </p:nvSpPr>
        <p:spPr>
          <a:xfrm>
            <a:off x="6309359" y="3471621"/>
            <a:ext cx="2112266" cy="11857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nSpc>
                <a:spcPct val="117999"/>
              </a:lnSpc>
              <a:defRPr sz="1300">
                <a:solidFill>
                  <a:srgbClr val="6B7280"/>
                </a:solidFill>
                <a:latin typeface="+mn-lt"/>
                <a:ea typeface="+mn-ea"/>
                <a:cs typeface="+mn-cs"/>
                <a:sym typeface="Calibri"/>
              </a:defRPr>
            </a:lvl1pPr>
          </a:lstStyle>
          <a:p>
            <a:r>
              <a:rPr lang="en-US" dirty="0"/>
              <a:t>search_recalls_tsbs() ranks NHTSA records by TF-IDF cosine similarity to the query</a:t>
            </a:r>
          </a:p>
        </p:txBody>
      </p:sp>
      <p:sp>
        <p:nvSpPr>
          <p:cNvPr id="64" name="Text 16"/>
          <p:cNvSpPr txBox="1"/>
          <p:nvPr/>
        </p:nvSpPr>
        <p:spPr>
          <a:xfrm>
            <a:off x="8641080" y="3393002"/>
            <a:ext cx="182882" cy="2091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800">
                <a:solidFill>
                  <a:srgbClr val="6B7280"/>
                </a:solidFill>
                <a:latin typeface="+mn-lt"/>
                <a:ea typeface="+mn-ea"/>
                <a:cs typeface="+mn-cs"/>
                <a:sym typeface="Calibri"/>
              </a:defRPr>
            </a:lvl1pPr>
          </a:lstStyle>
          <a:p>
            <a:r>
              <a:t>→</a:t>
            </a:r>
          </a:p>
        </p:txBody>
      </p:sp>
      <p:sp>
        <p:nvSpPr>
          <p:cNvPr id="65" name="Shape 17"/>
          <p:cNvSpPr/>
          <p:nvPr/>
        </p:nvSpPr>
        <p:spPr>
          <a:xfrm>
            <a:off x="8842247" y="1965960"/>
            <a:ext cx="2514602" cy="3063240"/>
          </a:xfrm>
          <a:prstGeom prst="roundRect">
            <a:avLst>
              <a:gd name="adj" fmla="val 2909"/>
            </a:avLst>
          </a:prstGeom>
          <a:solidFill>
            <a:srgbClr val="1E2761"/>
          </a:solidFill>
          <a:ln w="12700">
            <a:miter lim="400000"/>
          </a:ln>
        </p:spPr>
        <p:txBody>
          <a:bodyPr lIns="45718" tIns="45718" rIns="45718" bIns="45718"/>
          <a:lstStyle/>
          <a:p>
            <a:pPr>
              <a:defRPr>
                <a:latin typeface="+mn-lt"/>
                <a:ea typeface="+mn-ea"/>
                <a:cs typeface="+mn-cs"/>
                <a:sym typeface="Calibri"/>
              </a:defRPr>
            </a:pPr>
            <a:endParaRPr/>
          </a:p>
        </p:txBody>
      </p:sp>
      <p:sp>
        <p:nvSpPr>
          <p:cNvPr id="66" name="Text 18"/>
          <p:cNvSpPr txBox="1"/>
          <p:nvPr/>
        </p:nvSpPr>
        <p:spPr>
          <a:xfrm>
            <a:off x="9043416" y="2244598"/>
            <a:ext cx="2148842" cy="393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800">
                <a:solidFill>
                  <a:srgbClr val="D97706"/>
                </a:solidFill>
                <a:latin typeface="Cambria"/>
                <a:ea typeface="Cambria"/>
                <a:cs typeface="Cambria"/>
                <a:sym typeface="Cambria"/>
              </a:defRPr>
            </a:lvl1pPr>
          </a:lstStyle>
          <a:p>
            <a:r>
              <a:t>04</a:t>
            </a:r>
          </a:p>
        </p:txBody>
      </p:sp>
      <p:sp>
        <p:nvSpPr>
          <p:cNvPr id="67" name="Text 19"/>
          <p:cNvSpPr txBox="1"/>
          <p:nvPr/>
        </p:nvSpPr>
        <p:spPr>
          <a:xfrm>
            <a:off x="9043416" y="2901381"/>
            <a:ext cx="2112266" cy="1865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700" b="1">
                <a:solidFill>
                  <a:srgbClr val="FFFFFF"/>
                </a:solidFill>
                <a:latin typeface="+mn-lt"/>
                <a:ea typeface="+mn-ea"/>
                <a:cs typeface="+mn-cs"/>
                <a:sym typeface="Calibri"/>
              </a:defRPr>
            </a:lvl1pPr>
          </a:lstStyle>
          <a:p>
            <a:r>
              <a:t>Compose Ticket</a:t>
            </a:r>
          </a:p>
        </p:txBody>
      </p:sp>
      <p:sp>
        <p:nvSpPr>
          <p:cNvPr id="68" name="Text 20"/>
          <p:cNvSpPr txBox="1"/>
          <p:nvPr/>
        </p:nvSpPr>
        <p:spPr>
          <a:xfrm>
            <a:off x="9043416" y="3871088"/>
            <a:ext cx="2112266" cy="386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nSpc>
                <a:spcPct val="117999"/>
              </a:lnSpc>
              <a:defRPr sz="1300">
                <a:solidFill>
                  <a:srgbClr val="F5F3EE"/>
                </a:solidFill>
                <a:latin typeface="+mn-lt"/>
                <a:ea typeface="+mn-ea"/>
                <a:cs typeface="+mn-cs"/>
                <a:sym typeface="Calibri"/>
              </a:defRPr>
            </a:lvl1pPr>
          </a:lstStyle>
          <a:p>
            <a:pPr marL="171450" indent="-171450">
              <a:buFont typeface="Arial" panose="020B0604020202020204" pitchFamily="34" charset="0"/>
              <a:buChar char="•"/>
            </a:pPr>
            <a:r>
              <a:t>generate_ticket() fills a fixed template</a:t>
            </a:r>
          </a:p>
          <a:p>
            <a:pPr marL="171450" indent="-171450">
              <a:buFont typeface="Arial" panose="020B0604020202020204" pitchFamily="34" charset="0"/>
              <a:buChar char="•"/>
            </a:pPr>
            <a:r>
              <a:t>Summary, Likely Cause, Action, cited Evidence</a:t>
            </a:r>
          </a:p>
        </p:txBody>
      </p:sp>
      <p:sp>
        <p:nvSpPr>
          <p:cNvPr id="70" name="Text 22"/>
          <p:cNvSpPr txBox="1"/>
          <p:nvPr/>
        </p:nvSpPr>
        <p:spPr>
          <a:xfrm>
            <a:off x="11277295" y="6423704"/>
            <a:ext cx="548642" cy="1370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r">
              <a:defRPr sz="1000">
                <a:solidFill>
                  <a:srgbClr val="B7BAC6"/>
                </a:solidFill>
                <a:latin typeface="+mn-lt"/>
                <a:ea typeface="+mn-ea"/>
                <a:cs typeface="+mn-cs"/>
                <a:sym typeface="Calibri"/>
              </a:defRPr>
            </a:lvl1pPr>
          </a:lstStyle>
          <a:p>
            <a:r>
              <a:t>16</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rtlCol="0" anchor="ctr"/>
          <a:lstStyle/>
          <a:p>
            <a:pPr marL="0" indent="0">
              <a:buNone/>
            </a:pPr>
            <a:r>
              <a:rPr lang="en-US" sz="1400" b="1" spc="200" dirty="0">
                <a:solidFill>
                  <a:srgbClr val="D97706"/>
                </a:solidFill>
                <a:latin typeface="+mn-lt"/>
                <a:ea typeface="+mn-ea"/>
                <a:cs typeface="+mn-cs"/>
                <a:sym typeface="Calibri"/>
              </a:rPr>
              <a:t>RAG TRACK</a:t>
            </a:r>
            <a:r>
              <a:rPr lang="en-US" sz="1300" b="1" kern="0" spc="200" dirty="0">
                <a:solidFill>
                  <a:srgbClr val="F2A93B"/>
                </a:solidFill>
                <a:latin typeface="Calibri" pitchFamily="34" charset="0"/>
                <a:ea typeface="Calibri" pitchFamily="34" charset="-122"/>
                <a:cs typeface="Calibri" pitchFamily="34" charset="-120"/>
              </a:rPr>
              <a:t> </a:t>
            </a:r>
            <a:r>
              <a:rPr lang="en-US" sz="1400" b="1" spc="200" dirty="0">
                <a:solidFill>
                  <a:srgbClr val="D97706"/>
                </a:solidFill>
                <a:latin typeface="+mn-lt"/>
                <a:ea typeface="+mn-ea"/>
                <a:cs typeface="+mn-cs"/>
              </a:rPr>
              <a:t>· RETRIEVAL GATE</a:t>
            </a:r>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400" dirty="0">
                <a:solidFill>
                  <a:srgbClr val="1E2761"/>
                </a:solidFill>
                <a:latin typeface="Cambria" pitchFamily="34" charset="0"/>
                <a:ea typeface="Cambria" pitchFamily="34" charset="-122"/>
                <a:cs typeface="Cambria" pitchFamily="34" charset="-120"/>
              </a:rPr>
              <a:t>Retrieval gate: does it actually find the record?</a:t>
            </a:r>
            <a:endParaRPr lang="en-US" sz="3400" dirty="0"/>
          </a:p>
        </p:txBody>
      </p:sp>
      <p:sp>
        <p:nvSpPr>
          <p:cNvPr id="4" name="Text 2"/>
          <p:cNvSpPr/>
          <p:nvPr/>
        </p:nvSpPr>
        <p:spPr>
          <a:xfrm>
            <a:off x="548640" y="1691640"/>
            <a:ext cx="11064240" cy="960120"/>
          </a:xfrm>
          <a:prstGeom prst="rect">
            <a:avLst/>
          </a:prstGeom>
          <a:noFill/>
          <a:ln/>
        </p:spPr>
        <p:txBody>
          <a:bodyPr wrap="square" rtlCol="0" anchor="ctr"/>
          <a:lstStyle/>
          <a:p>
            <a:pPr marL="342900" indent="-342900">
              <a:lnSpc>
                <a:spcPct val="125000"/>
              </a:lnSpc>
              <a:spcAft>
                <a:spcPts val="400"/>
              </a:spcAft>
              <a:buSzPct val="100000"/>
              <a:buChar char="•"/>
            </a:pPr>
            <a:r>
              <a:rPr lang="en-US" sz="1700" dirty="0">
                <a:solidFill>
                  <a:srgbClr val="1E2761"/>
                </a:solidFill>
                <a:latin typeface="Calibri" pitchFamily="34" charset="0"/>
                <a:ea typeface="Calibri" pitchFamily="34" charset="-122"/>
                <a:cs typeface="Calibri" pitchFamily="34" charset="-120"/>
              </a:rPr>
              <a:t>No labeled fault-code answer key exists yet, so the gate uses self-retrieval instead</a:t>
            </a:r>
            <a:endParaRPr lang="en-US" sz="1700" dirty="0"/>
          </a:p>
          <a:p>
            <a:pPr marL="342900" indent="-342900">
              <a:lnSpc>
                <a:spcPct val="125000"/>
              </a:lnSpc>
              <a:spcAft>
                <a:spcPts val="400"/>
              </a:spcAft>
              <a:buSzPct val="100000"/>
              <a:buChar char="•"/>
            </a:pPr>
            <a:r>
              <a:rPr lang="en-US" sz="1700" dirty="0">
                <a:solidFill>
                  <a:srgbClr val="1E2761"/>
                </a:solidFill>
                <a:latin typeface="Calibri" pitchFamily="34" charset="0"/>
                <a:ea typeface="Calibri" pitchFamily="34" charset="-122"/>
                <a:cs typeface="Calibri" pitchFamily="34" charset="-120"/>
              </a:rPr>
              <a:t>Sample 30 real NHTSA records, build a query from a realistic fragment of each</a:t>
            </a:r>
            <a:endParaRPr lang="en-US" sz="1700" dirty="0"/>
          </a:p>
          <a:p>
            <a:pPr marL="342900" indent="-342900">
              <a:lnSpc>
                <a:spcPct val="125000"/>
              </a:lnSpc>
              <a:spcAft>
                <a:spcPts val="400"/>
              </a:spcAft>
              <a:buSzPct val="100000"/>
              <a:buChar char="•"/>
            </a:pPr>
            <a:r>
              <a:rPr lang="en-US" sz="1700" dirty="0">
                <a:solidFill>
                  <a:srgbClr val="1E2761"/>
                </a:solidFill>
                <a:latin typeface="Calibri" pitchFamily="34" charset="0"/>
                <a:ea typeface="Calibri" pitchFamily="34" charset="-122"/>
                <a:cs typeface="Calibri" pitchFamily="34" charset="-120"/>
              </a:rPr>
              <a:t>Check whether retrieval finds that exact record back from the fragment alone</a:t>
            </a:r>
            <a:endParaRPr lang="en-US" sz="1700" dirty="0"/>
          </a:p>
        </p:txBody>
      </p:sp>
      <p:sp>
        <p:nvSpPr>
          <p:cNvPr id="5" name="Shape 3"/>
          <p:cNvSpPr/>
          <p:nvPr/>
        </p:nvSpPr>
        <p:spPr>
          <a:xfrm>
            <a:off x="548640" y="2743200"/>
            <a:ext cx="2606040" cy="1828800"/>
          </a:xfrm>
          <a:prstGeom prst="roundRect">
            <a:avLst>
              <a:gd name="adj" fmla="val 5000"/>
            </a:avLst>
          </a:prstGeom>
          <a:solidFill>
            <a:srgbClr val="EEF3FD"/>
          </a:solidFill>
          <a:ln/>
        </p:spPr>
      </p:sp>
      <p:sp>
        <p:nvSpPr>
          <p:cNvPr id="6" name="Text 4"/>
          <p:cNvSpPr/>
          <p:nvPr/>
        </p:nvSpPr>
        <p:spPr>
          <a:xfrm>
            <a:off x="548640" y="2880360"/>
            <a:ext cx="2606040" cy="777240"/>
          </a:xfrm>
          <a:prstGeom prst="rect">
            <a:avLst/>
          </a:prstGeom>
          <a:noFill/>
          <a:ln/>
        </p:spPr>
        <p:txBody>
          <a:bodyPr wrap="square" rtlCol="0" anchor="ctr"/>
          <a:lstStyle/>
          <a:p>
            <a:pPr marL="0" indent="0" algn="ctr">
              <a:buNone/>
            </a:pPr>
            <a:r>
              <a:rPr lang="en-US" sz="3200" b="1" dirty="0">
                <a:solidFill>
                  <a:srgbClr val="1E2761"/>
                </a:solidFill>
                <a:latin typeface="Cambria" pitchFamily="34" charset="0"/>
                <a:ea typeface="Cambria" pitchFamily="34" charset="-122"/>
                <a:cs typeface="Cambria" pitchFamily="34" charset="-120"/>
              </a:rPr>
              <a:t>90%</a:t>
            </a:r>
            <a:endParaRPr lang="en-US" sz="3200" dirty="0"/>
          </a:p>
        </p:txBody>
      </p:sp>
      <p:sp>
        <p:nvSpPr>
          <p:cNvPr id="7" name="Text 5"/>
          <p:cNvSpPr/>
          <p:nvPr/>
        </p:nvSpPr>
        <p:spPr>
          <a:xfrm>
            <a:off x="640080" y="3657600"/>
            <a:ext cx="2423160" cy="777240"/>
          </a:xfrm>
          <a:prstGeom prst="rect">
            <a:avLst/>
          </a:prstGeom>
          <a:noFill/>
          <a:ln/>
        </p:spPr>
        <p:txBody>
          <a:bodyPr wrap="square" rtlCol="0" anchor="t"/>
          <a:lstStyle/>
          <a:p>
            <a:pPr marL="0" indent="0" algn="ctr">
              <a:buNone/>
            </a:pPr>
            <a:r>
              <a:rPr lang="en-US" sz="1350" dirty="0">
                <a:solidFill>
                  <a:srgbClr val="5B6478"/>
                </a:solidFill>
                <a:latin typeface="Calibri" pitchFamily="34" charset="0"/>
                <a:ea typeface="Calibri" pitchFamily="34" charset="-122"/>
                <a:cs typeface="Calibri" pitchFamily="34" charset="-120"/>
              </a:rPr>
              <a:t>Recall@1 (found at rank 1)</a:t>
            </a:r>
            <a:endParaRPr lang="en-US" sz="1350" dirty="0"/>
          </a:p>
        </p:txBody>
      </p:sp>
      <p:sp>
        <p:nvSpPr>
          <p:cNvPr id="8" name="Shape 6"/>
          <p:cNvSpPr/>
          <p:nvPr/>
        </p:nvSpPr>
        <p:spPr>
          <a:xfrm>
            <a:off x="3383280" y="2743200"/>
            <a:ext cx="2606040" cy="1828800"/>
          </a:xfrm>
          <a:prstGeom prst="roundRect">
            <a:avLst>
              <a:gd name="adj" fmla="val 5000"/>
            </a:avLst>
          </a:prstGeom>
          <a:solidFill>
            <a:srgbClr val="EEF3FD"/>
          </a:solidFill>
          <a:ln/>
        </p:spPr>
      </p:sp>
      <p:sp>
        <p:nvSpPr>
          <p:cNvPr id="9" name="Text 7"/>
          <p:cNvSpPr/>
          <p:nvPr/>
        </p:nvSpPr>
        <p:spPr>
          <a:xfrm>
            <a:off x="3383280" y="2880360"/>
            <a:ext cx="2606040" cy="777240"/>
          </a:xfrm>
          <a:prstGeom prst="rect">
            <a:avLst/>
          </a:prstGeom>
          <a:noFill/>
          <a:ln/>
        </p:spPr>
        <p:txBody>
          <a:bodyPr wrap="square" rtlCol="0" anchor="ctr"/>
          <a:lstStyle/>
          <a:p>
            <a:pPr marL="0" indent="0" algn="ctr">
              <a:buNone/>
            </a:pPr>
            <a:r>
              <a:rPr lang="en-US" sz="3200" b="1" dirty="0">
                <a:solidFill>
                  <a:srgbClr val="1E2761"/>
                </a:solidFill>
                <a:latin typeface="Cambria" pitchFamily="34" charset="0"/>
                <a:ea typeface="Cambria" pitchFamily="34" charset="-122"/>
                <a:cs typeface="Cambria" pitchFamily="34" charset="-120"/>
              </a:rPr>
              <a:t>97%</a:t>
            </a:r>
            <a:endParaRPr lang="en-US" sz="3200" dirty="0"/>
          </a:p>
        </p:txBody>
      </p:sp>
      <p:sp>
        <p:nvSpPr>
          <p:cNvPr id="10" name="Text 8"/>
          <p:cNvSpPr/>
          <p:nvPr/>
        </p:nvSpPr>
        <p:spPr>
          <a:xfrm>
            <a:off x="3474720" y="3657600"/>
            <a:ext cx="2423160" cy="777240"/>
          </a:xfrm>
          <a:prstGeom prst="rect">
            <a:avLst/>
          </a:prstGeom>
          <a:noFill/>
          <a:ln/>
        </p:spPr>
        <p:txBody>
          <a:bodyPr wrap="square" rtlCol="0" anchor="t"/>
          <a:lstStyle/>
          <a:p>
            <a:pPr marL="0" indent="0" algn="ctr">
              <a:buNone/>
            </a:pPr>
            <a:r>
              <a:rPr lang="en-US" sz="1350" dirty="0">
                <a:solidFill>
                  <a:srgbClr val="5B6478"/>
                </a:solidFill>
                <a:latin typeface="Calibri" pitchFamily="34" charset="0"/>
                <a:ea typeface="Calibri" pitchFamily="34" charset="-122"/>
                <a:cs typeface="Calibri" pitchFamily="34" charset="-120"/>
              </a:rPr>
              <a:t>Recall@5 (found in top 5)</a:t>
            </a:r>
            <a:endParaRPr lang="en-US" sz="1350" dirty="0"/>
          </a:p>
        </p:txBody>
      </p:sp>
      <p:sp>
        <p:nvSpPr>
          <p:cNvPr id="11" name="Shape 9"/>
          <p:cNvSpPr/>
          <p:nvPr/>
        </p:nvSpPr>
        <p:spPr>
          <a:xfrm>
            <a:off x="6217920" y="2743200"/>
            <a:ext cx="2606040" cy="1828800"/>
          </a:xfrm>
          <a:prstGeom prst="roundRect">
            <a:avLst>
              <a:gd name="adj" fmla="val 5000"/>
            </a:avLst>
          </a:prstGeom>
          <a:solidFill>
            <a:srgbClr val="EEF3FD"/>
          </a:solidFill>
          <a:ln/>
        </p:spPr>
      </p:sp>
      <p:sp>
        <p:nvSpPr>
          <p:cNvPr id="12" name="Text 10"/>
          <p:cNvSpPr/>
          <p:nvPr/>
        </p:nvSpPr>
        <p:spPr>
          <a:xfrm>
            <a:off x="6217920" y="2880360"/>
            <a:ext cx="2606040" cy="777240"/>
          </a:xfrm>
          <a:prstGeom prst="rect">
            <a:avLst/>
          </a:prstGeom>
          <a:noFill/>
          <a:ln/>
        </p:spPr>
        <p:txBody>
          <a:bodyPr wrap="square" rtlCol="0" anchor="ctr"/>
          <a:lstStyle/>
          <a:p>
            <a:pPr marL="0" indent="0" algn="ctr">
              <a:buNone/>
            </a:pPr>
            <a:r>
              <a:rPr lang="en-US" sz="3200" b="1" dirty="0">
                <a:solidFill>
                  <a:srgbClr val="1E2761"/>
                </a:solidFill>
                <a:latin typeface="Cambria" pitchFamily="34" charset="0"/>
                <a:ea typeface="Cambria" pitchFamily="34" charset="-122"/>
                <a:cs typeface="Cambria" pitchFamily="34" charset="-120"/>
              </a:rPr>
              <a:t>30</a:t>
            </a:r>
            <a:endParaRPr lang="en-US" sz="3200" dirty="0"/>
          </a:p>
        </p:txBody>
      </p:sp>
      <p:sp>
        <p:nvSpPr>
          <p:cNvPr id="13" name="Text 11"/>
          <p:cNvSpPr/>
          <p:nvPr/>
        </p:nvSpPr>
        <p:spPr>
          <a:xfrm>
            <a:off x="6309360" y="3657600"/>
            <a:ext cx="2423160" cy="777240"/>
          </a:xfrm>
          <a:prstGeom prst="rect">
            <a:avLst/>
          </a:prstGeom>
          <a:noFill/>
          <a:ln/>
        </p:spPr>
        <p:txBody>
          <a:bodyPr wrap="square" rtlCol="0" anchor="t"/>
          <a:lstStyle/>
          <a:p>
            <a:pPr marL="0" indent="0" algn="ctr">
              <a:buNone/>
            </a:pPr>
            <a:r>
              <a:rPr lang="en-US" sz="1350" dirty="0">
                <a:solidFill>
                  <a:srgbClr val="5B6478"/>
                </a:solidFill>
                <a:latin typeface="Calibri" pitchFamily="34" charset="0"/>
                <a:ea typeface="Calibri" pitchFamily="34" charset="-122"/>
                <a:cs typeface="Calibri" pitchFamily="34" charset="-120"/>
              </a:rPr>
              <a:t>Records sampled for the gate</a:t>
            </a:r>
            <a:endParaRPr lang="en-US" sz="1350" dirty="0"/>
          </a:p>
        </p:txBody>
      </p:sp>
      <p:sp>
        <p:nvSpPr>
          <p:cNvPr id="14" name="Shape 12"/>
          <p:cNvSpPr/>
          <p:nvPr/>
        </p:nvSpPr>
        <p:spPr>
          <a:xfrm>
            <a:off x="9052560" y="2743200"/>
            <a:ext cx="2606040" cy="1828800"/>
          </a:xfrm>
          <a:prstGeom prst="roundRect">
            <a:avLst>
              <a:gd name="adj" fmla="val 5000"/>
            </a:avLst>
          </a:prstGeom>
          <a:solidFill>
            <a:srgbClr val="1E2761"/>
          </a:solidFill>
          <a:ln/>
        </p:spPr>
      </p:sp>
      <p:sp>
        <p:nvSpPr>
          <p:cNvPr id="15" name="Text 13"/>
          <p:cNvSpPr/>
          <p:nvPr/>
        </p:nvSpPr>
        <p:spPr>
          <a:xfrm>
            <a:off x="9052560" y="2880360"/>
            <a:ext cx="2606040" cy="777240"/>
          </a:xfrm>
          <a:prstGeom prst="rect">
            <a:avLst/>
          </a:prstGeom>
          <a:noFill/>
          <a:ln/>
        </p:spPr>
        <p:txBody>
          <a:bodyPr wrap="square" rtlCol="0" anchor="ctr"/>
          <a:lstStyle/>
          <a:p>
            <a:pPr marL="0" indent="0" algn="ctr">
              <a:buNone/>
            </a:pPr>
            <a:r>
              <a:rPr lang="en-US" sz="3200" b="1" dirty="0">
                <a:solidFill>
                  <a:srgbClr val="F2A93B"/>
                </a:solidFill>
                <a:latin typeface="Cambria" pitchFamily="34" charset="0"/>
                <a:ea typeface="Cambria" pitchFamily="34" charset="-122"/>
                <a:cs typeface="Cambria" pitchFamily="34" charset="-120"/>
              </a:rPr>
              <a:t>0.923</a:t>
            </a:r>
            <a:endParaRPr lang="en-US" sz="3200" dirty="0"/>
          </a:p>
        </p:txBody>
      </p:sp>
      <p:sp>
        <p:nvSpPr>
          <p:cNvPr id="16" name="Text 14"/>
          <p:cNvSpPr/>
          <p:nvPr/>
        </p:nvSpPr>
        <p:spPr>
          <a:xfrm>
            <a:off x="9144000" y="3657600"/>
            <a:ext cx="2423160" cy="777240"/>
          </a:xfrm>
          <a:prstGeom prst="rect">
            <a:avLst/>
          </a:prstGeom>
          <a:noFill/>
          <a:ln/>
        </p:spPr>
        <p:txBody>
          <a:bodyPr wrap="square" rtlCol="0" anchor="t"/>
          <a:lstStyle/>
          <a:p>
            <a:pPr marL="0" indent="0" algn="ctr">
              <a:buNone/>
            </a:pPr>
            <a:r>
              <a:rPr lang="en-US" sz="1350" dirty="0">
                <a:solidFill>
                  <a:srgbClr val="EEF3FD"/>
                </a:solidFill>
                <a:latin typeface="Calibri" pitchFamily="34" charset="0"/>
                <a:ea typeface="Calibri" pitchFamily="34" charset="-122"/>
                <a:cs typeface="Calibri" pitchFamily="34" charset="-120"/>
              </a:rPr>
              <a:t>MRR@5 (mean reciprocal rank)</a:t>
            </a:r>
            <a:endParaRPr lang="en-US" sz="1350" dirty="0"/>
          </a:p>
        </p:txBody>
      </p:sp>
      <p:sp>
        <p:nvSpPr>
          <p:cNvPr id="17" name="Text 15"/>
          <p:cNvSpPr/>
          <p:nvPr/>
        </p:nvSpPr>
        <p:spPr>
          <a:xfrm>
            <a:off x="548640" y="4937760"/>
            <a:ext cx="11064240" cy="457200"/>
          </a:xfrm>
          <a:prstGeom prst="rect">
            <a:avLst/>
          </a:prstGeom>
          <a:noFill/>
          <a:ln/>
        </p:spPr>
        <p:txBody>
          <a:bodyPr wrap="square" rtlCol="0" anchor="ctr"/>
          <a:lstStyle/>
          <a:p>
            <a:pPr marL="0" indent="0">
              <a:buNone/>
            </a:pPr>
            <a:r>
              <a:rPr lang="en-US" sz="1450" i="1" dirty="0">
                <a:solidFill>
                  <a:srgbClr val="5B6478"/>
                </a:solidFill>
                <a:latin typeface="Calibri" pitchFamily="34" charset="0"/>
                <a:ea typeface="Calibri" pitchFamily="34" charset="-122"/>
                <a:cs typeface="Calibri" pitchFamily="34" charset="-120"/>
              </a:rPr>
              <a:t>Self-retrieval validates the mechanism works on real data -- it is not a claim retrieval always finds the single “correct” citation for a brand-new, unseen complaint.</a:t>
            </a:r>
            <a:endParaRPr lang="en-US" sz="1450" dirty="0"/>
          </a:p>
        </p:txBody>
      </p:sp>
      <p:sp>
        <p:nvSpPr>
          <p:cNvPr id="18" name="Text 16"/>
          <p:cNvSpPr/>
          <p:nvPr/>
        </p:nvSpPr>
        <p:spPr>
          <a:xfrm>
            <a:off x="11612880" y="6446520"/>
            <a:ext cx="365760" cy="274320"/>
          </a:xfrm>
          <a:prstGeom prst="rect">
            <a:avLst/>
          </a:prstGeom>
          <a:noFill/>
          <a:ln/>
        </p:spPr>
        <p:txBody>
          <a:bodyPr wrap="square" rtlCol="0" anchor="ctr"/>
          <a:lstStyle/>
          <a:p>
            <a:pPr marL="0" indent="0" algn="r">
              <a:buNone/>
            </a:pPr>
            <a:r>
              <a:rPr lang="en-US" sz="1000" dirty="0">
                <a:solidFill>
                  <a:srgbClr val="9AA3B5"/>
                </a:solidFill>
                <a:latin typeface="Calibri" pitchFamily="34" charset="0"/>
                <a:ea typeface="Calibri" pitchFamily="34" charset="-122"/>
                <a:cs typeface="Calibri" pitchFamily="34" charset="-120"/>
              </a:rPr>
              <a:t>17</a:t>
            </a:r>
            <a:endParaRPr lang="en-US" sz="1200" dirty="0"/>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Eyebrow"/>
          <p:cNvSpPr txBox="1"/>
          <p:nvPr/>
        </p:nvSpPr>
        <p:spPr>
          <a:xfrm>
            <a:off x="640080" y="525071"/>
            <a:ext cx="9144001" cy="156865"/>
          </a:xfrm>
          <a:prstGeom prst="rect">
            <a:avLst/>
          </a:prstGeom>
          <a:ln w="12700">
            <a:miter lim="400000"/>
          </a:ln>
        </p:spPr>
        <p:txBody>
          <a:bodyPr lIns="0" tIns="0" rIns="0" bIns="0" anchor="ctr">
            <a:spAutoFit/>
          </a:bodyPr>
          <a:lstStyle>
            <a:lvl1pPr>
              <a:defRPr sz="1400" b="1" spc="200">
                <a:solidFill>
                  <a:srgbClr val="D97706"/>
                </a:solidFill>
                <a:latin typeface="+mn-lt"/>
                <a:ea typeface="+mn-ea"/>
                <a:cs typeface="+mn-cs"/>
                <a:sym typeface="Calibri"/>
              </a:defRPr>
            </a:lvl1pPr>
          </a:lstStyle>
          <a:p>
            <a:r>
              <a:t>RAG TRACK · REPAIR TICKET</a:t>
            </a:r>
          </a:p>
        </p:txBody>
      </p:sp>
      <p:sp>
        <p:nvSpPr>
          <p:cNvPr id="201" name="Title"/>
          <p:cNvSpPr txBox="1"/>
          <p:nvPr/>
        </p:nvSpPr>
        <p:spPr>
          <a:xfrm>
            <a:off x="640080" y="786382"/>
            <a:ext cx="10881360" cy="430887"/>
          </a:xfrm>
          <a:prstGeom prst="rect">
            <a:avLst/>
          </a:prstGeom>
          <a:ln w="12700">
            <a:miter lim="400000"/>
          </a:ln>
        </p:spPr>
        <p:txBody>
          <a:bodyPr lIns="0" tIns="0" rIns="0" bIns="0">
            <a:spAutoFit/>
          </a:bodyPr>
          <a:lstStyle>
            <a:lvl1pPr>
              <a:defRPr sz="2900">
                <a:solidFill>
                  <a:srgbClr val="1E2761"/>
                </a:solidFill>
                <a:latin typeface="Cambria"/>
                <a:ea typeface="Cambria"/>
                <a:cs typeface="Cambria"/>
                <a:sym typeface="Cambria"/>
              </a:defRPr>
            </a:lvl1pPr>
          </a:lstStyle>
          <a:p>
            <a:r>
              <a:t>From citation to a written repair recommendation</a:t>
            </a:r>
          </a:p>
        </p:txBody>
      </p:sp>
      <p:sp>
        <p:nvSpPr>
          <p:cNvPr id="202" name="ExampleBox"/>
          <p:cNvSpPr/>
          <p:nvPr/>
        </p:nvSpPr>
        <p:spPr>
          <a:xfrm>
            <a:off x="640080" y="1737360"/>
            <a:ext cx="5486400" cy="4297680"/>
          </a:xfrm>
          <a:prstGeom prst="roundRect">
            <a:avLst>
              <a:gd name="adj" fmla="val 2540"/>
            </a:avLst>
          </a:prstGeom>
          <a:solidFill>
            <a:srgbClr val="F7F8FB"/>
          </a:solidFill>
          <a:ln w="12700">
            <a:solidFill>
              <a:srgbClr val="E2E4EC"/>
            </a:solidFill>
          </a:ln>
        </p:spPr>
        <p:txBody>
          <a:bodyPr lIns="45718" tIns="45718" rIns="45718" bIns="45718"/>
          <a:lstStyle/>
          <a:p>
            <a:endParaRPr/>
          </a:p>
        </p:txBody>
      </p:sp>
      <p:sp>
        <p:nvSpPr>
          <p:cNvPr id="203" name="ExampleTitle"/>
          <p:cNvSpPr txBox="1"/>
          <p:nvPr/>
        </p:nvSpPr>
        <p:spPr>
          <a:xfrm>
            <a:off x="914400" y="1965960"/>
            <a:ext cx="4937760" cy="393701"/>
          </a:xfrm>
          <a:prstGeom prst="rect">
            <a:avLst/>
          </a:prstGeom>
          <a:ln w="12700">
            <a:miter lim="400000"/>
          </a:ln>
        </p:spPr>
        <p:txBody>
          <a:bodyPr lIns="0" tIns="0" rIns="0" bIns="0" anchor="ctr">
            <a:spAutoFit/>
          </a:bodyPr>
          <a:lstStyle>
            <a:lvl1pPr>
              <a:defRPr sz="1700" b="1">
                <a:solidFill>
                  <a:srgbClr val="1E2761"/>
                </a:solidFill>
                <a:latin typeface="+mn-lt"/>
                <a:ea typeface="+mn-ea"/>
                <a:cs typeface="+mn-cs"/>
                <a:sym typeface="Calibri"/>
              </a:defRPr>
            </a:lvl1pPr>
          </a:lstStyle>
          <a:p>
            <a:r>
              <a:t>Example: the prefault demo scenario</a:t>
            </a:r>
          </a:p>
        </p:txBody>
      </p:sp>
      <p:sp>
        <p:nvSpPr>
          <p:cNvPr id="204" name="ExampleBullets"/>
          <p:cNvSpPr txBox="1"/>
          <p:nvPr/>
        </p:nvSpPr>
        <p:spPr>
          <a:xfrm>
            <a:off x="914400" y="2461233"/>
            <a:ext cx="4937760" cy="3400000"/>
          </a:xfrm>
          <a:prstGeom prst="rect">
            <a:avLst/>
          </a:prstGeom>
          <a:ln w="12700">
            <a:miter lim="400000"/>
          </a:ln>
        </p:spPr>
        <p:txBody>
          <a:bodyPr lIns="0" tIns="0" rIns="0" bIns="0">
            <a:spAutoFit/>
          </a:bodyPr>
          <a:lstStyle>
            <a:lvl1pPr>
              <a:lnSpc>
                <a:spcPct val="130000"/>
              </a:lnSpc>
              <a:defRPr sz="1500">
                <a:solidFill>
                  <a:srgbClr val="3A3F52"/>
                </a:solidFill>
                <a:latin typeface="+mn-lt"/>
                <a:ea typeface="+mn-ea"/>
                <a:cs typeface="+mn-cs"/>
                <a:sym typeface="Calibri"/>
              </a:defRPr>
            </a:lvl1pPr>
          </a:lstStyle>
          <a:p>
            <a:pPr marL="257175" indent="-257175">
              <a:spcBef>
                <a:spcPts val="600"/>
              </a:spcBef>
              <a:buChar char="•"/>
            </a:pPr>
            <a:r>
              <a:rPr b="1"/>
              <a:t>Classifier: </a:t>
            </a:r>
            <a:r>
              <a:t>68% probability, Flagged -- driven by Motor_RPM_roll_mean_24h and hour_of_day</a:t>
            </a:r>
          </a:p>
          <a:p>
            <a:pPr marL="257175" indent="-257175">
              <a:spcBef>
                <a:spcPts val="600"/>
              </a:spcBef>
              <a:buChar char="•"/>
            </a:pPr>
            <a:r>
              <a:rPr b="1"/>
              <a:t>Auto-built query: </a:t>
            </a:r>
            <a:r>
              <a:t>“motor RPM hour of day”</a:t>
            </a:r>
          </a:p>
          <a:p>
            <a:pPr marL="257175" indent="-257175">
              <a:spcBef>
                <a:spcPts val="600"/>
              </a:spcBef>
              <a:buChar char="•"/>
            </a:pPr>
            <a:r>
              <a:rPr b="1"/>
              <a:t>Top citation: </a:t>
            </a:r>
            <a:r>
              <a:t>[COMPLAINT 11609185] Kia EV6 -- rear motor overheating, similarity 0.20</a:t>
            </a:r>
          </a:p>
          <a:p>
            <a:pPr marL="0" indent="0">
              <a:spcBef>
                <a:spcPts val="1200"/>
              </a:spcBef>
              <a:buNone/>
            </a:pPr>
            <a:r>
              <a:t>The template fills Summary / Likely Cause / Recommended Action / Supporting Evidence / Confidence Note from exactly these three things -- nothing invented.</a:t>
            </a:r>
          </a:p>
        </p:txBody>
      </p:sp>
      <p:sp>
        <p:nvSpPr>
          <p:cNvPr id="205" name="AppCard"/>
          <p:cNvSpPr/>
          <p:nvPr/>
        </p:nvSpPr>
        <p:spPr>
          <a:xfrm>
            <a:off x="6400800" y="1737360"/>
            <a:ext cx="5150800" cy="1950000"/>
          </a:xfrm>
          <a:prstGeom prst="roundRect">
            <a:avLst>
              <a:gd name="adj" fmla="val 2540"/>
            </a:avLst>
          </a:prstGeom>
          <a:solidFill>
            <a:srgbClr val="1E2761"/>
          </a:solidFill>
          <a:ln w="12700">
            <a:miter lim="400000"/>
          </a:ln>
        </p:spPr>
        <p:txBody>
          <a:bodyPr lIns="45718" tIns="45718" rIns="45718" bIns="45718"/>
          <a:lstStyle/>
          <a:p>
            <a:endParaRPr/>
          </a:p>
        </p:txBody>
      </p:sp>
      <p:sp>
        <p:nvSpPr>
          <p:cNvPr id="206" name="AppCardTitle"/>
          <p:cNvSpPr txBox="1"/>
          <p:nvPr/>
        </p:nvSpPr>
        <p:spPr>
          <a:xfrm>
            <a:off x="6675080" y="1965960"/>
            <a:ext cx="4602240" cy="393701"/>
          </a:xfrm>
          <a:prstGeom prst="rect">
            <a:avLst/>
          </a:prstGeom>
          <a:ln w="12700">
            <a:miter lim="400000"/>
          </a:ln>
        </p:spPr>
        <p:txBody>
          <a:bodyPr lIns="0" tIns="0" rIns="0" bIns="0" anchor="ctr">
            <a:spAutoFit/>
          </a:bodyPr>
          <a:lstStyle>
            <a:lvl1pPr>
              <a:defRPr sz="1700" b="1">
                <a:solidFill>
                  <a:srgbClr val="F2A93B"/>
                </a:solidFill>
                <a:latin typeface="+mn-lt"/>
                <a:ea typeface="+mn-ea"/>
                <a:cs typeface="+mn-cs"/>
                <a:sym typeface="Calibri"/>
              </a:defRPr>
            </a:lvl1pPr>
          </a:lstStyle>
          <a:p>
            <a:r>
              <a:t>What this means for the app</a:t>
            </a:r>
          </a:p>
        </p:txBody>
      </p:sp>
      <p:sp>
        <p:nvSpPr>
          <p:cNvPr id="207" name="AppCardBody"/>
          <p:cNvSpPr txBox="1"/>
          <p:nvPr/>
        </p:nvSpPr>
        <p:spPr>
          <a:xfrm>
            <a:off x="6675080" y="2461233"/>
            <a:ext cx="4602240" cy="1150000"/>
          </a:xfrm>
          <a:prstGeom prst="rect">
            <a:avLst/>
          </a:prstGeom>
          <a:ln w="12700">
            <a:miter lim="400000"/>
          </a:ln>
        </p:spPr>
        <p:txBody>
          <a:bodyPr lIns="0" tIns="0" rIns="0" bIns="0">
            <a:spAutoFit/>
          </a:bodyPr>
          <a:lstStyle>
            <a:lvl1pPr>
              <a:lnSpc>
                <a:spcPct val="125000"/>
              </a:lnSpc>
              <a:defRPr sz="1400">
                <a:solidFill>
                  <a:srgbClr val="F5F3EE"/>
                </a:solidFill>
                <a:latin typeface="+mn-lt"/>
                <a:ea typeface="+mn-ea"/>
                <a:cs typeface="+mn-cs"/>
                <a:sym typeface="Calibri"/>
              </a:defRPr>
            </a:lvl1pPr>
          </a:lstStyle>
          <a:p>
            <a:r>
              <a:t>generate_ticket() is the one function that closes the loop: classify → explain → build query → retrieve → compose. Not yet wired into the Streamlit UI -- next up.</a:t>
            </a:r>
          </a:p>
        </p:txBody>
      </p:sp>
      <p:sp>
        <p:nvSpPr>
          <p:cNvPr id="208" name="LimitCard"/>
          <p:cNvSpPr/>
          <p:nvPr/>
        </p:nvSpPr>
        <p:spPr>
          <a:xfrm>
            <a:off x="6400800" y="3886200"/>
            <a:ext cx="5150800" cy="2148840"/>
          </a:xfrm>
          <a:prstGeom prst="roundRect">
            <a:avLst>
              <a:gd name="adj" fmla="val 2540"/>
            </a:avLst>
          </a:prstGeom>
          <a:solidFill>
            <a:srgbClr val="FDF3E0"/>
          </a:solidFill>
          <a:ln w="12700">
            <a:solidFill>
              <a:srgbClr val="F2A93B"/>
            </a:solidFill>
          </a:ln>
        </p:spPr>
        <p:txBody>
          <a:bodyPr lIns="45718" tIns="45718" rIns="45718" bIns="45718"/>
          <a:lstStyle/>
          <a:p>
            <a:endParaRPr/>
          </a:p>
        </p:txBody>
      </p:sp>
      <p:sp>
        <p:nvSpPr>
          <p:cNvPr id="209" name="LimitCardTitle"/>
          <p:cNvSpPr txBox="1"/>
          <p:nvPr/>
        </p:nvSpPr>
        <p:spPr>
          <a:xfrm>
            <a:off x="6675080" y="4114800"/>
            <a:ext cx="4602240" cy="393701"/>
          </a:xfrm>
          <a:prstGeom prst="rect">
            <a:avLst/>
          </a:prstGeom>
          <a:ln w="12700">
            <a:miter lim="400000"/>
          </a:ln>
        </p:spPr>
        <p:txBody>
          <a:bodyPr lIns="0" tIns="0" rIns="0" bIns="0" anchor="ctr">
            <a:spAutoFit/>
          </a:bodyPr>
          <a:lstStyle>
            <a:lvl1pPr>
              <a:defRPr sz="1700" b="1">
                <a:solidFill>
                  <a:srgbClr val="1E2761"/>
                </a:solidFill>
                <a:latin typeface="+mn-lt"/>
                <a:ea typeface="+mn-ea"/>
                <a:cs typeface="+mn-cs"/>
                <a:sym typeface="Calibri"/>
              </a:defRPr>
            </a:lvl1pPr>
          </a:lstStyle>
          <a:p>
            <a:r>
              <a:t>Known limitation</a:t>
            </a:r>
          </a:p>
        </p:txBody>
      </p:sp>
      <p:sp>
        <p:nvSpPr>
          <p:cNvPr id="210" name="LimitCardBody"/>
          <p:cNvSpPr txBox="1"/>
          <p:nvPr/>
        </p:nvSpPr>
        <p:spPr>
          <a:xfrm>
            <a:off x="6675080" y="4610073"/>
            <a:ext cx="4602240" cy="1300000"/>
          </a:xfrm>
          <a:prstGeom prst="rect">
            <a:avLst/>
          </a:prstGeom>
          <a:ln w="12700">
            <a:miter lim="400000"/>
          </a:ln>
        </p:spPr>
        <p:txBody>
          <a:bodyPr lIns="0" tIns="0" rIns="0" bIns="0">
            <a:spAutoFit/>
          </a:bodyPr>
          <a:lstStyle>
            <a:lvl1pPr>
              <a:lnSpc>
                <a:spcPct val="125000"/>
              </a:lnSpc>
              <a:defRPr sz="1400">
                <a:solidFill>
                  <a:srgbClr val="3A3F52"/>
                </a:solidFill>
                <a:latin typeface="+mn-lt"/>
                <a:ea typeface="+mn-ea"/>
                <a:cs typeface="+mn-cs"/>
                <a:sym typeface="Calibri"/>
              </a:defRPr>
            </a:lvl1pPr>
          </a:lstStyle>
          <a:p>
            <a:r>
              <a:t>The ticket text is a filled template, not an LLM-written paragraph -- we priced out a real LLM call and it needs a paid API key with no free tier. Same structured, cited output, deterministic, free. Swapping in a real LLM later only means replacing one function.</a:t>
            </a:r>
          </a:p>
        </p:txBody>
      </p:sp>
      <p:sp>
        <p:nvSpPr>
          <p:cNvPr id="211" name="PageNum"/>
          <p:cNvSpPr txBox="1"/>
          <p:nvPr/>
        </p:nvSpPr>
        <p:spPr>
          <a:xfrm>
            <a:off x="11277295" y="6423704"/>
            <a:ext cx="548642" cy="137071"/>
          </a:xfrm>
          <a:prstGeom prst="rect">
            <a:avLst/>
          </a:prstGeom>
          <a:ln w="12700">
            <a:miter lim="400000"/>
          </a:ln>
        </p:spPr>
        <p:txBody>
          <a:bodyPr lIns="0" tIns="0" rIns="0" bIns="0" anchor="ctr">
            <a:spAutoFit/>
          </a:bodyPr>
          <a:lstStyle>
            <a:lvl1pPr algn="r">
              <a:defRPr sz="1000">
                <a:solidFill>
                  <a:srgbClr val="B7BAC6"/>
                </a:solidFill>
                <a:latin typeface="+mn-lt"/>
                <a:ea typeface="+mn-ea"/>
                <a:cs typeface="+mn-cs"/>
                <a:sym typeface="Calibri"/>
              </a:defRPr>
            </a:lvl1pPr>
          </a:lstStyle>
          <a:p>
            <a:r>
              <a:t>18</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165" name="Text 0"/>
          <p:cNvSpPr txBox="1"/>
          <p:nvPr/>
        </p:nvSpPr>
        <p:spPr>
          <a:xfrm>
            <a:off x="640080" y="2846070"/>
            <a:ext cx="10881360" cy="8001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5600">
                <a:solidFill>
                  <a:srgbClr val="FFFFFF"/>
                </a:solidFill>
                <a:latin typeface="Cambria"/>
                <a:ea typeface="Cambria"/>
                <a:cs typeface="Cambria"/>
                <a:sym typeface="Cambria"/>
              </a:defRPr>
            </a:lvl1pPr>
          </a:lstStyle>
          <a:p>
            <a:r>
              <a:t>THANK YOU</a:t>
            </a:r>
          </a:p>
        </p:txBody>
      </p:sp>
      <p:sp>
        <p:nvSpPr>
          <p:cNvPr id="166" name="Text 1"/>
          <p:cNvSpPr txBox="1"/>
          <p:nvPr/>
        </p:nvSpPr>
        <p:spPr>
          <a:xfrm>
            <a:off x="640080" y="3944709"/>
            <a:ext cx="10881360" cy="2487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2200">
                <a:solidFill>
                  <a:srgbClr val="D97706"/>
                </a:solidFill>
                <a:latin typeface="+mn-lt"/>
                <a:ea typeface="+mn-ea"/>
                <a:cs typeface="+mn-cs"/>
                <a:sym typeface="Calibri"/>
              </a:defRPr>
            </a:lvl1pPr>
          </a:lstStyle>
          <a:p>
            <a:r>
              <a:t>Questions?</a:t>
            </a:r>
          </a:p>
        </p:txBody>
      </p:sp>
      <p:sp>
        <p:nvSpPr>
          <p:cNvPr id="167" name="Text 2"/>
          <p:cNvSpPr txBox="1"/>
          <p:nvPr/>
        </p:nvSpPr>
        <p:spPr>
          <a:xfrm>
            <a:off x="11277295" y="6423704"/>
            <a:ext cx="548641" cy="1370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r">
              <a:defRPr sz="1000">
                <a:solidFill>
                  <a:srgbClr val="8890BE"/>
                </a:solidFill>
                <a:latin typeface="+mn-lt"/>
                <a:ea typeface="+mn-ea"/>
                <a:cs typeface="+mn-cs"/>
                <a:sym typeface="Calibri"/>
              </a:defRPr>
            </a:lvl1pPr>
          </a:lstStyle>
          <a:p>
            <a:r>
              <a:t>19</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19</TotalTime>
  <Words>2209</Words>
  <Application>Microsoft Office PowerPoint</Application>
  <PresentationFormat>Widescreen</PresentationFormat>
  <Paragraphs>235</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Harsha vardhan Ratnala</dc:creator>
  <cp:lastModifiedBy>Harsha Vardhan</cp:lastModifiedBy>
  <cp:revision>2</cp:revision>
  <dcterms:modified xsi:type="dcterms:W3CDTF">2026-08-10T07:36:41Z</dcterms:modified>
</cp:coreProperties>
</file>